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6" r:id="rId1"/>
  </p:sldMasterIdLst>
  <p:notesMasterIdLst>
    <p:notesMasterId r:id="rId30"/>
  </p:notesMasterIdLst>
  <p:handoutMasterIdLst>
    <p:handoutMasterId r:id="rId31"/>
  </p:handoutMasterIdLst>
  <p:sldIdLst>
    <p:sldId id="279" r:id="rId2"/>
    <p:sldId id="376" r:id="rId3"/>
    <p:sldId id="574" r:id="rId4"/>
    <p:sldId id="575" r:id="rId5"/>
    <p:sldId id="576" r:id="rId6"/>
    <p:sldId id="578" r:id="rId7"/>
    <p:sldId id="577" r:id="rId8"/>
    <p:sldId id="579" r:id="rId9"/>
    <p:sldId id="580" r:id="rId10"/>
    <p:sldId id="581" r:id="rId11"/>
    <p:sldId id="582" r:id="rId12"/>
    <p:sldId id="584" r:id="rId13"/>
    <p:sldId id="585" r:id="rId14"/>
    <p:sldId id="586" r:id="rId15"/>
    <p:sldId id="587" r:id="rId16"/>
    <p:sldId id="583" r:id="rId17"/>
    <p:sldId id="589" r:id="rId18"/>
    <p:sldId id="591" r:id="rId19"/>
    <p:sldId id="590" r:id="rId20"/>
    <p:sldId id="592" r:id="rId21"/>
    <p:sldId id="593" r:id="rId22"/>
    <p:sldId id="595" r:id="rId23"/>
    <p:sldId id="596" r:id="rId24"/>
    <p:sldId id="597" r:id="rId25"/>
    <p:sldId id="598" r:id="rId26"/>
    <p:sldId id="599" r:id="rId27"/>
    <p:sldId id="588" r:id="rId28"/>
    <p:sldId id="31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6892A1"/>
    <a:srgbClr val="1D4872"/>
    <a:srgbClr val="E1DED9"/>
    <a:srgbClr val="E5E2DE"/>
    <a:srgbClr val="E6E4E0"/>
    <a:srgbClr val="E0E0E0"/>
    <a:srgbClr val="0270C0"/>
    <a:srgbClr val="58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82"/>
    <p:restoredTop sz="77288" autoAdjust="0"/>
  </p:normalViewPr>
  <p:slideViewPr>
    <p:cSldViewPr snapToGrid="0" snapToObjects="1">
      <p:cViewPr varScale="1">
        <p:scale>
          <a:sx n="123" d="100"/>
          <a:sy n="123" d="100"/>
        </p:scale>
        <p:origin x="98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41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EB0726B-68AD-DDAB-A67B-992F369E5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C3575-040A-50B1-36EA-15DE126107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93CDE-F4A9-1449-8906-9C685798F4D7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4FA33C-2485-B4EC-A361-86AC2D3FAB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E0D0F-9233-FC3D-B5FF-0FB9AF03E9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173D1-22A5-1B4A-B3DF-E78F17583E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141F-58C7-A14B-B7C4-4167B0731CC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648F-5206-084C-80CE-B104653B01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tructural_motif" TargetMode="External"/><Relationship Id="rId3" Type="http://schemas.openxmlformats.org/officeDocument/2006/relationships/hyperlink" Target="https://en.wikipedia.org/wiki/Genetics" TargetMode="External"/><Relationship Id="rId7" Type="http://schemas.openxmlformats.org/officeDocument/2006/relationships/hyperlink" Target="https://en.wikipedia.org/wiki/Biology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Sequence" TargetMode="External"/><Relationship Id="rId5" Type="http://schemas.openxmlformats.org/officeDocument/2006/relationships/hyperlink" Target="https://en.wikipedia.org/wiki/Amino_acid" TargetMode="External"/><Relationship Id="rId4" Type="http://schemas.openxmlformats.org/officeDocument/2006/relationships/hyperlink" Target="https://en.wikipedia.org/wiki/Nucleotide" TargetMode="External"/><Relationship Id="rId9" Type="http://schemas.openxmlformats.org/officeDocument/2006/relationships/hyperlink" Target="https://en.wikipedia.org/wiki/Protein_sequences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neontology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Question: Avez-vous une idée de comment procéder?</a:t>
            </a:r>
          </a:p>
          <a:p>
            <a:r>
              <a:rPr lang="fr-FR" dirty="0"/>
              <a:t>Je ne vais malheureusement pas aborder la thématique de comment coder de manière reproductible en 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Metabolic reconstruction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What can an organism do and how? </a:t>
            </a:r>
            <a:endParaRPr lang="en-US" dirty="0">
              <a:effectLst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Evolutionaly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analysis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How does an organism compare to the rest? </a:t>
            </a:r>
            <a:endParaRPr lang="en-US" dirty="0">
              <a:effectLst/>
            </a:endParaRP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0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libri" charset="0"/>
                <a:ea typeface="MS PGothic" charset="0"/>
              </a:rPr>
              <a:t>Clustering =&gt; How choose the representative in the cluster ? Need to prioritize … by organism model as example.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Motif = pattern = regular</a:t>
            </a:r>
            <a:r>
              <a:rPr lang="en-US" baseline="0" dirty="0"/>
              <a:t> expression: </a:t>
            </a:r>
            <a:r>
              <a:rPr lang="en-US" dirty="0"/>
              <a:t> basic</a:t>
            </a:r>
            <a:r>
              <a:rPr lang="en-US" baseline="0" dirty="0"/>
              <a:t> because there is no weight for each position.</a:t>
            </a:r>
          </a:p>
          <a:p>
            <a:r>
              <a:rPr lang="en-US" dirty="0"/>
              <a:t>Signatures are predictive models, provided by several different databases, </a:t>
            </a:r>
          </a:p>
          <a:p>
            <a:r>
              <a:rPr lang="en-US" dirty="0"/>
              <a:t>In </a:t>
            </a:r>
            <a:r>
              <a:rPr lang="en-US" dirty="0">
                <a:hlinkClick r:id="rId3" tooltip="Genetics"/>
              </a:rPr>
              <a:t>genetics</a:t>
            </a:r>
            <a:r>
              <a:rPr lang="en-US" dirty="0"/>
              <a:t>, a </a:t>
            </a:r>
            <a:r>
              <a:rPr lang="en-US" b="1" dirty="0"/>
              <a:t>sequence motif</a:t>
            </a:r>
            <a:r>
              <a:rPr lang="en-US" dirty="0"/>
              <a:t> is a </a:t>
            </a:r>
            <a:r>
              <a:rPr lang="en-US" dirty="0">
                <a:hlinkClick r:id="rId4" tooltip="Nucleotide"/>
              </a:rPr>
              <a:t>nucleotide</a:t>
            </a:r>
            <a:r>
              <a:rPr lang="en-US" dirty="0"/>
              <a:t> or </a:t>
            </a:r>
            <a:r>
              <a:rPr lang="en-US" dirty="0">
                <a:hlinkClick r:id="rId5" tooltip="Amino acid"/>
              </a:rPr>
              <a:t>amino-acid</a:t>
            </a:r>
            <a:r>
              <a:rPr lang="en-US" dirty="0"/>
              <a:t> </a:t>
            </a:r>
            <a:r>
              <a:rPr lang="en-US" dirty="0">
                <a:hlinkClick r:id="rId6" tooltip="Sequence"/>
              </a:rPr>
              <a:t>sequence</a:t>
            </a:r>
            <a:r>
              <a:rPr lang="en-US" dirty="0"/>
              <a:t> pattern that is widespread and has, or is conjectured to have, a </a:t>
            </a:r>
            <a:r>
              <a:rPr lang="en-US" dirty="0">
                <a:hlinkClick r:id="rId7" tooltip="Biology"/>
              </a:rPr>
              <a:t>biological</a:t>
            </a:r>
            <a:r>
              <a:rPr lang="en-US" dirty="0"/>
              <a:t> significance. For proteins, a sequence motif is distinguished from a </a:t>
            </a:r>
            <a:r>
              <a:rPr lang="en-US" dirty="0">
                <a:hlinkClick r:id="rId8" tooltip="Structural motif"/>
              </a:rPr>
              <a:t>structural motif</a:t>
            </a:r>
            <a:r>
              <a:rPr lang="en-US" dirty="0"/>
              <a:t>, a motif formed by the three-dimensional arrangement of amino acids which may not be adjacent.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Multiple EM for Motif Elicitation (MEME) is a tool for discovering motifs in a group of related DNA or </a:t>
            </a:r>
            <a:r>
              <a:rPr lang="en-US" dirty="0">
                <a:hlinkClick r:id="rId9" tooltip="Protein sequences"/>
              </a:rPr>
              <a:t>protein sequences</a:t>
            </a:r>
            <a:r>
              <a:rPr lang="en-US" dirty="0"/>
              <a:t>.</a:t>
            </a:r>
          </a:p>
          <a:p>
            <a:r>
              <a:rPr lang="en-US" dirty="0"/>
              <a:t>The term </a:t>
            </a:r>
            <a:r>
              <a:rPr lang="en-US" b="1" i="1" dirty="0"/>
              <a:t>motif</a:t>
            </a:r>
            <a:r>
              <a:rPr lang="en-US" dirty="0"/>
              <a:t> is use to refer to a part of a protein sequence that is associated with a particular biological function.</a:t>
            </a:r>
          </a:p>
          <a:p>
            <a:r>
              <a:rPr lang="en-US" dirty="0"/>
              <a:t>The presence of a particular motif within a protein sequence can be used to suggest functions for </a:t>
            </a:r>
            <a:r>
              <a:rPr lang="en-US" dirty="0" err="1"/>
              <a:t>uncharacterised</a:t>
            </a:r>
            <a:r>
              <a:rPr lang="en-US" dirty="0"/>
              <a:t> proteins.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3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00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libri" charset="0"/>
                <a:ea typeface="MS PGothic" charset="0"/>
              </a:rPr>
              <a:t>Adapted to transcriptome: </a:t>
            </a:r>
            <a:r>
              <a:rPr lang="en-US" dirty="0" err="1">
                <a:latin typeface="Calibri" charset="0"/>
                <a:ea typeface="MS PGothic" charset="0"/>
              </a:rPr>
              <a:t>Trinotate</a:t>
            </a:r>
            <a:r>
              <a:rPr lang="en-US" dirty="0">
                <a:latin typeface="Calibri" charset="0"/>
                <a:ea typeface="MS PGothic" charset="0"/>
              </a:rPr>
              <a:t>, </a:t>
            </a:r>
            <a:r>
              <a:rPr lang="en-US" dirty="0" err="1">
                <a:latin typeface="Calibri" charset="0"/>
                <a:ea typeface="MS PGothic" charset="0"/>
              </a:rPr>
              <a:t>Annocript</a:t>
            </a:r>
            <a:endParaRPr lang="en-US" dirty="0">
              <a:latin typeface="Calibri" charset="0"/>
              <a:ea typeface="MS PGothic" charset="0"/>
            </a:endParaRP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2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</a:rPr>
              <a:t>Not integrated signatures = signature not yet curated or do not reach </a:t>
            </a:r>
            <a:r>
              <a:rPr lang="en-US" sz="1200" dirty="0" err="1">
                <a:latin typeface="Calibri"/>
              </a:rPr>
              <a:t>InterPro's</a:t>
            </a:r>
            <a:r>
              <a:rPr lang="en-US" sz="1200" dirty="0">
                <a:latin typeface="Calibri"/>
              </a:rPr>
              <a:t> standards for integration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35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Categorizations of gene function, such as those used in </a:t>
            </a:r>
            <a:r>
              <a:rPr lang="en-US" dirty="0" err="1">
                <a:solidFill>
                  <a:srgbClr val="000000"/>
                </a:solidFill>
              </a:rPr>
              <a:t>the</a:t>
            </a:r>
            <a:r>
              <a:rPr lang="en-US" u="sng" dirty="0" err="1">
                <a:solidFill>
                  <a:srgbClr val="000000"/>
                </a:solidFill>
                <a:hlinkClick r:id="rId3"/>
              </a:rPr>
              <a:t>Gene</a:t>
            </a:r>
            <a:r>
              <a:rPr lang="en-US" u="sng" dirty="0">
                <a:solidFill>
                  <a:srgbClr val="000000"/>
                </a:solidFill>
                <a:hlinkClick r:id="rId3"/>
              </a:rPr>
              <a:t> Ontology Project slot each gene into one category in a hierarchy of categories. They are helpful, but they ignore the fact that an individual gene has no function in isolation.</a:t>
            </a:r>
            <a:endParaRPr lang="en-US" u="sng" dirty="0">
              <a:solidFill>
                <a:srgbClr val="00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Gene function prediction is a stepping stone to the more important problem of inferring regulatory networks that explain how genes interact so as to enable cellular processes.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>
              <a:solidFill>
                <a:srgbClr val="000000"/>
              </a:solidFill>
            </a:endParaRPr>
          </a:p>
          <a:p>
            <a:r>
              <a:rPr lang="en-US" dirty="0"/>
              <a:t>Put</a:t>
            </a:r>
            <a:r>
              <a:rPr lang="en-US" baseline="0" dirty="0"/>
              <a:t> in perspective of PATWAY is better !</a:t>
            </a:r>
          </a:p>
          <a:p>
            <a:endParaRPr lang="en-US" baseline="0" dirty="0"/>
          </a:p>
          <a:p>
            <a:r>
              <a:rPr lang="en-US" dirty="0"/>
              <a:t>There is more information in a network compared to sequence or structure alone. A network provides a global view of the context of each gene.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0E0D2-EBEA-4B4D-B471-D9E93B2D0A5F}" type="datetime1">
              <a:rPr lang="fr-FR" smtClean="0"/>
              <a:t>10/09/2025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B1A7-E63F-C945-BA0F-073149B16916}" type="datetime1">
              <a:rPr lang="fr-FR" smtClean="0"/>
              <a:t>10/09/2025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498B-52B4-D248-AC7D-6C0430F78E61}" type="datetime1">
              <a:rPr lang="fr-FR" smtClean="0"/>
              <a:t>10/09/2025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46C6-6131-3E46-855C-3DC38D8E7B01}" type="datetime1">
              <a:rPr lang="fr-FR" smtClean="0"/>
              <a:t>10/09/2025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B3D0-D467-2B41-9678-48D794215140}" type="datetime1">
              <a:rPr lang="fr-FR" smtClean="0"/>
              <a:t>10/09/2025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7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BEDC-7666-004E-BE91-E87BFD6169DB}" type="datetime1">
              <a:rPr lang="fr-FR" smtClean="0"/>
              <a:t>10/09/2025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3A66-96D5-924E-A36F-D0E492D74F3A}" type="datetime1">
              <a:rPr lang="fr-FR" smtClean="0"/>
              <a:t>10/09/2025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52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0F2B-8FFA-8A41-B7B8-A9CC2655472A}" type="datetime1">
              <a:rPr lang="fr-FR" smtClean="0"/>
              <a:t>10/09/2025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0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07F8C7-317E-3A42-B629-4A50B731A1AC}" type="datetime1">
              <a:rPr lang="fr-FR" smtClean="0"/>
              <a:t>10/09/2025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6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9802-2785-FE4D-A07F-6610B026E8FB}" type="datetime1">
              <a:rPr lang="fr-FR" smtClean="0"/>
              <a:t>10/09/2025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1AC4-02B8-A545-9B5B-0C3EE09FD627}" type="datetime1">
              <a:rPr lang="fr-FR" smtClean="0"/>
              <a:t>10/09/2025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30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C84F53A-35AA-A583-F69F-86369A24DEF0}"/>
              </a:ext>
            </a:extLst>
          </p:cNvPr>
          <p:cNvCxnSpPr/>
          <p:nvPr userDrawn="1"/>
        </p:nvCxnSpPr>
        <p:spPr>
          <a:xfrm>
            <a:off x="459517" y="444040"/>
            <a:ext cx="11224332" cy="0"/>
          </a:xfrm>
          <a:prstGeom prst="line">
            <a:avLst/>
          </a:prstGeom>
          <a:ln w="9525" cmpd="sng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BFD074D-2582-B065-C767-BCAB89AD7D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2192000" cy="444500"/>
          </a:xfrm>
        </p:spPr>
        <p:txBody>
          <a:bodyPr/>
          <a:lstStyle>
            <a:lvl1pPr marL="0" indent="0" algn="ctr">
              <a:buNone/>
              <a:defRPr b="0" cap="none" spc="0">
                <a:ln w="0"/>
                <a:solidFill>
                  <a:srgbClr val="02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5pPr>
          </a:lstStyle>
          <a:p>
            <a:pPr lvl="0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374BB62F-3963-2B70-AEA5-B10FCFC49E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17244" y="6413052"/>
            <a:ext cx="1421889" cy="309201"/>
          </a:xfrm>
        </p:spPr>
        <p:txBody>
          <a:bodyPr/>
          <a:lstStyle/>
          <a:p>
            <a:fld id="{D7D8D820-F334-8742-8AC7-66EEDAB2EAC2}" type="datetime1">
              <a:rPr lang="fr-FR" smtClean="0"/>
              <a:t>10/09/2025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5310E98-F573-2FB9-D8FA-5D89B4452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73896" y="6413960"/>
            <a:ext cx="537867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A4EDD-33BF-CA1E-119C-F66477D6E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E207B9E-14FB-E537-1518-E74527A5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074" y="6251046"/>
            <a:ext cx="1636749" cy="484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519749-FB4A-3542-E28D-042AF44C1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1857632" y="6248270"/>
            <a:ext cx="634193" cy="4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A66-96D5-924E-A36F-D0E492D74F3A}" type="datetime1">
              <a:rPr lang="fr-FR" smtClean="0"/>
              <a:t>10/09/2025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ke34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5" Type="http://schemas.openxmlformats.org/officeDocument/2006/relationships/image" Target="../media/image11.sv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hyperlink" Target="https://freepngimg.com/png/80213-text-symbol-sign-black-arroba-white" TargetMode="External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CD2EBC-5076-D24A-AEF9-B6A8AC11F049}"/>
              </a:ext>
            </a:extLst>
          </p:cNvPr>
          <p:cNvSpPr txBox="1"/>
          <p:nvPr/>
        </p:nvSpPr>
        <p:spPr>
          <a:xfrm>
            <a:off x="2800350" y="52705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EC24E-07D5-F740-A842-2F3820E9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42" y="237602"/>
            <a:ext cx="3287795" cy="9725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05B4075-878E-6653-889D-DC4137FDB9DC}"/>
              </a:ext>
            </a:extLst>
          </p:cNvPr>
          <p:cNvSpPr txBox="1"/>
          <p:nvPr/>
        </p:nvSpPr>
        <p:spPr>
          <a:xfrm>
            <a:off x="6524264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97A4089-15D0-0182-66C4-7A466A68AED9}"/>
              </a:ext>
            </a:extLst>
          </p:cNvPr>
          <p:cNvSpPr txBox="1">
            <a:spLocks/>
          </p:cNvSpPr>
          <p:nvPr/>
        </p:nvSpPr>
        <p:spPr>
          <a:xfrm>
            <a:off x="0" y="1979221"/>
            <a:ext cx="12192000" cy="225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Functional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annotation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056A61-CFD9-6140-5038-4884A1FBF7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3742895" y="237601"/>
            <a:ext cx="1266665" cy="97254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A210819-9122-4D1F-58B8-CC249783DB6C}"/>
              </a:ext>
            </a:extLst>
          </p:cNvPr>
          <p:cNvSpPr txBox="1"/>
          <p:nvPr/>
        </p:nvSpPr>
        <p:spPr>
          <a:xfrm>
            <a:off x="0" y="618144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22/09/2025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887C6DF-E142-F3B1-5D40-CD1824E487CA}"/>
              </a:ext>
            </a:extLst>
          </p:cNvPr>
          <p:cNvSpPr txBox="1"/>
          <p:nvPr/>
        </p:nvSpPr>
        <p:spPr>
          <a:xfrm>
            <a:off x="9929698" y="655509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Jacques Dainat Ph.D.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ED1E1B3-8F78-27EA-E2F1-CF1D91EC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513" y="6181445"/>
            <a:ext cx="642254" cy="642254"/>
          </a:xfrm>
          <a:prstGeom prst="ellipse">
            <a:avLst/>
          </a:prstGeom>
        </p:spPr>
      </p:pic>
      <p:pic>
        <p:nvPicPr>
          <p:cNvPr id="21" name="Picture 29">
            <a:hlinkClick r:id="rId6"/>
            <a:extLst>
              <a:ext uri="{FF2B5EF4-FFF2-40B4-BE49-F238E27FC236}">
                <a16:creationId xmlns:a16="http://schemas.microsoft.com/office/drawing/2014/main" id="{89EBB4B5-A8DC-AE03-1BD7-D0DF48AA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068" y="6532274"/>
            <a:ext cx="332120" cy="3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2A78C47-4245-D420-57CD-8BD9ED4B1A04}"/>
              </a:ext>
            </a:extLst>
          </p:cNvPr>
          <p:cNvSpPr txBox="1"/>
          <p:nvPr/>
        </p:nvSpPr>
        <p:spPr>
          <a:xfrm>
            <a:off x="3424123" y="6532274"/>
            <a:ext cx="215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@</a:t>
            </a:r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Jacquesdainat.bsky.social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C803A2-D6B6-07EC-6C5E-9A07D0B4B01C}"/>
              </a:ext>
            </a:extLst>
          </p:cNvPr>
          <p:cNvSpPr txBox="1"/>
          <p:nvPr/>
        </p:nvSpPr>
        <p:spPr>
          <a:xfrm>
            <a:off x="2367039" y="656181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Juke34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0F70352-0DEF-6161-4152-81AC1DFB5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362" y="6547249"/>
            <a:ext cx="276999" cy="2769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CB7F09D-196E-B450-7AF1-9A9D0103DAAC}"/>
              </a:ext>
            </a:extLst>
          </p:cNvPr>
          <p:cNvSpPr txBox="1"/>
          <p:nvPr/>
        </p:nvSpPr>
        <p:spPr>
          <a:xfrm>
            <a:off x="287842" y="6548538"/>
            <a:ext cx="1743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Jacques.dainat@ird.fr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21230A3-709D-3E2B-F994-C2FACF1A0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281" y="6471179"/>
            <a:ext cx="370989" cy="37098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E0AF94A-E95B-00AF-19FC-268F3DCD5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75" y="5210371"/>
            <a:ext cx="1068960" cy="102121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AD93107-6B79-6CB3-E21C-383A6827D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93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15" b="96413" l="2200" r="97600">
                        <a14:foregroundMark x1="36400" y1="35426" x2="36400" y2="35426"/>
                        <a14:foregroundMark x1="42800" y1="36099" x2="42800" y2="36099"/>
                        <a14:foregroundMark x1="56400" y1="32960" x2="56400" y2="32960"/>
                        <a14:foregroundMark x1="68800" y1="28251" x2="68800" y2="28251"/>
                        <a14:foregroundMark x1="83400" y1="10762" x2="83400" y2="10762"/>
                        <a14:foregroundMark x1="92000" y1="21076" x2="92000" y2="21076"/>
                        <a14:foregroundMark x1="96000" y1="19955" x2="96000" y2="19955"/>
                        <a14:foregroundMark x1="92400" y1="36547" x2="92400" y2="36547"/>
                        <a14:foregroundMark x1="97600" y1="64126" x2="97600" y2="64126"/>
                        <a14:foregroundMark x1="88800" y1="61659" x2="88800" y2="61659"/>
                        <a14:foregroundMark x1="79800" y1="68161" x2="79800" y2="68161"/>
                        <a14:foregroundMark x1="64000" y1="80717" x2="64000" y2="80717"/>
                        <a14:foregroundMark x1="42200" y1="68834" x2="42200" y2="68834"/>
                        <a14:foregroundMark x1="16600" y1="67489" x2="16600" y2="67489"/>
                        <a14:foregroundMark x1="7200" y1="61211" x2="7200" y2="61211"/>
                        <a14:foregroundMark x1="2200" y1="63004" x2="2200" y2="63004"/>
                        <a14:foregroundMark x1="7600" y1="47085" x2="7600" y2="47085"/>
                        <a14:foregroundMark x1="3000" y1="30493" x2="3000" y2="30493"/>
                        <a14:foregroundMark x1="10600" y1="16592" x2="10600" y2="16592"/>
                        <a14:foregroundMark x1="19600" y1="8969" x2="19600" y2="8969"/>
                        <a14:foregroundMark x1="17400" y1="4933" x2="17400" y2="4933"/>
                        <a14:foregroundMark x1="32800" y1="2915" x2="32800" y2="2915"/>
                        <a14:foregroundMark x1="53600" y1="6502" x2="53600" y2="6502"/>
                        <a14:foregroundMark x1="63200" y1="10090" x2="63200" y2="10090"/>
                        <a14:foregroundMark x1="18000" y1="82287" x2="18000" y2="82287"/>
                        <a14:foregroundMark x1="27400" y1="95067" x2="27400" y2="95067"/>
                        <a14:foregroundMark x1="53000" y1="96413" x2="53000" y2="96413"/>
                        <a14:foregroundMark x1="64600" y1="95964" x2="64600" y2="95964"/>
                        <a14:foregroundMark x1="79200" y1="92377" x2="79200" y2="92377"/>
                        <a14:foregroundMark x1="87200" y1="84081" x2="87200" y2="84081"/>
                        <a14:foregroundMark x1="34400" y1="3139" x2="34400" y2="3139"/>
                        <a14:foregroundMark x1="69800" y1="32287" x2="69800" y2="32287"/>
                        <a14:foregroundMark x1="69600" y1="32511" x2="69600" y2="32511"/>
                        <a14:foregroundMark x1="69600" y1="32063" x2="69600" y2="32063"/>
                        <a14:foregroundMark x1="69800" y1="32511" x2="69800" y2="32511"/>
                        <a14:foregroundMark x1="69800" y1="32511" x2="69800" y2="32511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600" y1="31839" x2="69600" y2="31839"/>
                        <a14:foregroundMark x1="69600" y1="32287" x2="69600" y2="32287"/>
                        <a14:foregroundMark x1="69800" y1="32511" x2="70000" y2="32960"/>
                        <a14:foregroundMark x1="70000" y1="33408" x2="68800" y2="32960"/>
                        <a14:foregroundMark x1="39400" y1="89910" x2="39400" y2="89910"/>
                        <a14:foregroundMark x1="39600" y1="89910" x2="39600" y2="89910"/>
                        <a14:foregroundMark x1="39600" y1="90135" x2="39600" y2="90135"/>
                        <a14:foregroundMark x1="39600" y1="90135" x2="39600" y2="90135"/>
                        <a14:foregroundMark x1="39600" y1="89686" x2="39600" y2="89686"/>
                        <a14:foregroundMark x1="39600" y1="89686" x2="39200" y2="89686"/>
                        <a14:foregroundMark x1="39600" y1="90135" x2="39600" y2="90135"/>
                        <a14:backgroundMark x1="40000" y1="89910" x2="40000" y2="89910"/>
                        <a14:backgroundMark x1="63200" y1="96413" x2="63200" y2="96413"/>
                        <a14:backgroundMark x1="63800" y1="96188" x2="63800" y2="96188"/>
                        <a14:backgroundMark x1="64200" y1="96188" x2="64200" y2="96188"/>
                        <a14:backgroundMark x1="64000" y1="95740" x2="64000" y2="95740"/>
                        <a14:backgroundMark x1="64000" y1="95740" x2="64000" y2="95740"/>
                        <a14:backgroundMark x1="64000" y1="95964" x2="64000" y2="95964"/>
                        <a14:backgroundMark x1="64200" y1="95964" x2="64200" y2="95964"/>
                        <a14:backgroundMark x1="64200" y1="96413" x2="64200" y2="96413"/>
                        <a14:backgroundMark x1="42600" y1="71525" x2="42600" y2="71525"/>
                        <a14:backgroundMark x1="42800" y1="71076" x2="42800" y2="71076"/>
                        <a14:backgroundMark x1="61400" y1="67937" x2="61400" y2="67937"/>
                        <a14:backgroundMark x1="70000" y1="32063" x2="70000" y2="32063"/>
                        <a14:backgroundMark x1="17000" y1="5381" x2="17000" y2="5381"/>
                        <a14:backgroundMark x1="17600" y1="5381" x2="17600" y2="5381"/>
                        <a14:backgroundMark x1="17000" y1="5157" x2="17000" y2="5157"/>
                        <a14:backgroundMark x1="17000" y1="4933" x2="17000" y2="4933"/>
                        <a14:backgroundMark x1="17000" y1="5157" x2="17000" y2="5157"/>
                        <a14:backgroundMark x1="17000" y1="5157" x2="17000" y2="5157"/>
                        <a14:backgroundMark x1="17200" y1="5157" x2="17200" y2="5157"/>
                        <a14:backgroundMark x1="17200" y1="5157" x2="17200" y2="5157"/>
                        <a14:backgroundMark x1="17200" y1="4933" x2="17200" y2="4933"/>
                        <a14:backgroundMark x1="17400" y1="5157" x2="17400" y2="5157"/>
                        <a14:backgroundMark x1="17400" y1="4933" x2="17400" y2="4933"/>
                        <a14:backgroundMark x1="17400" y1="5157" x2="17400" y2="5157"/>
                        <a14:backgroundMark x1="32400" y1="3363" x2="32400" y2="3363"/>
                        <a14:backgroundMark x1="32400" y1="2691" x2="32400" y2="2691"/>
                        <a14:backgroundMark x1="32400" y1="3587" x2="32400" y2="3587"/>
                        <a14:backgroundMark x1="32400" y1="3363" x2="32400" y2="3363"/>
                        <a14:backgroundMark x1="32400" y1="3587" x2="32400" y2="3587"/>
                        <a14:backgroundMark x1="32200" y1="3363" x2="32200" y2="3363"/>
                        <a14:backgroundMark x1="32200" y1="3363" x2="32200" y2="3363"/>
                        <a14:backgroundMark x1="32400" y1="3587" x2="32400" y2="3587"/>
                        <a14:backgroundMark x1="32400" y1="3587" x2="32400" y2="3587"/>
                        <a14:backgroundMark x1="32400" y1="3363" x2="32400" y2="3363"/>
                        <a14:backgroundMark x1="32400" y1="3363" x2="32400" y2="3363"/>
                        <a14:backgroundMark x1="32400" y1="3363" x2="32400" y2="3363"/>
                        <a14:backgroundMark x1="32600" y1="3363" x2="32600" y2="3363"/>
                        <a14:backgroundMark x1="32600" y1="3139" x2="32600" y2="31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62" y="5259565"/>
            <a:ext cx="785191" cy="700391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FAA25AA1-832A-8914-E46D-93A0F74209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8884" y="5430451"/>
            <a:ext cx="992125" cy="52950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6B86C17-C874-9546-64BA-73A4E494DE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2214" y="5292444"/>
            <a:ext cx="959549" cy="7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Calibri" charset="0"/>
                <a:ea typeface="MS PGothic" charset="0"/>
              </a:rPr>
              <a:t>Functional annotation – why?</a:t>
            </a:r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Content Placeholder 2" descr="Screen Shot 2014-03-28 at 2.37.52 PM.png">
            <a:extLst>
              <a:ext uri="{FF2B5EF4-FFF2-40B4-BE49-F238E27FC236}">
                <a16:creationId xmlns:a16="http://schemas.microsoft.com/office/drawing/2014/main" id="{4B8B1E0A-79E6-36D8-FFF2-7712F4D28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65" b="6853"/>
          <a:stretch>
            <a:fillRect/>
          </a:stretch>
        </p:blipFill>
        <p:spPr>
          <a:xfrm>
            <a:off x="2086755" y="2821845"/>
            <a:ext cx="8215312" cy="854075"/>
          </a:xfrm>
          <a:prstGeom prst="rect">
            <a:avLst/>
          </a:prstGeom>
          <a:noFill/>
        </p:spPr>
      </p:pic>
      <p:sp>
        <p:nvSpPr>
          <p:cNvPr id="11" name="TextBox 26">
            <a:extLst>
              <a:ext uri="{FF2B5EF4-FFF2-40B4-BE49-F238E27FC236}">
                <a16:creationId xmlns:a16="http://schemas.microsoft.com/office/drawing/2014/main" id="{EC7F1AD8-B429-B71F-655E-59DE6A31C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55" y="3469545"/>
            <a:ext cx="44608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4400"/>
              <a:t>?</a:t>
            </a: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81DE2419-0C38-75C1-785F-7400C92DA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5617" y="3326670"/>
            <a:ext cx="4476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4400"/>
              <a:t>?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EA87A571-251C-C12C-0E7E-34FD4DEB2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563" y="3557492"/>
            <a:ext cx="4460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4400"/>
              <a:t>?</a:t>
            </a:r>
          </a:p>
        </p:txBody>
      </p:sp>
      <p:sp>
        <p:nvSpPr>
          <p:cNvPr id="14" name="TextBox 29">
            <a:extLst>
              <a:ext uri="{FF2B5EF4-FFF2-40B4-BE49-F238E27FC236}">
                <a16:creationId xmlns:a16="http://schemas.microsoft.com/office/drawing/2014/main" id="{806A4430-D85D-AC79-09C9-C22CF800D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033" y="3870150"/>
            <a:ext cx="11589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Antibodies?</a:t>
            </a: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84B87191-0868-D65A-FBB4-565717927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8332" y="4432553"/>
            <a:ext cx="10550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Hormone?</a:t>
            </a: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DF5108B8-6F88-6C56-DF02-4201770ED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437" y="4521067"/>
            <a:ext cx="17454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600" i="1" dirty="0"/>
              <a:t>Structural Protein?</a:t>
            </a: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5C84C6C2-CADD-EF91-D135-03BA5F6C0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218" y="4158153"/>
            <a:ext cx="2118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Contractile protein?</a:t>
            </a:r>
          </a:p>
        </p:txBody>
      </p:sp>
      <p:sp>
        <p:nvSpPr>
          <p:cNvPr id="18" name="TextBox 33">
            <a:extLst>
              <a:ext uri="{FF2B5EF4-FFF2-40B4-BE49-F238E27FC236}">
                <a16:creationId xmlns:a16="http://schemas.microsoft.com/office/drawing/2014/main" id="{704477A4-C54C-21EB-F5C6-57D970D7D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303" y="3784498"/>
            <a:ext cx="9171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/>
              <a:t>Enzyme?</a:t>
            </a:r>
            <a:endParaRPr lang="en-US" sz="1600" i="1" dirty="0"/>
          </a:p>
        </p:txBody>
      </p:sp>
      <p:sp>
        <p:nvSpPr>
          <p:cNvPr id="19" name="TextBox 34">
            <a:extLst>
              <a:ext uri="{FF2B5EF4-FFF2-40B4-BE49-F238E27FC236}">
                <a16:creationId xmlns:a16="http://schemas.microsoft.com/office/drawing/2014/main" id="{B46EF613-A877-7A8F-8064-DA64FC9D1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515" y="4543995"/>
            <a:ext cx="18615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 Storage Protein?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C7DB1AD-E0C9-2267-C168-F4E5BDF88839}"/>
              </a:ext>
            </a:extLst>
          </p:cNvPr>
          <p:cNvSpPr txBox="1">
            <a:spLocks/>
          </p:cNvSpPr>
          <p:nvPr/>
        </p:nvSpPr>
        <p:spPr bwMode="auto">
          <a:xfrm>
            <a:off x="405244" y="608243"/>
            <a:ext cx="11346873" cy="167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00"/>
                </a:solidFill>
              </a:rPr>
              <a:t>Understanding the function of gene product is key to understanding how a limited number of interacting gene products can generate life, from simple unicellular organisms to the incredibly complex multi-cellular Homo sapiens.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580625-52EF-76E0-79FA-0AD48053615C}"/>
              </a:ext>
            </a:extLst>
          </p:cNvPr>
          <p:cNvSpPr/>
          <p:nvPr/>
        </p:nvSpPr>
        <p:spPr>
          <a:xfrm>
            <a:off x="7569272" y="1407153"/>
            <a:ext cx="45720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Rison,S.C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Hodgman,T.C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and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Thornton,J.M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(2000) Comparison of functional annotation schemes for genomes.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Funct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Integr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Genomics, 1, 56–69.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678B10-DAC1-80E1-A9B0-FFDB83943DED}"/>
              </a:ext>
            </a:extLst>
          </p:cNvPr>
          <p:cNvSpPr/>
          <p:nvPr/>
        </p:nvSpPr>
        <p:spPr>
          <a:xfrm>
            <a:off x="7429130" y="4133805"/>
            <a:ext cx="15699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/>
              <a:t>Transport Protein?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9F3F3E-72B3-D659-1CDF-B64F716A18FC}"/>
              </a:ext>
            </a:extLst>
          </p:cNvPr>
          <p:cNvSpPr/>
          <p:nvPr/>
        </p:nvSpPr>
        <p:spPr>
          <a:xfrm>
            <a:off x="6400302" y="3889030"/>
            <a:ext cx="7761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/>
              <a:t>Energy?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A27E16-63FB-70CD-ABA9-D9D94DBDFB4B}"/>
              </a:ext>
            </a:extLst>
          </p:cNvPr>
          <p:cNvSpPr/>
          <p:nvPr/>
        </p:nvSpPr>
        <p:spPr>
          <a:xfrm>
            <a:off x="3682141" y="2483994"/>
            <a:ext cx="4391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Proteins vary in structure as well as function</a:t>
            </a:r>
          </a:p>
        </p:txBody>
      </p:sp>
    </p:spTree>
    <p:extLst>
      <p:ext uri="{BB962C8B-B14F-4D97-AF65-F5344CB8AC3E}">
        <p14:creationId xmlns:p14="http://schemas.microsoft.com/office/powerpoint/2010/main" val="307196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4DD4CFD-9120-296A-9855-0968EA5E3A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alibri" charset="0"/>
                <a:ea typeface="MS PGothic" charset="0"/>
              </a:rPr>
              <a:t>Functional annotation – how?</a:t>
            </a:r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2B18EA9-397E-BF4F-9AC2-CA42D84348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6B060F1-A5DF-2026-AE18-FADC42F3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057" y="825471"/>
            <a:ext cx="1854057" cy="820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AA0A20-EA18-5354-995B-A99F478DC2BC}"/>
              </a:ext>
            </a:extLst>
          </p:cNvPr>
          <p:cNvSpPr/>
          <p:nvPr/>
        </p:nvSpPr>
        <p:spPr>
          <a:xfrm>
            <a:off x="7158079" y="986299"/>
            <a:ext cx="21844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Mice homozygous for the diabetes 3J spontaneous mutation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9E940C-22B9-A329-7275-5EC0FFCF0EEA}"/>
              </a:ext>
            </a:extLst>
          </p:cNvPr>
          <p:cNvSpPr txBox="1">
            <a:spLocks/>
          </p:cNvSpPr>
          <p:nvPr/>
        </p:nvSpPr>
        <p:spPr>
          <a:xfrm>
            <a:off x="994064" y="634718"/>
            <a:ext cx="8229600" cy="53088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74B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chemeClr val="accent2"/>
                </a:solidFill>
              </a:rPr>
              <a:t>Experimentally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(accurate)</a:t>
            </a:r>
          </a:p>
          <a:p>
            <a:pPr marL="0" indent="0">
              <a:buFont typeface="Arial"/>
              <a:buNone/>
            </a:pPr>
            <a:r>
              <a:rPr lang="en-US" dirty="0">
                <a:solidFill>
                  <a:srgbClr val="000000"/>
                </a:solidFill>
              </a:rPr>
              <a:t>	- Mutants,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knockout, etc.</a:t>
            </a: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228600" indent="-228600" defTabSz="914400">
              <a:lnSpc>
                <a:spcPct val="13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chemeClr val="accent2"/>
                </a:solidFill>
              </a:rPr>
              <a:t>Computationally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(limited accuracy)</a:t>
            </a:r>
          </a:p>
          <a:p>
            <a:pPr lvl="1"/>
            <a:endParaRPr lang="en-US" sz="1800" dirty="0"/>
          </a:p>
          <a:p>
            <a:pPr lvl="1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Sequence-based</a:t>
            </a: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Structure based</a:t>
            </a: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Protein-protein interaction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http://0.tqn.com/d/biology/1/0/2/b/protein_structure.jpg">
            <a:extLst>
              <a:ext uri="{FF2B5EF4-FFF2-40B4-BE49-F238E27FC236}">
                <a16:creationId xmlns:a16="http://schemas.microsoft.com/office/drawing/2014/main" id="{9D2DE170-9B6D-37DE-C7E9-A4447BFA1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868" y="3112562"/>
            <a:ext cx="1606123" cy="23445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5484029D-A037-8012-E402-5E4869E14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026" y="5060042"/>
            <a:ext cx="1143000" cy="760615"/>
          </a:xfrm>
          <a:prstGeom prst="rect">
            <a:avLst/>
          </a:prstGeom>
        </p:spPr>
      </p:pic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598FE63F-BD11-0D26-D83F-BDFB8D69A7DC}"/>
              </a:ext>
            </a:extLst>
          </p:cNvPr>
          <p:cNvCxnSpPr>
            <a:cxnSpLocks/>
          </p:cNvCxnSpPr>
          <p:nvPr/>
        </p:nvCxnSpPr>
        <p:spPr>
          <a:xfrm flipV="1">
            <a:off x="4988080" y="4357584"/>
            <a:ext cx="3023710" cy="36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27">
            <a:extLst>
              <a:ext uri="{FF2B5EF4-FFF2-40B4-BE49-F238E27FC236}">
                <a16:creationId xmlns:a16="http://schemas.microsoft.com/office/drawing/2014/main" id="{85EE9919-27C5-C030-B4CD-6540F7117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080" y="2841426"/>
            <a:ext cx="1854056" cy="77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9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A1E634B-2D3C-B9FC-1E12-8AFAA75385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8529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-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Sequence-based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1BF8403-6E64-EFAD-A1D1-C0786A3738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272A87-B68E-9A89-AD09-94DA7B8B429F}"/>
              </a:ext>
            </a:extLst>
          </p:cNvPr>
          <p:cNvSpPr txBox="1">
            <a:spLocks/>
          </p:cNvSpPr>
          <p:nvPr/>
        </p:nvSpPr>
        <p:spPr>
          <a:xfrm>
            <a:off x="993515" y="519322"/>
            <a:ext cx="8229600" cy="56421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similarity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=&gt; Best blast hit 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sz="1400" dirty="0"/>
          </a:p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Motif </a:t>
            </a:r>
          </a:p>
          <a:p>
            <a:pPr marL="457200" lvl="1" indent="0">
              <a:buNone/>
              <a:defRPr/>
            </a:pPr>
            <a:r>
              <a:rPr lang="en-US" dirty="0"/>
              <a:t>=&gt; </a:t>
            </a:r>
            <a:r>
              <a:rPr lang="en-US" dirty="0" err="1"/>
              <a:t>Proscan</a:t>
            </a:r>
            <a:r>
              <a:rPr lang="en-US" dirty="0"/>
              <a:t>, MEME, </a:t>
            </a:r>
            <a:r>
              <a:rPr lang="en-US" dirty="0" err="1"/>
              <a:t>QuasiMotiFinder</a:t>
            </a: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sz="1400" dirty="0"/>
          </a:p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Profile </a:t>
            </a:r>
          </a:p>
          <a:p>
            <a:pPr marL="457200" lvl="1" indent="0">
              <a:buNone/>
              <a:defRPr/>
            </a:pPr>
            <a:r>
              <a:rPr lang="en-US" dirty="0"/>
              <a:t>=&gt; HMM or other statistical signature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35EA9-08AE-65C1-CA3A-F0D3B2D9A096}"/>
              </a:ext>
            </a:extLst>
          </p:cNvPr>
          <p:cNvSpPr/>
          <p:nvPr/>
        </p:nvSpPr>
        <p:spPr>
          <a:xfrm>
            <a:off x="9054500" y="4933520"/>
            <a:ext cx="24160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</a:rPr>
              <a:t>structural classification</a:t>
            </a:r>
          </a:p>
          <a:p>
            <a:r>
              <a:rPr lang="en-US" dirty="0">
                <a:latin typeface="Calibri"/>
              </a:rPr>
              <a:t>	e.g.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SUPERFAMILY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14D97-6EC5-8339-A9E3-0BF5CA0D1169}"/>
              </a:ext>
            </a:extLst>
          </p:cNvPr>
          <p:cNvSpPr/>
          <p:nvPr/>
        </p:nvSpPr>
        <p:spPr>
          <a:xfrm>
            <a:off x="3572069" y="5141775"/>
            <a:ext cx="12375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libri"/>
              </a:rPr>
              <a:t>domain</a:t>
            </a:r>
          </a:p>
          <a:p>
            <a:r>
              <a:rPr lang="en-US" dirty="0">
                <a:latin typeface="Calibri"/>
              </a:rPr>
              <a:t> e.g.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PFAM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C12959-41E9-9177-CF14-CCDBC3100134}"/>
              </a:ext>
            </a:extLst>
          </p:cNvPr>
          <p:cNvSpPr/>
          <p:nvPr/>
        </p:nvSpPr>
        <p:spPr>
          <a:xfrm>
            <a:off x="2773866" y="4431753"/>
            <a:ext cx="2224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</a:rPr>
              <a:t>Whole sequence</a:t>
            </a:r>
          </a:p>
          <a:p>
            <a:r>
              <a:rPr lang="en-US" dirty="0">
                <a:latin typeface="Calibri"/>
              </a:rPr>
              <a:t>e.g.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Psi-BLAST*, PIRSF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D7ADE-34E8-AA64-932A-222834CF5DE1}"/>
              </a:ext>
            </a:extLst>
          </p:cNvPr>
          <p:cNvSpPr/>
          <p:nvPr/>
        </p:nvSpPr>
        <p:spPr>
          <a:xfrm>
            <a:off x="4986544" y="5464940"/>
            <a:ext cx="442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</a:rPr>
              <a:t>Localization (</a:t>
            </a:r>
            <a:r>
              <a:rPr lang="en-US" dirty="0" err="1">
                <a:latin typeface="Calibri"/>
              </a:rPr>
              <a:t>e.g</a:t>
            </a:r>
            <a:r>
              <a:rPr lang="en-US" dirty="0">
                <a:latin typeface="Calibri"/>
              </a:rPr>
              <a:t> membrane, </a:t>
            </a:r>
            <a:r>
              <a:rPr lang="en-US" dirty="0" err="1">
                <a:latin typeface="Calibri"/>
              </a:rPr>
              <a:t>golgi</a:t>
            </a:r>
            <a:r>
              <a:rPr lang="en-US" dirty="0">
                <a:latin typeface="Calibri"/>
              </a:rPr>
              <a:t>, secreted)</a:t>
            </a:r>
          </a:p>
          <a:p>
            <a:r>
              <a:rPr lang="en-US" dirty="0">
                <a:latin typeface="Calibri"/>
              </a:rPr>
              <a:t>	e.g.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SignalP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, TMHMM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8330D1-D0D6-CB1E-25E2-53C4876769E2}"/>
              </a:ext>
            </a:extLst>
          </p:cNvPr>
          <p:cNvSpPr/>
          <p:nvPr/>
        </p:nvSpPr>
        <p:spPr>
          <a:xfrm>
            <a:off x="10133721" y="4309198"/>
            <a:ext cx="397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/>
              </a:rPr>
              <a:t>…</a:t>
            </a:r>
            <a:endParaRPr lang="en-US" dirty="0">
              <a:latin typeface="Calibri"/>
            </a:endParaRPr>
          </a:p>
        </p:txBody>
      </p: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821E7C77-9530-1B89-21EA-EC97C27CA938}"/>
              </a:ext>
            </a:extLst>
          </p:cNvPr>
          <p:cNvCxnSpPr/>
          <p:nvPr/>
        </p:nvCxnSpPr>
        <p:spPr>
          <a:xfrm flipH="1">
            <a:off x="4634487" y="4214430"/>
            <a:ext cx="1966028" cy="461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3">
            <a:extLst>
              <a:ext uri="{FF2B5EF4-FFF2-40B4-BE49-F238E27FC236}">
                <a16:creationId xmlns:a16="http://schemas.microsoft.com/office/drawing/2014/main" id="{606BCFD5-35A6-AA2A-55CC-200D586F00BA}"/>
              </a:ext>
            </a:extLst>
          </p:cNvPr>
          <p:cNvCxnSpPr/>
          <p:nvPr/>
        </p:nvCxnSpPr>
        <p:spPr>
          <a:xfrm flipH="1">
            <a:off x="4634487" y="4214430"/>
            <a:ext cx="1996508" cy="10422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6">
            <a:extLst>
              <a:ext uri="{FF2B5EF4-FFF2-40B4-BE49-F238E27FC236}">
                <a16:creationId xmlns:a16="http://schemas.microsoft.com/office/drawing/2014/main" id="{BA2566E2-4179-FAEA-032A-02164A783390}"/>
              </a:ext>
            </a:extLst>
          </p:cNvPr>
          <p:cNvCxnSpPr/>
          <p:nvPr/>
        </p:nvCxnSpPr>
        <p:spPr>
          <a:xfrm>
            <a:off x="6600514" y="4214430"/>
            <a:ext cx="30480" cy="12505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9">
            <a:extLst>
              <a:ext uri="{FF2B5EF4-FFF2-40B4-BE49-F238E27FC236}">
                <a16:creationId xmlns:a16="http://schemas.microsoft.com/office/drawing/2014/main" id="{BF09632B-0686-4539-09CA-64B197EE45D8}"/>
              </a:ext>
            </a:extLst>
          </p:cNvPr>
          <p:cNvCxnSpPr/>
          <p:nvPr/>
        </p:nvCxnSpPr>
        <p:spPr>
          <a:xfrm>
            <a:off x="6600515" y="4214430"/>
            <a:ext cx="2965719" cy="719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2">
            <a:extLst>
              <a:ext uri="{FF2B5EF4-FFF2-40B4-BE49-F238E27FC236}">
                <a16:creationId xmlns:a16="http://schemas.microsoft.com/office/drawing/2014/main" id="{20FC94A2-B4F1-86BB-1B02-BBA7E16A62B5}"/>
              </a:ext>
            </a:extLst>
          </p:cNvPr>
          <p:cNvCxnSpPr/>
          <p:nvPr/>
        </p:nvCxnSpPr>
        <p:spPr>
          <a:xfrm>
            <a:off x="6708606" y="4214430"/>
            <a:ext cx="3425115" cy="3937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49">
            <a:extLst>
              <a:ext uri="{FF2B5EF4-FFF2-40B4-BE49-F238E27FC236}">
                <a16:creationId xmlns:a16="http://schemas.microsoft.com/office/drawing/2014/main" id="{DA7F9EEB-BBF9-8CF7-8B0D-C3EF652E9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353" y="3932062"/>
            <a:ext cx="3953863" cy="1049803"/>
          </a:xfrm>
          <a:prstGeom prst="rect">
            <a:avLst/>
          </a:prstGeom>
        </p:spPr>
      </p:pic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800740AA-CF7A-79CB-0E72-80CCEBBB70EC}"/>
              </a:ext>
            </a:extLst>
          </p:cNvPr>
          <p:cNvSpPr/>
          <p:nvPr/>
        </p:nvSpPr>
        <p:spPr>
          <a:xfrm>
            <a:off x="6153217" y="2089112"/>
            <a:ext cx="3069999" cy="451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D-X-[KR]-P-{WYF}-X5</a:t>
            </a:r>
          </a:p>
        </p:txBody>
      </p:sp>
      <p:pic>
        <p:nvPicPr>
          <p:cNvPr id="17" name="Picture 3" descr="Screen Shot 2018-03-01 at 18.23.44.png">
            <a:extLst>
              <a:ext uri="{FF2B5EF4-FFF2-40B4-BE49-F238E27FC236}">
                <a16:creationId xmlns:a16="http://schemas.microsoft.com/office/drawing/2014/main" id="{2C1E7612-27F2-0300-79DB-8E8CD7B87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6" y="681405"/>
            <a:ext cx="3454400" cy="685800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2BDD570B-1C3F-5054-CE81-60BB4C095758}"/>
              </a:ext>
            </a:extLst>
          </p:cNvPr>
          <p:cNvSpPr txBox="1"/>
          <p:nvPr/>
        </p:nvSpPr>
        <p:spPr>
          <a:xfrm>
            <a:off x="5523038" y="631921"/>
            <a:ext cx="3925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/>
              </a:rPr>
              <a:t>Q</a:t>
            </a:r>
          </a:p>
          <a:p>
            <a:endParaRPr lang="en-US" sz="1400" b="1" dirty="0">
              <a:latin typeface="Calibri"/>
            </a:endParaRPr>
          </a:p>
          <a:p>
            <a:r>
              <a:rPr lang="en-US" sz="1400" b="1" dirty="0">
                <a:latin typeface="Calibri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19629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5975CF4-3A8F-7FA0-6891-97579B0F3D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EA7933EA-6075-F663-8720-6E8D7E4AC1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8529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-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Sequence-based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CAD12-4BEE-ED77-1F36-0C042E72A479}"/>
              </a:ext>
            </a:extLst>
          </p:cNvPr>
          <p:cNvSpPr txBox="1">
            <a:spLocks/>
          </p:cNvSpPr>
          <p:nvPr/>
        </p:nvSpPr>
        <p:spPr>
          <a:xfrm>
            <a:off x="436419" y="724747"/>
            <a:ext cx="8229600" cy="513265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171450" indent="0">
              <a:buNone/>
              <a:defRPr/>
            </a:pPr>
            <a:r>
              <a:rPr lang="en-US" sz="2400" dirty="0"/>
              <a:t>Use of evolutionary relationship (</a:t>
            </a:r>
            <a:r>
              <a:rPr lang="en-US" sz="2400" dirty="0" err="1"/>
              <a:t>Orthology</a:t>
            </a:r>
            <a:r>
              <a:rPr lang="en-US" sz="2400" dirty="0"/>
              <a:t>)</a:t>
            </a:r>
          </a:p>
          <a:p>
            <a:pPr marL="57150" indent="0"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marL="800100" lvl="1"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Clustering</a:t>
            </a:r>
            <a:r>
              <a:rPr lang="en-US" sz="2400" dirty="0"/>
              <a:t> </a:t>
            </a:r>
          </a:p>
          <a:p>
            <a:pPr marL="571500" lvl="1" indent="0">
              <a:buNone/>
              <a:defRPr/>
            </a:pPr>
            <a:r>
              <a:rPr lang="en-US" sz="1800" dirty="0"/>
              <a:t>	</a:t>
            </a:r>
            <a:r>
              <a:rPr lang="en-US" dirty="0"/>
              <a:t>=&gt; KOG (Eukaryotic) / COG(Prokaryotic)</a:t>
            </a:r>
          </a:p>
          <a:p>
            <a:pPr marL="514350" lvl="1" indent="0">
              <a:buFont typeface="Arial" panose="020B0604020202020204" pitchFamily="34" charset="0"/>
              <a:buNone/>
              <a:defRPr/>
            </a:pPr>
            <a:endParaRPr lang="en-US" sz="2400" dirty="0"/>
          </a:p>
          <a:p>
            <a:pPr marL="800100" lvl="1"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synteny</a:t>
            </a:r>
          </a:p>
          <a:p>
            <a:pPr marL="914400" lvl="2" indent="0">
              <a:buNone/>
              <a:defRPr/>
            </a:pPr>
            <a:r>
              <a:rPr lang="en-US" sz="1800" dirty="0"/>
              <a:t>=&gt; conservation of gene order/organization </a:t>
            </a:r>
            <a:r>
              <a:rPr lang="en-US" sz="1900" dirty="0"/>
              <a:t>across species</a:t>
            </a:r>
          </a:p>
          <a:p>
            <a:pPr marL="914400" lvl="2" indent="0">
              <a:buNone/>
              <a:defRPr/>
            </a:pPr>
            <a:endParaRPr lang="en-US" sz="2400" dirty="0"/>
          </a:p>
          <a:p>
            <a:pPr marL="800100" lvl="1"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phylogeny</a:t>
            </a:r>
          </a:p>
          <a:p>
            <a:pPr marL="571500" lvl="1" indent="0">
              <a:buNone/>
              <a:defRPr/>
            </a:pPr>
            <a:r>
              <a:rPr lang="en-US" dirty="0"/>
              <a:t>	=&gt; Quite complicated at large scale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3E247C7-32FB-1647-0AB1-E8DC7F3BD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64" y="1923954"/>
            <a:ext cx="2095500" cy="9715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D7DC630-45BB-6E12-4C9F-1776DDA07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30" t="65568" r="39111" b="3222"/>
          <a:stretch/>
        </p:blipFill>
        <p:spPr>
          <a:xfrm>
            <a:off x="7204364" y="4832068"/>
            <a:ext cx="1257300" cy="111153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8A52D7E-76DE-AF9C-F212-26F0CB5619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3583"/>
          <a:stretch/>
        </p:blipFill>
        <p:spPr>
          <a:xfrm>
            <a:off x="7204364" y="3243122"/>
            <a:ext cx="3296081" cy="128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7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5975CF4-3A8F-7FA0-6891-97579B0F3D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EA7933EA-6075-F663-8720-6E8D7E4AC1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-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Structure-based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CAD12-4BEE-ED77-1F36-0C042E72A479}"/>
              </a:ext>
            </a:extLst>
          </p:cNvPr>
          <p:cNvSpPr txBox="1">
            <a:spLocks/>
          </p:cNvSpPr>
          <p:nvPr/>
        </p:nvSpPr>
        <p:spPr>
          <a:xfrm>
            <a:off x="533400" y="1434093"/>
            <a:ext cx="11658600" cy="43016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>
                <a:solidFill>
                  <a:schemeClr val="accent2"/>
                </a:solidFill>
              </a:rPr>
              <a:t>Global structure</a:t>
            </a:r>
          </a:p>
          <a:p>
            <a:pPr marL="457200" lvl="1" indent="0">
              <a:buNone/>
            </a:pPr>
            <a:r>
              <a:rPr lang="en-US" dirty="0"/>
              <a:t>	Classification of overall protein folds and domain (e.g. SCOP, CATH, FSSP)</a:t>
            </a:r>
            <a:endParaRPr lang="en-US" sz="1800" dirty="0"/>
          </a:p>
          <a:p>
            <a:pPr lvl="1"/>
            <a:endParaRPr lang="en-US" sz="2200" dirty="0">
              <a:solidFill>
                <a:schemeClr val="accent2"/>
              </a:solidFill>
            </a:endParaRPr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local structure</a:t>
            </a:r>
          </a:p>
          <a:p>
            <a:pPr marL="457200" lvl="1" indent="0">
              <a:buNone/>
            </a:pPr>
            <a:r>
              <a:rPr lang="en-US" dirty="0"/>
              <a:t>	Functionally relevant </a:t>
            </a:r>
            <a:r>
              <a:rPr lang="en-US" i="1" dirty="0"/>
              <a:t>parts of the structure </a:t>
            </a:r>
            <a:r>
              <a:rPr lang="en-US" sz="1800" dirty="0"/>
              <a:t>e.g. clefts, ligand-binding pockets, </a:t>
            </a:r>
            <a:r>
              <a:rPr lang="en-US" sz="1800" b="1" dirty="0"/>
              <a:t>interfaces</a:t>
            </a:r>
            <a:r>
              <a:rPr lang="en-US" sz="1800" dirty="0"/>
              <a:t>, surfaces.</a:t>
            </a:r>
          </a:p>
          <a:p>
            <a:pPr marL="457200" lvl="1" indent="0">
              <a:buNone/>
            </a:pPr>
            <a:r>
              <a:rPr lang="en-US" sz="1800" dirty="0"/>
              <a:t>	It often suggests where ligands, cofactors, or partner proteins may interact (e.g. </a:t>
            </a:r>
            <a:r>
              <a:rPr lang="en-US" sz="1800" dirty="0" err="1"/>
              <a:t>CASTp</a:t>
            </a:r>
            <a:r>
              <a:rPr lang="en-US" sz="1800" dirty="0"/>
              <a:t>, </a:t>
            </a:r>
            <a:r>
              <a:rPr lang="en-US" sz="1800" dirty="0" err="1"/>
              <a:t>fpocket</a:t>
            </a:r>
            <a:r>
              <a:rPr lang="en-US" sz="1800" dirty="0"/>
              <a:t>, </a:t>
            </a:r>
            <a:r>
              <a:rPr lang="en-US" sz="1800" dirty="0" err="1"/>
              <a:t>ProFunc</a:t>
            </a:r>
            <a:r>
              <a:rPr lang="en-US" sz="1800" dirty="0"/>
              <a:t>).</a:t>
            </a:r>
          </a:p>
          <a:p>
            <a:pPr marL="914400" lvl="2" indent="0">
              <a:buNone/>
            </a:pPr>
            <a:endParaRPr lang="en-US" sz="1800" dirty="0"/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active-site residues (atomic level)</a:t>
            </a:r>
          </a:p>
          <a:p>
            <a:pPr marL="914400" lvl="2" indent="0">
              <a:buNone/>
            </a:pPr>
            <a:r>
              <a:rPr lang="en-US" sz="1800" dirty="0"/>
              <a:t>Specific catalytic or ligand-binding residues. Residues are often more conserved than the overall fold (e.g. </a:t>
            </a:r>
            <a:r>
              <a:rPr lang="en-US" sz="1800" dirty="0" err="1"/>
              <a:t>PDBSiteScan</a:t>
            </a:r>
            <a:r>
              <a:rPr lang="en-US" sz="1800" dirty="0"/>
              <a:t>, Catalytic Site Atlas)</a:t>
            </a:r>
          </a:p>
          <a:p>
            <a:pPr marL="914400" lvl="2" indent="0">
              <a:buNone/>
            </a:pPr>
            <a:endParaRPr lang="en-US" sz="1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9A16FFB-2739-B402-6D38-49082A7C2877}"/>
              </a:ext>
            </a:extLst>
          </p:cNvPr>
          <p:cNvSpPr txBox="1"/>
          <p:nvPr/>
        </p:nvSpPr>
        <p:spPr>
          <a:xfrm>
            <a:off x="301337" y="628491"/>
            <a:ext cx="1165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0">
              <a:buNone/>
              <a:defRPr/>
            </a:pPr>
            <a:r>
              <a:rPr lang="en-US" sz="2000"/>
              <a:t>Focuses on the </a:t>
            </a:r>
            <a:r>
              <a:rPr lang="en-US" sz="2000" b="1"/>
              <a:t>3D conformation of a single protein</a:t>
            </a:r>
            <a:r>
              <a:rPr lang="en-US" sz="2000"/>
              <a:t> and similarity to know structures to infer function.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1CC6260-A381-118A-E99F-E1B4B430BC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11119" y="1212592"/>
            <a:ext cx="1929272" cy="186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0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5024B7-E30C-B0F7-FEA2-894F7E5D5F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DD50C490-E8DF-A6F5-B2F2-C0FE96E904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–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Protein-Protein interaction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72B554-E727-7AD4-287B-F1578DD2A1A2}"/>
              </a:ext>
            </a:extLst>
          </p:cNvPr>
          <p:cNvSpPr txBox="1">
            <a:spLocks/>
          </p:cNvSpPr>
          <p:nvPr/>
        </p:nvSpPr>
        <p:spPr>
          <a:xfrm>
            <a:off x="533400" y="1434093"/>
            <a:ext cx="11658600" cy="43016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>
                <a:solidFill>
                  <a:schemeClr val="accent2"/>
                </a:solidFill>
              </a:rPr>
              <a:t>Structure-guided interaction prediction (who interacts)</a:t>
            </a:r>
          </a:p>
          <a:p>
            <a:pPr marL="457200" lvl="1" indent="0">
              <a:buNone/>
            </a:pPr>
            <a:r>
              <a:rPr lang="en-US" dirty="0"/>
              <a:t>	Docking and modeling of protein complexes (e.g. HADDOCK, </a:t>
            </a:r>
            <a:r>
              <a:rPr lang="en-US" dirty="0" err="1"/>
              <a:t>ClusPro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	Identifies potential interaction partners and functional interfaces.</a:t>
            </a:r>
          </a:p>
          <a:p>
            <a:pPr lvl="1"/>
            <a:endParaRPr lang="en-US" sz="2200" dirty="0">
              <a:solidFill>
                <a:schemeClr val="accent2"/>
              </a:solidFill>
            </a:endParaRPr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Pathway and network context (what role)</a:t>
            </a:r>
          </a:p>
          <a:p>
            <a:pPr marL="457200" lvl="1" indent="0">
              <a:buNone/>
            </a:pPr>
            <a:r>
              <a:rPr lang="en-US" dirty="0"/>
              <a:t>	Integration of predicted PPIs into biological networks (e.g. STRING).</a:t>
            </a:r>
          </a:p>
          <a:p>
            <a:pPr marL="457200" lvl="1" indent="0">
              <a:buNone/>
            </a:pPr>
            <a:r>
              <a:rPr lang="en-US" dirty="0"/>
              <a:t>	Guilt-by-association: uncharacterized proteins may inherit function from well-annotated neighbors.</a:t>
            </a:r>
          </a:p>
          <a:p>
            <a:pPr marL="457200" lvl="1" indent="0">
              <a:buNone/>
            </a:pPr>
            <a:r>
              <a:rPr lang="en-US" dirty="0"/>
              <a:t>	Supports placement of proteins into pathways and complexes.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6A36AB9-5513-5B0B-83A0-6BDC202AE17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8256" y="865910"/>
            <a:ext cx="3774606" cy="25630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91C881D-2EDF-170A-E089-AC32F24DA7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060" t="20406" r="21657" b="4276"/>
          <a:stretch/>
        </p:blipFill>
        <p:spPr>
          <a:xfrm>
            <a:off x="9655656" y="4263116"/>
            <a:ext cx="2467022" cy="18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3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5024B7-E30C-B0F7-FEA2-894F7E5D5F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DD50C490-E8DF-A6F5-B2F2-C0FE96E904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Functional annotation is actually kind of complex…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72B554-E727-7AD4-287B-F1578DD2A1A2}"/>
              </a:ext>
            </a:extLst>
          </p:cNvPr>
          <p:cNvSpPr txBox="1">
            <a:spLocks/>
          </p:cNvSpPr>
          <p:nvPr/>
        </p:nvSpPr>
        <p:spPr>
          <a:xfrm>
            <a:off x="0" y="709502"/>
            <a:ext cx="12191999" cy="34382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>
                <a:solidFill>
                  <a:schemeClr val="accent2"/>
                </a:solidFill>
              </a:rPr>
              <a:t>Multidimensional problem: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	A protein can have a molecular function, a cellular role, and be part of a functional complex or pathway</a:t>
            </a:r>
            <a:endParaRPr lang="en-US" sz="2200" dirty="0">
              <a:solidFill>
                <a:schemeClr val="accent2"/>
              </a:solidFill>
            </a:endParaRPr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Descriptive levels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	</a:t>
            </a:r>
            <a:r>
              <a:rPr lang="en-US" dirty="0">
                <a:solidFill>
                  <a:srgbClr val="000000"/>
                </a:solidFill>
              </a:rPr>
              <a:t>Molecular function can be illustrated at multiple levels </a:t>
            </a:r>
            <a:r>
              <a:rPr lang="en-US" sz="1600" dirty="0">
                <a:solidFill>
                  <a:srgbClr val="000000"/>
                </a:solidFill>
              </a:rPr>
              <a:t>e.g. '</a:t>
            </a:r>
            <a:r>
              <a:rPr lang="en-US" sz="1600" b="1" dirty="0">
                <a:solidFill>
                  <a:srgbClr val="000000"/>
                </a:solidFill>
              </a:rPr>
              <a:t>enzyme</a:t>
            </a:r>
            <a:r>
              <a:rPr lang="en-US" sz="1600" dirty="0">
                <a:solidFill>
                  <a:srgbClr val="000000"/>
                </a:solidFill>
              </a:rPr>
              <a:t>' category versus a more specific '</a:t>
            </a:r>
            <a:r>
              <a:rPr lang="en-US" sz="1600" b="1" dirty="0">
                <a:solidFill>
                  <a:srgbClr val="000000"/>
                </a:solidFill>
              </a:rPr>
              <a:t>protease</a:t>
            </a:r>
            <a:r>
              <a:rPr lang="en-US" sz="1600" dirty="0">
                <a:solidFill>
                  <a:srgbClr val="000000"/>
                </a:solidFill>
              </a:rPr>
              <a:t>' assignment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</a:rPr>
              <a:t>Similarities (structural or in sequence) 	      function.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- Similar sequences but different functions (new domain =&gt; new combination =&gt; different function)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- Different sequences may have same function (convergence) : Profiles helpful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- Two proteins may have a similar fold but different functions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</a:rPr>
              <a:t>Looks for conserved domains more reliable than whole sequence ?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How to go from conserved domains to assigning a function to your protein?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56D3432-3305-1616-0394-25108EE6CF00}"/>
              </a:ext>
            </a:extLst>
          </p:cNvPr>
          <p:cNvSpPr txBox="1"/>
          <p:nvPr/>
        </p:nvSpPr>
        <p:spPr>
          <a:xfrm>
            <a:off x="4696691" y="5686833"/>
            <a:ext cx="7495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</a:rPr>
              <a:t>=&gt; Importance is to gather as much information as possible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9A3BB964-25F7-1DE0-B29A-AB2CB50E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083" y="2486762"/>
            <a:ext cx="458971" cy="39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F9CF063-3EB9-C694-7DDD-F0219B8731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Sequence-based methods – WHY?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7F30B67-C5D6-2230-0A0E-DA70A23CD2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96C51C-80CD-E2A0-E350-EC4BB3AFF395}"/>
              </a:ext>
            </a:extLst>
          </p:cNvPr>
          <p:cNvSpPr txBox="1">
            <a:spLocks/>
          </p:cNvSpPr>
          <p:nvPr/>
        </p:nvSpPr>
        <p:spPr>
          <a:xfrm>
            <a:off x="1756064" y="714663"/>
            <a:ext cx="8229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solidFill>
                <a:srgbClr val="9AC63C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The most used (popular)</a:t>
            </a:r>
          </a:p>
          <a:p>
            <a:r>
              <a:rPr lang="en-US" sz="2400" dirty="0">
                <a:solidFill>
                  <a:srgbClr val="000000"/>
                </a:solidFill>
              </a:rPr>
              <a:t>Quick</a:t>
            </a:r>
          </a:p>
          <a:p>
            <a:r>
              <a:rPr lang="en-US" sz="2400" dirty="0">
                <a:solidFill>
                  <a:srgbClr val="000000"/>
                </a:solidFill>
              </a:rPr>
              <a:t>Easy to use</a:t>
            </a:r>
          </a:p>
          <a:p>
            <a:r>
              <a:rPr lang="en-US" sz="2400" dirty="0">
                <a:solidFill>
                  <a:srgbClr val="000000"/>
                </a:solidFill>
              </a:rPr>
              <a:t>Accurate (&gt;70%</a:t>
            </a:r>
            <a:r>
              <a:rPr lang="en-US" sz="2400" dirty="0"/>
              <a:t>) </a:t>
            </a:r>
          </a:p>
          <a:p>
            <a:r>
              <a:rPr lang="en-US" sz="2400" dirty="0"/>
              <a:t>Many resources: even structural domains information</a:t>
            </a:r>
          </a:p>
          <a:p>
            <a:r>
              <a:rPr lang="en-US" sz="2400" dirty="0"/>
              <a:t>Less computationally demanding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B7E7D-9103-D363-4B42-DBF47376E163}"/>
              </a:ext>
            </a:extLst>
          </p:cNvPr>
          <p:cNvSpPr/>
          <p:nvPr/>
        </p:nvSpPr>
        <p:spPr>
          <a:xfrm>
            <a:off x="4279656" y="2959099"/>
            <a:ext cx="577874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Watson JD, Sanderson S,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Ezersky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A,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Savchenko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A, Edwards A,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Orengo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C,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Joachimiak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A,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Laskowski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RA, Thornton JM: Towards fully automated structure-based function prediction in structural genomics: a case study. J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Mol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Biol. 2007, 367: 1511-1522. 10.1016/j.jmb.2007.01.063.</a:t>
            </a:r>
          </a:p>
        </p:txBody>
      </p:sp>
    </p:spTree>
    <p:extLst>
      <p:ext uri="{BB962C8B-B14F-4D97-AF65-F5344CB8AC3E}">
        <p14:creationId xmlns:p14="http://schemas.microsoft.com/office/powerpoint/2010/main" val="323872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F9CF063-3EB9-C694-7DDD-F0219B8731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Sequence-based methods – HOW?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7F30B67-C5D6-2230-0A0E-DA70A23CD2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96C51C-80CD-E2A0-E350-EC4BB3AFF395}"/>
              </a:ext>
            </a:extLst>
          </p:cNvPr>
          <p:cNvSpPr txBox="1">
            <a:spLocks/>
          </p:cNvSpPr>
          <p:nvPr/>
        </p:nvSpPr>
        <p:spPr>
          <a:xfrm>
            <a:off x="1756064" y="714663"/>
            <a:ext cx="8229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solidFill>
                <a:srgbClr val="9AC63C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The most used (popular)</a:t>
            </a:r>
          </a:p>
          <a:p>
            <a:r>
              <a:rPr lang="en-US" sz="2400" dirty="0">
                <a:solidFill>
                  <a:srgbClr val="000000"/>
                </a:solidFill>
              </a:rPr>
              <a:t>Quick</a:t>
            </a:r>
          </a:p>
          <a:p>
            <a:r>
              <a:rPr lang="en-US" sz="2400" dirty="0">
                <a:solidFill>
                  <a:srgbClr val="000000"/>
                </a:solidFill>
              </a:rPr>
              <a:t>Easy to use</a:t>
            </a:r>
          </a:p>
          <a:p>
            <a:r>
              <a:rPr lang="en-US" sz="2400" dirty="0">
                <a:solidFill>
                  <a:srgbClr val="000000"/>
                </a:solidFill>
              </a:rPr>
              <a:t>Accurate (&gt;70%</a:t>
            </a:r>
            <a:r>
              <a:rPr lang="en-US" sz="2400" dirty="0"/>
              <a:t>) </a:t>
            </a:r>
          </a:p>
          <a:p>
            <a:r>
              <a:rPr lang="en-US" sz="2400" dirty="0"/>
              <a:t>Many resources: even structural domains information</a:t>
            </a:r>
          </a:p>
          <a:p>
            <a:r>
              <a:rPr lang="en-US" sz="2400" dirty="0"/>
              <a:t>Less computationally demanding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B7E7D-9103-D363-4B42-DBF47376E163}"/>
              </a:ext>
            </a:extLst>
          </p:cNvPr>
          <p:cNvSpPr/>
          <p:nvPr/>
        </p:nvSpPr>
        <p:spPr>
          <a:xfrm>
            <a:off x="4279656" y="2959099"/>
            <a:ext cx="5778745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Watson JD, Sanderson S,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Ezersky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A,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Savchenko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A, Edwards A,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Orengo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C,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Joachimiak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A,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Laskowski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RA, Thornton JM: Towards fully automated structure-based function prediction in structural genomics: a case study. J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Mol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Biol. 2007, 367: 1511-1522. 10.1016/j.jmb.2007.01.063.</a:t>
            </a:r>
          </a:p>
        </p:txBody>
      </p:sp>
    </p:spTree>
    <p:extLst>
      <p:ext uri="{BB962C8B-B14F-4D97-AF65-F5344CB8AC3E}">
        <p14:creationId xmlns:p14="http://schemas.microsoft.com/office/powerpoint/2010/main" val="1618901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C50173-DEAB-6208-499E-F01F29DB9D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Sequence-based methods – HOW?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EABA62-CBB4-BD9A-560E-AEE2F4927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90D41812-1126-A302-5EC5-9CEEA4D5AA00}"/>
              </a:ext>
            </a:extLst>
          </p:cNvPr>
          <p:cNvSpPr/>
          <p:nvPr/>
        </p:nvSpPr>
        <p:spPr>
          <a:xfrm>
            <a:off x="4522331" y="1115291"/>
            <a:ext cx="2723359" cy="122941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Protein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88632665-F880-2812-6FB8-78E303019371}"/>
              </a:ext>
            </a:extLst>
          </p:cNvPr>
          <p:cNvSpPr/>
          <p:nvPr/>
        </p:nvSpPr>
        <p:spPr>
          <a:xfrm>
            <a:off x="3549186" y="3459023"/>
            <a:ext cx="2219385" cy="1752358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domains</a:t>
            </a:r>
          </a:p>
          <a:p>
            <a:pPr algn="ctr"/>
            <a:r>
              <a:rPr lang="en-US" sz="2800" dirty="0">
                <a:latin typeface="Calibri"/>
              </a:rPr>
              <a:t>(e.g. </a:t>
            </a:r>
            <a:r>
              <a:rPr lang="en-US" sz="2800" dirty="0" err="1">
                <a:latin typeface="Calibri"/>
              </a:rPr>
              <a:t>Pfam</a:t>
            </a:r>
            <a:r>
              <a:rPr lang="en-US" sz="2800" dirty="0">
                <a:latin typeface="Calibri"/>
              </a:rPr>
              <a:t>, </a:t>
            </a:r>
            <a:r>
              <a:rPr lang="en-US" sz="2800" dirty="0" err="1">
                <a:latin typeface="Calibri"/>
              </a:rPr>
              <a:t>SignalP</a:t>
            </a:r>
            <a:r>
              <a:rPr lang="en-US" sz="2800" dirty="0">
                <a:latin typeface="Calibri"/>
              </a:rPr>
              <a:t>)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DA607DB-3EF8-D010-3C69-6B3FBFA9B583}"/>
              </a:ext>
            </a:extLst>
          </p:cNvPr>
          <p:cNvSpPr/>
          <p:nvPr/>
        </p:nvSpPr>
        <p:spPr>
          <a:xfrm>
            <a:off x="5874891" y="3442504"/>
            <a:ext cx="2282353" cy="178902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Pathways</a:t>
            </a:r>
          </a:p>
          <a:p>
            <a:pPr algn="ctr"/>
            <a:r>
              <a:rPr lang="en-US" sz="2800" dirty="0">
                <a:latin typeface="Calibri"/>
              </a:rPr>
              <a:t>(</a:t>
            </a:r>
            <a:r>
              <a:rPr lang="en-US" sz="2800" dirty="0" err="1">
                <a:latin typeface="Calibri"/>
              </a:rPr>
              <a:t>e.g</a:t>
            </a:r>
            <a:r>
              <a:rPr lang="en-US" sz="2800" dirty="0">
                <a:latin typeface="Calibri"/>
              </a:rPr>
              <a:t> KEGG, </a:t>
            </a:r>
            <a:r>
              <a:rPr lang="en-US" sz="2800" dirty="0" err="1">
                <a:latin typeface="Calibri"/>
              </a:rPr>
              <a:t>MetaCyc</a:t>
            </a:r>
            <a:r>
              <a:rPr lang="en-US" sz="2800" dirty="0">
                <a:latin typeface="Calibri"/>
              </a:rPr>
              <a:t>, </a:t>
            </a:r>
            <a:r>
              <a:rPr lang="en-US" sz="2800" dirty="0" err="1">
                <a:latin typeface="Calibri"/>
              </a:rPr>
              <a:t>Reactome</a:t>
            </a:r>
            <a:r>
              <a:rPr lang="en-US" sz="2800" dirty="0">
                <a:latin typeface="Calibri"/>
              </a:rPr>
              <a:t>)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9B1D29E3-9939-9590-BEFB-D8298825D2AC}"/>
              </a:ext>
            </a:extLst>
          </p:cNvPr>
          <p:cNvSpPr/>
          <p:nvPr/>
        </p:nvSpPr>
        <p:spPr>
          <a:xfrm>
            <a:off x="8234205" y="3442504"/>
            <a:ext cx="1993747" cy="178902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Controlled vocabulary</a:t>
            </a:r>
          </a:p>
          <a:p>
            <a:pPr algn="ctr"/>
            <a:r>
              <a:rPr lang="en-US" sz="2800" dirty="0">
                <a:latin typeface="Calibri"/>
              </a:rPr>
              <a:t>(GO)</a:t>
            </a:r>
          </a:p>
        </p:txBody>
      </p:sp>
      <p:cxnSp>
        <p:nvCxnSpPr>
          <p:cNvPr id="8" name="Straight Arrow Connector 9">
            <a:extLst>
              <a:ext uri="{FF2B5EF4-FFF2-40B4-BE49-F238E27FC236}">
                <a16:creationId xmlns:a16="http://schemas.microsoft.com/office/drawing/2014/main" id="{73AA7360-9FA7-1365-5E91-C6396D7949B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4658878" y="2344702"/>
            <a:ext cx="1225132" cy="11143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9" name="Straight Arrow Connector 11">
            <a:extLst>
              <a:ext uri="{FF2B5EF4-FFF2-40B4-BE49-F238E27FC236}">
                <a16:creationId xmlns:a16="http://schemas.microsoft.com/office/drawing/2014/main" id="{E2D20131-E69A-AC0E-E1A6-59AE7E7056B0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5884009" y="2344702"/>
            <a:ext cx="1132059" cy="10978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0" name="Straight Arrow Connector 14">
            <a:extLst>
              <a:ext uri="{FF2B5EF4-FFF2-40B4-BE49-F238E27FC236}">
                <a16:creationId xmlns:a16="http://schemas.microsoft.com/office/drawing/2014/main" id="{03F6E8F3-0D15-B67D-B668-580A122D60F0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5884009" y="2344702"/>
            <a:ext cx="3347069" cy="10978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BDB244-30A3-806A-3266-27220DE4B690}"/>
              </a:ext>
            </a:extLst>
          </p:cNvPr>
          <p:cNvSpPr/>
          <p:nvPr/>
        </p:nvSpPr>
        <p:spPr>
          <a:xfrm>
            <a:off x="1531291" y="3442505"/>
            <a:ext cx="1930133" cy="1752358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Name and function</a:t>
            </a:r>
          </a:p>
        </p:txBody>
      </p:sp>
      <p:cxnSp>
        <p:nvCxnSpPr>
          <p:cNvPr id="12" name="Straight Arrow Connector 20">
            <a:extLst>
              <a:ext uri="{FF2B5EF4-FFF2-40B4-BE49-F238E27FC236}">
                <a16:creationId xmlns:a16="http://schemas.microsoft.com/office/drawing/2014/main" id="{4710A7B2-CCDB-BD93-CE38-7153B6B81EA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2496358" y="2344702"/>
            <a:ext cx="3387652" cy="10978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D5989174-8717-C169-AF6D-39E2ACEB5EB8}"/>
              </a:ext>
            </a:extLst>
          </p:cNvPr>
          <p:cNvSpPr/>
          <p:nvPr/>
        </p:nvSpPr>
        <p:spPr>
          <a:xfrm rot="16200000">
            <a:off x="2389571" y="4484427"/>
            <a:ext cx="301336" cy="201789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DFF4D31-B150-F3AD-03D2-B3549D351F5F}"/>
              </a:ext>
            </a:extLst>
          </p:cNvPr>
          <p:cNvSpPr txBox="1"/>
          <p:nvPr/>
        </p:nvSpPr>
        <p:spPr>
          <a:xfrm>
            <a:off x="2171701" y="5644043"/>
            <a:ext cx="118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BlastP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832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C50173-DEAB-6208-499E-F01F29DB9D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Annotate the sequences functionally using Blast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EABA62-CBB4-BD9A-560E-AEE2F4927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55A5C098-DB9E-4523-9427-28259290A506}"/>
              </a:ext>
            </a:extLst>
          </p:cNvPr>
          <p:cNvSpPr/>
          <p:nvPr/>
        </p:nvSpPr>
        <p:spPr>
          <a:xfrm>
            <a:off x="2510507" y="684865"/>
            <a:ext cx="1666638" cy="71114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/>
              </a:rPr>
              <a:t>Choose database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638EC194-3AB5-32E1-1328-6E0A70F0F6BA}"/>
              </a:ext>
            </a:extLst>
          </p:cNvPr>
          <p:cNvSpPr/>
          <p:nvPr/>
        </p:nvSpPr>
        <p:spPr>
          <a:xfrm>
            <a:off x="758537" y="2587581"/>
            <a:ext cx="3418608" cy="71114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/>
              </a:rPr>
              <a:t>Tabulated output</a:t>
            </a:r>
          </a:p>
          <a:p>
            <a:pPr algn="ctr"/>
            <a:r>
              <a:rPr lang="en-US" sz="2400" dirty="0">
                <a:latin typeface="Calibri"/>
              </a:rPr>
              <a:t>Of blast hit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C9D53033-02A9-B21B-1881-4B0D8509A785}"/>
              </a:ext>
            </a:extLst>
          </p:cNvPr>
          <p:cNvSpPr/>
          <p:nvPr/>
        </p:nvSpPr>
        <p:spPr>
          <a:xfrm>
            <a:off x="758537" y="684865"/>
            <a:ext cx="1209307" cy="71114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Calibri"/>
              </a:rPr>
              <a:t>Fasta</a:t>
            </a:r>
            <a:endParaRPr lang="en-US" sz="2400" dirty="0">
              <a:latin typeface="Calibri"/>
            </a:endParaRPr>
          </a:p>
          <a:p>
            <a:pPr algn="ctr"/>
            <a:r>
              <a:rPr lang="en-US" sz="2400" dirty="0" err="1">
                <a:latin typeface="Calibri"/>
              </a:rPr>
              <a:t>aa</a:t>
            </a:r>
            <a:endParaRPr lang="en-US" sz="2400" dirty="0">
              <a:latin typeface="Calibri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6D22AB-8D0E-C15B-DE39-4D5A50F139BC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1363191" y="1396014"/>
            <a:ext cx="1104650" cy="11915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70EBBF-294A-4FF2-AA64-B07C5DBBB895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2467841" y="1396014"/>
            <a:ext cx="875985" cy="11915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23" name="Straight Arrow Connector 20">
            <a:extLst>
              <a:ext uri="{FF2B5EF4-FFF2-40B4-BE49-F238E27FC236}">
                <a16:creationId xmlns:a16="http://schemas.microsoft.com/office/drawing/2014/main" id="{E5D6FE1B-34BB-8E77-FEC6-82409321208D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2467841" y="3298730"/>
            <a:ext cx="0" cy="521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4" name="TextBox 2">
            <a:extLst>
              <a:ext uri="{FF2B5EF4-FFF2-40B4-BE49-F238E27FC236}">
                <a16:creationId xmlns:a16="http://schemas.microsoft.com/office/drawing/2014/main" id="{6CB2E357-332C-CAFE-6179-003E3C450E2C}"/>
              </a:ext>
            </a:extLst>
          </p:cNvPr>
          <p:cNvSpPr txBox="1"/>
          <p:nvPr/>
        </p:nvSpPr>
        <p:spPr>
          <a:xfrm>
            <a:off x="5439299" y="3429000"/>
            <a:ext cx="4598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/>
              </a:rPr>
              <a:t>How to filter ?</a:t>
            </a:r>
          </a:p>
          <a:p>
            <a:r>
              <a:rPr lang="en-US" sz="2000" dirty="0">
                <a:latin typeface="Calibri"/>
              </a:rPr>
              <a:t>- Minimum e-value </a:t>
            </a:r>
          </a:p>
          <a:p>
            <a:r>
              <a:rPr lang="en-US" sz="2000" dirty="0">
                <a:latin typeface="Calibri"/>
              </a:rPr>
              <a:t>- Best blast hit or prioritized by species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AFF72689-FA34-17C3-4D98-C65558C40D51}"/>
              </a:ext>
            </a:extLst>
          </p:cNvPr>
          <p:cNvSpPr/>
          <p:nvPr/>
        </p:nvSpPr>
        <p:spPr>
          <a:xfrm>
            <a:off x="758537" y="5321275"/>
            <a:ext cx="3418608" cy="781072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/>
              </a:rPr>
              <a:t>Structural annotation with function (GFF)</a:t>
            </a:r>
          </a:p>
        </p:txBody>
      </p:sp>
      <p:graphicFrame>
        <p:nvGraphicFramePr>
          <p:cNvPr id="28" name="Table 9">
            <a:extLst>
              <a:ext uri="{FF2B5EF4-FFF2-40B4-BE49-F238E27FC236}">
                <a16:creationId xmlns:a16="http://schemas.microsoft.com/office/drawing/2014/main" id="{A0D59671-A49E-E355-E8A0-BD736B048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198258"/>
              </p:ext>
            </p:extLst>
          </p:nvPr>
        </p:nvGraphicFramePr>
        <p:xfrm>
          <a:off x="5439299" y="552441"/>
          <a:ext cx="3069702" cy="97599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3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2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Uniprot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Swissprot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20"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/>
                        <a:t>exhaustive</a:t>
                      </a:r>
                      <a:r>
                        <a:rPr lang="sv-SE" sz="1800" dirty="0"/>
                        <a:t> 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/>
                        <a:t>reliable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" name="Straight Arrow Connector 20">
            <a:extLst>
              <a:ext uri="{FF2B5EF4-FFF2-40B4-BE49-F238E27FC236}">
                <a16:creationId xmlns:a16="http://schemas.microsoft.com/office/drawing/2014/main" id="{0895469B-94DE-D7FE-A39E-970412E579C7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>
            <a:off x="2467841" y="4826025"/>
            <a:ext cx="0" cy="495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53" name="Rounded Rectangle 10">
            <a:extLst>
              <a:ext uri="{FF2B5EF4-FFF2-40B4-BE49-F238E27FC236}">
                <a16:creationId xmlns:a16="http://schemas.microsoft.com/office/drawing/2014/main" id="{6E529011-B709-6F16-97FC-7F113FA57ED9}"/>
              </a:ext>
            </a:extLst>
          </p:cNvPr>
          <p:cNvSpPr/>
          <p:nvPr/>
        </p:nvSpPr>
        <p:spPr>
          <a:xfrm>
            <a:off x="1651427" y="1728089"/>
            <a:ext cx="1564315" cy="419486"/>
          </a:xfrm>
          <a:prstGeom prst="roundRect">
            <a:avLst/>
          </a:prstGeom>
          <a:solidFill>
            <a:schemeClr val="accent2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Calibri"/>
              </a:rPr>
              <a:t>BlastP</a:t>
            </a:r>
            <a:endParaRPr lang="en-US" sz="2400" dirty="0">
              <a:latin typeface="Calibri"/>
            </a:endParaRPr>
          </a:p>
        </p:txBody>
      </p:sp>
      <p:sp>
        <p:nvSpPr>
          <p:cNvPr id="74" name="Rounded Rectangle 10">
            <a:extLst>
              <a:ext uri="{FF2B5EF4-FFF2-40B4-BE49-F238E27FC236}">
                <a16:creationId xmlns:a16="http://schemas.microsoft.com/office/drawing/2014/main" id="{B9E03A23-762D-3A96-06E7-2A3372128FB2}"/>
              </a:ext>
            </a:extLst>
          </p:cNvPr>
          <p:cNvSpPr/>
          <p:nvPr/>
        </p:nvSpPr>
        <p:spPr>
          <a:xfrm>
            <a:off x="1166479" y="3663612"/>
            <a:ext cx="2602723" cy="1162413"/>
          </a:xfrm>
          <a:prstGeom prst="roundRect">
            <a:avLst/>
          </a:prstGeom>
          <a:solidFill>
            <a:schemeClr val="accent2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/>
              </a:rPr>
              <a:t>AGAT</a:t>
            </a:r>
          </a:p>
          <a:p>
            <a:pPr algn="ctr"/>
            <a:r>
              <a:rPr lang="en-US" sz="1200" dirty="0">
                <a:latin typeface="Calibri"/>
              </a:rPr>
              <a:t>Extract information from selected hit + Add annotation to structural annotation (GFF)</a:t>
            </a:r>
          </a:p>
        </p:txBody>
      </p:sp>
    </p:spTree>
    <p:extLst>
      <p:ext uri="{BB962C8B-B14F-4D97-AF65-F5344CB8AC3E}">
        <p14:creationId xmlns:p14="http://schemas.microsoft.com/office/powerpoint/2010/main" val="73469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C50173-DEAB-6208-499E-F01F29DB9D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Annotate the sequences functionally using Blast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EABA62-CBB4-BD9A-560E-AEE2F4927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2" descr="Screen Shot 2016-04-25 at 12.35.34.png">
            <a:extLst>
              <a:ext uri="{FF2B5EF4-FFF2-40B4-BE49-F238E27FC236}">
                <a16:creationId xmlns:a16="http://schemas.microsoft.com/office/drawing/2014/main" id="{BD47B793-3B07-659F-FF92-983B219E3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28943"/>
            <a:ext cx="91440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185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C50173-DEAB-6208-499E-F01F29DB9D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Annotate the sequences functionally using Blast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EABA62-CBB4-BD9A-560E-AEE2F4927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C50173-DEAB-6208-499E-F01F29DB9D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Annotate the sequences functionally using Blast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EABA62-CBB4-BD9A-560E-AEE2F4927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Platshållare för innehåll 2">
            <a:extLst>
              <a:ext uri="{FF2B5EF4-FFF2-40B4-BE49-F238E27FC236}">
                <a16:creationId xmlns:a16="http://schemas.microsoft.com/office/drawing/2014/main" id="{FBCAF05A-77AB-BA8E-CC25-19D674593FD3}"/>
              </a:ext>
            </a:extLst>
          </p:cNvPr>
          <p:cNvSpPr txBox="1">
            <a:spLocks/>
          </p:cNvSpPr>
          <p:nvPr/>
        </p:nvSpPr>
        <p:spPr>
          <a:xfrm>
            <a:off x="872837" y="685801"/>
            <a:ext cx="10432472" cy="4525963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n-US" sz="2800" b="1" dirty="0">
                <a:solidFill>
                  <a:schemeClr val="accent2"/>
                </a:solidFill>
              </a:rPr>
              <a:t>Strengths</a:t>
            </a:r>
            <a:r>
              <a:rPr lang="en-US" sz="2800" b="1" dirty="0"/>
              <a:t> </a:t>
            </a:r>
            <a:endParaRPr lang="en-US" sz="28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Fairly fast and easy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Allow gene naming (e.g. plip)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Overall function (e.g. </a:t>
            </a:r>
            <a:r>
              <a:rPr lang="en-US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Phosphatidylglycerophosphatase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 and protein-tyrosine phosphatase 1)</a:t>
            </a:r>
          </a:p>
          <a:p>
            <a:pPr>
              <a:defRPr/>
            </a:pPr>
            <a:endParaRPr lang="en-US" b="1" dirty="0"/>
          </a:p>
          <a:p>
            <a:pPr marL="0" indent="0">
              <a:buFont typeface="Arial"/>
              <a:buNone/>
              <a:defRPr/>
            </a:pPr>
            <a:r>
              <a:rPr lang="en-US" sz="2800" b="1" dirty="0">
                <a:solidFill>
                  <a:schemeClr val="accent2"/>
                </a:solidFill>
              </a:rPr>
              <a:t>Limits</a:t>
            </a:r>
          </a:p>
          <a:p>
            <a:pPr>
              <a:buFont typeface="Arial"/>
              <a:buChar char="•"/>
              <a:defRPr/>
            </a:pPr>
            <a:r>
              <a:rPr lang="en-US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Orthology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 not certain - best blast-hit does not equal orthologous!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Bias due to well conserved domains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Best Hit ( use as template) is not necessary the best annotated sequence to use =&gt; Could apply a prioritization rule (Human first, then mouse, </a:t>
            </a:r>
            <a:r>
              <a:rPr lang="en-US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etc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MS PGothic" charset="0"/>
              </a:rPr>
              <a:t>).</a:t>
            </a:r>
            <a:endParaRPr lang="en-US" sz="28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>
              <a:buFont typeface="Arial"/>
              <a:buChar char="•"/>
              <a:defRPr/>
            </a:pPr>
            <a:endParaRPr lang="en-US" sz="28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44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C50173-DEAB-6208-499E-F01F29DB9D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Sequence-based methods – HOW?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EABA62-CBB4-BD9A-560E-AEE2F4927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90D41812-1126-A302-5EC5-9CEEA4D5AA00}"/>
              </a:ext>
            </a:extLst>
          </p:cNvPr>
          <p:cNvSpPr/>
          <p:nvPr/>
        </p:nvSpPr>
        <p:spPr>
          <a:xfrm>
            <a:off x="4522331" y="1115291"/>
            <a:ext cx="2723359" cy="122941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Protein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88632665-F880-2812-6FB8-78E303019371}"/>
              </a:ext>
            </a:extLst>
          </p:cNvPr>
          <p:cNvSpPr/>
          <p:nvPr/>
        </p:nvSpPr>
        <p:spPr>
          <a:xfrm>
            <a:off x="3549186" y="3459023"/>
            <a:ext cx="2219385" cy="1752358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domains</a:t>
            </a:r>
          </a:p>
          <a:p>
            <a:pPr algn="ctr"/>
            <a:r>
              <a:rPr lang="en-US" sz="2800" dirty="0">
                <a:latin typeface="Calibri"/>
              </a:rPr>
              <a:t>(e.g. </a:t>
            </a:r>
            <a:r>
              <a:rPr lang="en-US" sz="2800" dirty="0" err="1">
                <a:latin typeface="Calibri"/>
              </a:rPr>
              <a:t>Pfam</a:t>
            </a:r>
            <a:r>
              <a:rPr lang="en-US" sz="2800" dirty="0">
                <a:latin typeface="Calibri"/>
              </a:rPr>
              <a:t>, </a:t>
            </a:r>
            <a:r>
              <a:rPr lang="en-US" sz="2800" dirty="0" err="1">
                <a:latin typeface="Calibri"/>
              </a:rPr>
              <a:t>SignalP</a:t>
            </a:r>
            <a:r>
              <a:rPr lang="en-US" sz="2800" dirty="0">
                <a:latin typeface="Calibri"/>
              </a:rPr>
              <a:t>)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DA607DB-3EF8-D010-3C69-6B3FBFA9B583}"/>
              </a:ext>
            </a:extLst>
          </p:cNvPr>
          <p:cNvSpPr/>
          <p:nvPr/>
        </p:nvSpPr>
        <p:spPr>
          <a:xfrm>
            <a:off x="5874891" y="3442504"/>
            <a:ext cx="2282353" cy="178902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Pathways</a:t>
            </a:r>
          </a:p>
          <a:p>
            <a:pPr algn="ctr"/>
            <a:r>
              <a:rPr lang="en-US" sz="2800" dirty="0">
                <a:latin typeface="Calibri"/>
              </a:rPr>
              <a:t>(</a:t>
            </a:r>
            <a:r>
              <a:rPr lang="en-US" sz="2800" dirty="0" err="1">
                <a:latin typeface="Calibri"/>
              </a:rPr>
              <a:t>e.g</a:t>
            </a:r>
            <a:r>
              <a:rPr lang="en-US" sz="2800" dirty="0">
                <a:latin typeface="Calibri"/>
              </a:rPr>
              <a:t> KEGG, </a:t>
            </a:r>
            <a:r>
              <a:rPr lang="en-US" sz="2800" dirty="0" err="1">
                <a:latin typeface="Calibri"/>
              </a:rPr>
              <a:t>MetaCyc</a:t>
            </a:r>
            <a:r>
              <a:rPr lang="en-US" sz="2800" dirty="0">
                <a:latin typeface="Calibri"/>
              </a:rPr>
              <a:t>, </a:t>
            </a:r>
            <a:r>
              <a:rPr lang="en-US" sz="2800" dirty="0" err="1">
                <a:latin typeface="Calibri"/>
              </a:rPr>
              <a:t>Reactome</a:t>
            </a:r>
            <a:r>
              <a:rPr lang="en-US" sz="2800" dirty="0">
                <a:latin typeface="Calibri"/>
              </a:rPr>
              <a:t>)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9B1D29E3-9939-9590-BEFB-D8298825D2AC}"/>
              </a:ext>
            </a:extLst>
          </p:cNvPr>
          <p:cNvSpPr/>
          <p:nvPr/>
        </p:nvSpPr>
        <p:spPr>
          <a:xfrm>
            <a:off x="8234205" y="3442504"/>
            <a:ext cx="1993747" cy="178902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Controlled vocabulary</a:t>
            </a:r>
          </a:p>
          <a:p>
            <a:pPr algn="ctr"/>
            <a:r>
              <a:rPr lang="en-US" sz="2800" dirty="0">
                <a:latin typeface="Calibri"/>
              </a:rPr>
              <a:t>(GO)</a:t>
            </a:r>
          </a:p>
        </p:txBody>
      </p:sp>
      <p:cxnSp>
        <p:nvCxnSpPr>
          <p:cNvPr id="8" name="Straight Arrow Connector 9">
            <a:extLst>
              <a:ext uri="{FF2B5EF4-FFF2-40B4-BE49-F238E27FC236}">
                <a16:creationId xmlns:a16="http://schemas.microsoft.com/office/drawing/2014/main" id="{73AA7360-9FA7-1365-5E91-C6396D7949B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4658878" y="2344702"/>
            <a:ext cx="1225132" cy="11143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9" name="Straight Arrow Connector 11">
            <a:extLst>
              <a:ext uri="{FF2B5EF4-FFF2-40B4-BE49-F238E27FC236}">
                <a16:creationId xmlns:a16="http://schemas.microsoft.com/office/drawing/2014/main" id="{E2D20131-E69A-AC0E-E1A6-59AE7E7056B0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5884009" y="2344702"/>
            <a:ext cx="1132059" cy="10978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0" name="Straight Arrow Connector 14">
            <a:extLst>
              <a:ext uri="{FF2B5EF4-FFF2-40B4-BE49-F238E27FC236}">
                <a16:creationId xmlns:a16="http://schemas.microsoft.com/office/drawing/2014/main" id="{03F6E8F3-0D15-B67D-B668-580A122D60F0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5884009" y="2344702"/>
            <a:ext cx="3347069" cy="10978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BDB244-30A3-806A-3266-27220DE4B690}"/>
              </a:ext>
            </a:extLst>
          </p:cNvPr>
          <p:cNvSpPr/>
          <p:nvPr/>
        </p:nvSpPr>
        <p:spPr>
          <a:xfrm>
            <a:off x="1531291" y="3442505"/>
            <a:ext cx="1930133" cy="1752358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Name and function</a:t>
            </a:r>
          </a:p>
        </p:txBody>
      </p:sp>
      <p:cxnSp>
        <p:nvCxnSpPr>
          <p:cNvPr id="12" name="Straight Arrow Connector 20">
            <a:extLst>
              <a:ext uri="{FF2B5EF4-FFF2-40B4-BE49-F238E27FC236}">
                <a16:creationId xmlns:a16="http://schemas.microsoft.com/office/drawing/2014/main" id="{4710A7B2-CCDB-BD93-CE38-7153B6B81EA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2496358" y="2344702"/>
            <a:ext cx="3387652" cy="10978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D5989174-8717-C169-AF6D-39E2ACEB5EB8}"/>
              </a:ext>
            </a:extLst>
          </p:cNvPr>
          <p:cNvSpPr/>
          <p:nvPr/>
        </p:nvSpPr>
        <p:spPr>
          <a:xfrm rot="16200000">
            <a:off x="2389571" y="4484427"/>
            <a:ext cx="301336" cy="201789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DFF4D31-B150-F3AD-03D2-B3549D351F5F}"/>
              </a:ext>
            </a:extLst>
          </p:cNvPr>
          <p:cNvSpPr txBox="1"/>
          <p:nvPr/>
        </p:nvSpPr>
        <p:spPr>
          <a:xfrm>
            <a:off x="2171701" y="5644043"/>
            <a:ext cx="118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BlastP</a:t>
            </a:r>
            <a:endParaRPr lang="en-GB" dirty="0"/>
          </a:p>
        </p:txBody>
      </p:sp>
      <p:sp>
        <p:nvSpPr>
          <p:cNvPr id="15" name="Accolade ouvrante 14">
            <a:extLst>
              <a:ext uri="{FF2B5EF4-FFF2-40B4-BE49-F238E27FC236}">
                <a16:creationId xmlns:a16="http://schemas.microsoft.com/office/drawing/2014/main" id="{6B291C7D-2723-062A-A290-5A00DDEE3D16}"/>
              </a:ext>
            </a:extLst>
          </p:cNvPr>
          <p:cNvSpPr/>
          <p:nvPr/>
        </p:nvSpPr>
        <p:spPr>
          <a:xfrm rot="16200000">
            <a:off x="6833386" y="2159252"/>
            <a:ext cx="301336" cy="666824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CAD2925-7393-B201-16FC-340773B3BE98}"/>
              </a:ext>
            </a:extLst>
          </p:cNvPr>
          <p:cNvSpPr txBox="1"/>
          <p:nvPr/>
        </p:nvSpPr>
        <p:spPr>
          <a:xfrm>
            <a:off x="6653407" y="5644043"/>
            <a:ext cx="1580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Interproscan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458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2903C50-6CD9-5D5E-411E-899EB64DB4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Databases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3281460-FB65-2F08-12C7-C0073856B1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605C80-9E02-7814-04C4-58D79A6ED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13855"/>
              </p:ext>
            </p:extLst>
          </p:nvPr>
        </p:nvGraphicFramePr>
        <p:xfrm>
          <a:off x="2114228" y="741849"/>
          <a:ext cx="8712970" cy="474317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1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Database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Information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Comment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292">
                <a:tc>
                  <a:txBody>
                    <a:bodyPr/>
                    <a:lstStyle/>
                    <a:p>
                      <a:r>
                        <a:rPr lang="en-US" sz="1600" dirty="0"/>
                        <a:t>KEGG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baseline="0" dirty="0"/>
                        <a:t>Pathway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Kyoto Encyclopedia of Genes and Genomes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MetaCyc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strike="noStrike" kern="1200" baseline="0" dirty="0"/>
                        <a:t>Pathway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baseline="0" dirty="0"/>
                        <a:t>Curated database of experimentally elucidated metabolic pathways from all domains of life </a:t>
                      </a:r>
                      <a:r>
                        <a:rPr lang="en-US" sz="1600" dirty="0"/>
                        <a:t>(NIH)</a:t>
                      </a:r>
                      <a:endParaRPr lang="en-US" sz="1600" b="0" i="0" u="none" strike="noStrike" kern="1200" baseline="0" dirty="0">
                        <a:solidFill>
                          <a:schemeClr val="dk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32">
                <a:tc>
                  <a:txBody>
                    <a:bodyPr/>
                    <a:lstStyle/>
                    <a:p>
                      <a:r>
                        <a:rPr lang="en-US" sz="1600" dirty="0" err="1"/>
                        <a:t>Reactome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strike="noStrike" kern="1200" baseline="0" dirty="0"/>
                        <a:t>Pathway</a:t>
                      </a:r>
                      <a:endParaRPr lang="en-US" sz="1600" b="1" u="sng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Curated and peer reviewed pathway database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402">
                <a:tc>
                  <a:txBody>
                    <a:bodyPr/>
                    <a:lstStyle/>
                    <a:p>
                      <a:r>
                        <a:rPr lang="en-US" sz="1600" dirty="0"/>
                        <a:t>GO</a:t>
                      </a:r>
                      <a:endParaRPr lang="en-US" sz="16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Gene Ontology</a:t>
                      </a:r>
                      <a:endParaRPr lang="en-US" sz="16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Three structured, controlled vocabularies (ontologies) : biological processes, cellular components and molecular functions </a:t>
                      </a:r>
                      <a:endParaRPr lang="en-US" sz="1600" b="1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Pfam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Protein families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Multiple sequence alignments and hidden Markov models 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2406"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Interpro</a:t>
                      </a:r>
                      <a:endParaRPr lang="en-US" sz="16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</a:rPr>
                        <a:t>Protein families, domains and functional sites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effectLst/>
                        </a:rPr>
                        <a:t>Run</a:t>
                      </a:r>
                      <a:r>
                        <a:rPr lang="en-US" sz="1600" kern="1200" baseline="0" dirty="0">
                          <a:effectLst/>
                        </a:rPr>
                        <a:t> </a:t>
                      </a:r>
                      <a:r>
                        <a:rPr lang="en-US" sz="1600" kern="1200" dirty="0">
                          <a:effectLst/>
                        </a:rPr>
                        <a:t>separate search applications,</a:t>
                      </a:r>
                      <a:r>
                        <a:rPr lang="en-US" sz="1600" kern="1200" baseline="0" dirty="0">
                          <a:effectLst/>
                        </a:rPr>
                        <a:t> and create a signature to search against </a:t>
                      </a:r>
                      <a:r>
                        <a:rPr lang="en-US" sz="1600" kern="1200" baseline="0" dirty="0" err="1">
                          <a:effectLst/>
                        </a:rPr>
                        <a:t>Interpro</a:t>
                      </a:r>
                      <a:r>
                        <a:rPr lang="en-US" sz="1600" kern="1200" baseline="0" dirty="0">
                          <a:effectLst/>
                        </a:rPr>
                        <a:t>.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r>
                        <a:rPr lang="en-US" sz="1600" dirty="0"/>
                        <a:t>Have</a:t>
                      </a:r>
                      <a:r>
                        <a:rPr lang="en-US" sz="1600" baseline="0" dirty="0"/>
                        <a:t> a look on the </a:t>
                      </a:r>
                      <a:r>
                        <a:rPr lang="en-US" sz="1600" baseline="0" dirty="0" err="1"/>
                        <a:t>Interpro</a:t>
                      </a:r>
                      <a:r>
                        <a:rPr lang="en-US" sz="1600" baseline="0" dirty="0"/>
                        <a:t> web page: All the database they search into are listed. It gives a nice overview of different types of databases available.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874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9D87858-1E2A-A062-94F9-3B42EA677E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 Ontology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191547-4A0C-9F6C-9F1D-7026D26459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F2650AC-A75D-D160-C4E7-20F66294649C}"/>
              </a:ext>
            </a:extLst>
          </p:cNvPr>
          <p:cNvSpPr txBox="1"/>
          <p:nvPr/>
        </p:nvSpPr>
        <p:spPr>
          <a:xfrm>
            <a:off x="9080356" y="5728911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http://</a:t>
            </a:r>
            <a:r>
              <a:rPr lang="en-US" dirty="0" err="1">
                <a:latin typeface="Calibri"/>
              </a:rPr>
              <a:t>www.geneontology.org</a:t>
            </a:r>
            <a:r>
              <a:rPr lang="en-US" dirty="0">
                <a:latin typeface="Calibri"/>
              </a:rPr>
              <a:t>/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1291FA3-8B09-ACDD-4BD1-D2BFCF775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29" y="505879"/>
            <a:ext cx="7105461" cy="522303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AFA0019-6B17-D819-DE36-65DEC1947C7E}"/>
              </a:ext>
            </a:extLst>
          </p:cNvPr>
          <p:cNvSpPr txBox="1"/>
          <p:nvPr/>
        </p:nvSpPr>
        <p:spPr>
          <a:xfrm>
            <a:off x="7619977" y="2278608"/>
            <a:ext cx="43758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ea typeface="MS PGothic" charset="0"/>
              </a:rPr>
              <a:t>Gene Ontology (GO) </a:t>
            </a:r>
            <a:r>
              <a:rPr lang="en-US" dirty="0">
                <a:latin typeface="+mj-lt"/>
                <a:ea typeface="MS PGothic" charset="0"/>
              </a:rPr>
              <a:t>is a major bioinformatics initiative that uses a </a:t>
            </a:r>
            <a:r>
              <a:rPr lang="en-US" b="1" dirty="0">
                <a:latin typeface="+mj-lt"/>
                <a:ea typeface="MS PGothic" charset="0"/>
              </a:rPr>
              <a:t>controlled vocabulary </a:t>
            </a:r>
            <a:r>
              <a:rPr lang="en-US" dirty="0">
                <a:latin typeface="+mj-lt"/>
                <a:ea typeface="MS PGothic" charset="0"/>
              </a:rPr>
              <a:t>(&gt; </a:t>
            </a:r>
            <a:r>
              <a:rPr lang="en-US" sz="1800" dirty="0">
                <a:latin typeface="+mj-lt"/>
              </a:rPr>
              <a:t>60 000 terms</a:t>
            </a:r>
            <a:r>
              <a:rPr lang="en-US" dirty="0">
                <a:latin typeface="+mj-lt"/>
                <a:ea typeface="MS PGothic" charset="0"/>
              </a:rPr>
              <a:t>) to standardize the representation of gene and gene product attributes across all species.</a:t>
            </a:r>
          </a:p>
        </p:txBody>
      </p:sp>
    </p:spTree>
    <p:extLst>
      <p:ext uri="{BB962C8B-B14F-4D97-AF65-F5344CB8AC3E}">
        <p14:creationId xmlns:p14="http://schemas.microsoft.com/office/powerpoint/2010/main" val="2140007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9D87858-1E2A-A062-94F9-3B42EA677E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 Ontology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191547-4A0C-9F6C-9F1D-7026D26459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Content Placeholder 3" descr="Screen Shot 2014-04-01 at 8.51.57 AM.png">
            <a:extLst>
              <a:ext uri="{FF2B5EF4-FFF2-40B4-BE49-F238E27FC236}">
                <a16:creationId xmlns:a16="http://schemas.microsoft.com/office/drawing/2014/main" id="{F9542488-6AF5-C265-AF9F-22177477B6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956" r="33147" b="6838"/>
          <a:stretch/>
        </p:blipFill>
        <p:spPr>
          <a:xfrm>
            <a:off x="1827855" y="1572470"/>
            <a:ext cx="4666464" cy="4237449"/>
          </a:xfrm>
          <a:prstGeom prst="rect">
            <a:avLst/>
          </a:prstGeom>
          <a:noFill/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0E591179-9E0F-55CF-CA4B-9DD1847887A5}"/>
              </a:ext>
            </a:extLst>
          </p:cNvPr>
          <p:cNvSpPr txBox="1"/>
          <p:nvPr/>
        </p:nvSpPr>
        <p:spPr>
          <a:xfrm rot="10800000" flipV="1">
            <a:off x="1309256" y="1048082"/>
            <a:ext cx="8655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Gene Ontology (GO) </a:t>
            </a:r>
            <a:r>
              <a:rPr lang="en-US" sz="2000" dirty="0"/>
              <a:t>organizes function into three complementary aspects: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34A04EB-0CE9-6EF7-51D2-80258E018D6A}"/>
              </a:ext>
            </a:extLst>
          </p:cNvPr>
          <p:cNvSpPr/>
          <p:nvPr/>
        </p:nvSpPr>
        <p:spPr>
          <a:xfrm>
            <a:off x="6299480" y="2221137"/>
            <a:ext cx="543327" cy="12316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libri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DB046D9-2F68-9DA2-5517-BF4779954E4B}"/>
              </a:ext>
            </a:extLst>
          </p:cNvPr>
          <p:cNvSpPr/>
          <p:nvPr/>
        </p:nvSpPr>
        <p:spPr>
          <a:xfrm>
            <a:off x="6299480" y="3914589"/>
            <a:ext cx="560177" cy="105685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libri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8384745-85D6-C464-B972-AA6801A23DA1}"/>
              </a:ext>
            </a:extLst>
          </p:cNvPr>
          <p:cNvSpPr/>
          <p:nvPr/>
        </p:nvSpPr>
        <p:spPr>
          <a:xfrm>
            <a:off x="6299480" y="5261653"/>
            <a:ext cx="430927" cy="7073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A127EF-1F88-6F04-4AAA-33F458634443}"/>
              </a:ext>
            </a:extLst>
          </p:cNvPr>
          <p:cNvSpPr txBox="1"/>
          <p:nvPr/>
        </p:nvSpPr>
        <p:spPr>
          <a:xfrm>
            <a:off x="7036729" y="2298296"/>
            <a:ext cx="30700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pathways and larger processes </a:t>
            </a:r>
          </a:p>
          <a:p>
            <a:r>
              <a:rPr lang="en-US" dirty="0">
                <a:latin typeface="Calibri"/>
              </a:rPr>
              <a:t>made up of the activities </a:t>
            </a:r>
          </a:p>
          <a:p>
            <a:r>
              <a:rPr lang="en-US" dirty="0">
                <a:latin typeface="Calibri"/>
              </a:rPr>
              <a:t>of multiple gene products.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B650E-C377-1A75-300A-52809B3912B3}"/>
              </a:ext>
            </a:extLst>
          </p:cNvPr>
          <p:cNvSpPr txBox="1"/>
          <p:nvPr/>
        </p:nvSpPr>
        <p:spPr>
          <a:xfrm>
            <a:off x="7036729" y="3910889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molecular activities </a:t>
            </a:r>
          </a:p>
          <a:p>
            <a:r>
              <a:rPr lang="en-US" dirty="0">
                <a:latin typeface="Calibri"/>
              </a:rPr>
              <a:t>of gene 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C4B20-95D4-37F0-4439-8B396F440F63}"/>
              </a:ext>
            </a:extLst>
          </p:cNvPr>
          <p:cNvSpPr txBox="1"/>
          <p:nvPr/>
        </p:nvSpPr>
        <p:spPr>
          <a:xfrm>
            <a:off x="6964255" y="5373414"/>
            <a:ext cx="3142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where gene products are active</a:t>
            </a:r>
          </a:p>
        </p:txBody>
      </p:sp>
    </p:spTree>
    <p:extLst>
      <p:ext uri="{BB962C8B-B14F-4D97-AF65-F5344CB8AC3E}">
        <p14:creationId xmlns:p14="http://schemas.microsoft.com/office/powerpoint/2010/main" val="2394423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8E4119-8470-37FF-9F2F-E9E6BBE350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Tools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90456A-ECB5-DB71-AECF-F950B902B2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F5F50F-4A57-C8A3-DAA0-17B5B3706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26395"/>
              </p:ext>
            </p:extLst>
          </p:nvPr>
        </p:nvGraphicFramePr>
        <p:xfrm>
          <a:off x="327676" y="766618"/>
          <a:ext cx="11536648" cy="5019164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09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2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97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Tool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Approach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Comment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387">
                <a:tc>
                  <a:txBody>
                    <a:bodyPr/>
                    <a:lstStyle/>
                    <a:p>
                      <a:r>
                        <a:rPr lang="en-US" sz="1400" dirty="0" err="1"/>
                        <a:t>Trinotate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baseline="0" dirty="0"/>
                        <a:t>Best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 </a:t>
                      </a:r>
                      <a:r>
                        <a:rPr lang="en-US" sz="1400" kern="1200" dirty="0"/>
                        <a:t>+ protein domain identification (HMMER/PFAM)</a:t>
                      </a:r>
                      <a:r>
                        <a:rPr lang="en-US" sz="1400" kern="1200" baseline="0" dirty="0"/>
                        <a:t> +</a:t>
                      </a:r>
                      <a:r>
                        <a:rPr lang="en-US" sz="1400" kern="1200" dirty="0"/>
                        <a:t> protein signal peptide and </a:t>
                      </a:r>
                      <a:r>
                        <a:rPr lang="en-US" sz="1400" kern="1200" dirty="0" err="1"/>
                        <a:t>transmembrane</a:t>
                      </a:r>
                      <a:r>
                        <a:rPr lang="en-US" sz="1400" kern="1200" dirty="0"/>
                        <a:t> domain prediction (</a:t>
                      </a:r>
                      <a:r>
                        <a:rPr lang="en-US" sz="1400" kern="1200" dirty="0" err="1"/>
                        <a:t>signalP</a:t>
                      </a:r>
                      <a:r>
                        <a:rPr lang="en-US" sz="1400" kern="1200" dirty="0"/>
                        <a:t>/</a:t>
                      </a:r>
                      <a:r>
                        <a:rPr lang="en-US" sz="1400" kern="1200" dirty="0" err="1"/>
                        <a:t>tmHMM</a:t>
                      </a:r>
                      <a:r>
                        <a:rPr lang="en-US" sz="1400" kern="1200" dirty="0"/>
                        <a:t>), and leveraging various annotation databases (</a:t>
                      </a:r>
                      <a:r>
                        <a:rPr lang="en-US" sz="1400" kern="1200" dirty="0" err="1"/>
                        <a:t>eggNOG</a:t>
                      </a:r>
                      <a:r>
                        <a:rPr lang="en-US" sz="1400" kern="1200" dirty="0"/>
                        <a:t>/GO/</a:t>
                      </a:r>
                      <a:r>
                        <a:rPr lang="en-US" sz="1400" kern="1200" dirty="0" err="1"/>
                        <a:t>Kegg</a:t>
                      </a:r>
                      <a:r>
                        <a:rPr lang="en-US" sz="1400" kern="1200" dirty="0"/>
                        <a:t> databases).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Partially automated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21">
                <a:tc>
                  <a:txBody>
                    <a:bodyPr/>
                    <a:lstStyle/>
                    <a:p>
                      <a:r>
                        <a:rPr lang="en-US" sz="1400" dirty="0" err="1"/>
                        <a:t>Annocript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strike="noStrike" kern="1200" baseline="0" dirty="0"/>
                        <a:t>Best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strike="noStrike" kern="1200" baseline="0" dirty="0"/>
                        <a:t>Collects the best-hit and related annotations (proteins,</a:t>
                      </a:r>
                    </a:p>
                    <a:p>
                      <a:r>
                        <a:rPr lang="en-US" sz="1400" u="none" strike="noStrike" kern="1200" baseline="0" dirty="0"/>
                        <a:t>domains, GO terms, Enzymes, pathways, short)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387">
                <a:tc>
                  <a:txBody>
                    <a:bodyPr/>
                    <a:lstStyle/>
                    <a:p>
                      <a:r>
                        <a:rPr lang="en-US" sz="1400" dirty="0"/>
                        <a:t>Annot8r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strike="noStrike" kern="1200" baseline="0" dirty="0"/>
                        <a:t>Best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</a:t>
                      </a:r>
                      <a:r>
                        <a:rPr lang="en-US" sz="1400" u="sng" strike="noStrike" kern="1200" baseline="0" dirty="0"/>
                        <a:t>s</a:t>
                      </a:r>
                      <a:endParaRPr lang="en-US" sz="1400" b="1" u="sng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A tool for Gene Ontology, KEGG biochemical pathways and Enzyme Commission EC number annotation of nucleotide and peptide sequences.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07">
                <a:tc>
                  <a:txBody>
                    <a:bodyPr/>
                    <a:lstStyle/>
                    <a:p>
                      <a:r>
                        <a:rPr lang="en-US" sz="1400" dirty="0"/>
                        <a:t>Sma3s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Best blast hit +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Best reciprocal blast hit + </a:t>
                      </a:r>
                      <a:r>
                        <a:rPr lang="en-US" sz="1400" dirty="0" err="1"/>
                        <a:t>clusterisation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 annotation levels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07">
                <a:tc>
                  <a:txBody>
                    <a:bodyPr/>
                    <a:lstStyle/>
                    <a:p>
                      <a:r>
                        <a:rPr lang="en-US" sz="1400" dirty="0" err="1"/>
                        <a:t>afterParty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effectLst/>
                        </a:rPr>
                        <a:t>BLAST, </a:t>
                      </a:r>
                      <a:r>
                        <a:rPr lang="en-US" sz="1400" kern="1200" dirty="0" err="1">
                          <a:effectLst/>
                        </a:rPr>
                        <a:t>InterProScan</a:t>
                      </a:r>
                      <a:r>
                        <a:rPr lang="en-US" sz="1400" kern="1200" dirty="0">
                          <a:effectLst/>
                        </a:rPr>
                        <a:t> 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web application 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976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Interproscan</a:t>
                      </a:r>
                      <a:endParaRPr lang="en-US" sz="14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effectLst/>
                        </a:rPr>
                        <a:t>Run</a:t>
                      </a:r>
                      <a:r>
                        <a:rPr lang="en-US" sz="1400" kern="1200" baseline="0" dirty="0">
                          <a:effectLst/>
                        </a:rPr>
                        <a:t> </a:t>
                      </a:r>
                      <a:r>
                        <a:rPr lang="en-US" sz="1400" kern="1200" dirty="0">
                          <a:effectLst/>
                        </a:rPr>
                        <a:t>separate search applications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effectLst/>
                        </a:rPr>
                        <a:t>HMMs, fingerprints, patterns =&gt;</a:t>
                      </a:r>
                      <a:r>
                        <a:rPr lang="en-US" sz="1400" kern="1200" baseline="0" dirty="0">
                          <a:effectLst/>
                        </a:rPr>
                        <a:t> </a:t>
                      </a:r>
                      <a:r>
                        <a:rPr lang="en-US" sz="1400" kern="1200" dirty="0" err="1">
                          <a:effectLst/>
                        </a:rPr>
                        <a:t>InterPro</a:t>
                      </a:r>
                      <a:r>
                        <a:rPr lang="en-US" sz="1400" kern="1200" dirty="0">
                          <a:effectLst/>
                        </a:rPr>
                        <a:t> </a:t>
                      </a:r>
                      <a:endParaRPr lang="en-US" sz="14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effectLst/>
                        </a:rPr>
                        <a:t>Created to unite secondary databases </a:t>
                      </a:r>
                      <a:endParaRPr lang="en-US" sz="1400" b="1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2828">
                <a:tc>
                  <a:txBody>
                    <a:bodyPr/>
                    <a:lstStyle/>
                    <a:p>
                      <a:r>
                        <a:rPr lang="en-US" sz="1400" dirty="0"/>
                        <a:t>Blast2Go</a:t>
                      </a:r>
                      <a:endParaRPr lang="en-US" sz="14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</a:t>
                      </a:r>
                      <a:r>
                        <a:rPr lang="en-US" sz="1400" u="none" strike="noStrike" kern="1200" baseline="0" dirty="0"/>
                        <a:t>est*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</a:t>
                      </a:r>
                      <a:r>
                        <a:rPr lang="en-US" sz="1400" u="sng" strike="noStrike" kern="1200" baseline="0" dirty="0"/>
                        <a:t>s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strike="noStrike" kern="1200" baseline="0" dirty="0">
                          <a:latin typeface="Calibri"/>
                        </a:rPr>
                        <a:t>(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picks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out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GO terms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based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on blast hits and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uniprot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with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statistical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significance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test </a:t>
                      </a:r>
                      <a:r>
                        <a:rPr lang="en-US" sz="1400" b="1" u="sng" strike="noStrike" kern="1200" baseline="0" dirty="0">
                          <a:latin typeface="Calibri"/>
                        </a:rPr>
                        <a:t>)</a:t>
                      </a:r>
                      <a:endParaRPr lang="en-US" sz="1400" b="1" u="sng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Commercial ! </a:t>
                      </a:r>
                    </a:p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</a:rPr>
                        <a:t>Contain nice downstream analysis/visualization components</a:t>
                      </a:r>
                    </a:p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a typeface="+mn-ea"/>
                          <a:cs typeface="+mn-cs"/>
                        </a:rPr>
                        <a:t>Plugin for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a typeface="+mn-ea"/>
                          <a:cs typeface="+mn-cs"/>
                        </a:rPr>
                        <a:t>Geneious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a typeface="+mn-ea"/>
                          <a:cs typeface="+mn-cs"/>
                        </a:rPr>
                        <a:t> or CLC bio Workbench </a:t>
                      </a:r>
                      <a:endParaRPr lang="en-US" sz="1400" b="1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070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DD093F6-1939-17A8-BB80-BA5A7C773A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 err="1"/>
              <a:t>Interpro</a:t>
            </a:r>
            <a:r>
              <a:rPr lang="en-GB" dirty="0"/>
              <a:t>/</a:t>
            </a:r>
            <a:r>
              <a:rPr lang="en-GB" dirty="0" err="1"/>
              <a:t>Interproscan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A985F3B-68B8-B98E-A424-032C8AE3C8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825061B-64AF-CBEA-1039-02B5FC176B12}"/>
              </a:ext>
            </a:extLst>
          </p:cNvPr>
          <p:cNvSpPr txBox="1"/>
          <p:nvPr/>
        </p:nvSpPr>
        <p:spPr>
          <a:xfrm>
            <a:off x="1155798" y="1859570"/>
            <a:ext cx="100480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2"/>
                </a:solidFill>
              </a:rPr>
              <a:t>InterPro</a:t>
            </a:r>
            <a:r>
              <a:rPr lang="en-US"/>
              <a:t> </a:t>
            </a:r>
          </a:p>
          <a:p>
            <a:r>
              <a:rPr lang="en-US"/>
              <a:t>	is an integrative database that combines the main </a:t>
            </a:r>
            <a:r>
              <a:rPr lang="en-US" b="1"/>
              <a:t>protein signature databases</a:t>
            </a:r>
            <a:r>
              <a:rPr lang="en-US"/>
              <a:t> (Pfam, PROSITE, SMART, CATH, SUPERFAMILY,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/>
                </a:solidFill>
              </a:rPr>
              <a:t>A </a:t>
            </a:r>
            <a:r>
              <a:rPr lang="en-US" b="1">
                <a:solidFill>
                  <a:schemeClr val="accent2"/>
                </a:solidFill>
              </a:rPr>
              <a:t>signature</a:t>
            </a:r>
            <a:r>
              <a:rPr lang="en-US">
                <a:solidFill>
                  <a:schemeClr val="accent2"/>
                </a:solidFill>
              </a:rPr>
              <a:t> </a:t>
            </a:r>
          </a:p>
          <a:p>
            <a:r>
              <a:rPr lang="en-US"/>
              <a:t>	is a motif, a profile, or an HMM (Hidden Markov Model) that describes a protein family, a domain, an active site, or another functional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2"/>
                </a:solidFill>
              </a:rPr>
              <a:t>InterProScan</a:t>
            </a:r>
            <a:r>
              <a:rPr lang="en-US"/>
              <a:t> </a:t>
            </a:r>
          </a:p>
          <a:p>
            <a:r>
              <a:rPr lang="en-US"/>
              <a:t>	is the software that compares a given protein sequence against all these signature databases to assign potential functions.</a:t>
            </a:r>
          </a:p>
        </p:txBody>
      </p:sp>
    </p:spTree>
    <p:extLst>
      <p:ext uri="{BB962C8B-B14F-4D97-AF65-F5344CB8AC3E}">
        <p14:creationId xmlns:p14="http://schemas.microsoft.com/office/powerpoint/2010/main" val="2016999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3106F8-DF16-DFC3-00AA-141D1204F2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5D22BE9-03AD-7EB6-DD7B-D4126D4A4A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Interpro</a:t>
            </a:r>
            <a:endParaRPr lang="en-GB" dirty="0"/>
          </a:p>
        </p:txBody>
      </p:sp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51EC33C5-501D-5956-3D85-886FECE86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7" y="557808"/>
            <a:ext cx="6403372" cy="3397828"/>
          </a:xfrm>
          <a:prstGeom prst="rect">
            <a:avLst/>
          </a:prstGeom>
        </p:spPr>
      </p:pic>
      <p:pic>
        <p:nvPicPr>
          <p:cNvPr id="11" name="Espace réservé du contenu 4">
            <a:extLst>
              <a:ext uri="{FF2B5EF4-FFF2-40B4-BE49-F238E27FC236}">
                <a16:creationId xmlns:a16="http://schemas.microsoft.com/office/drawing/2014/main" id="{4278C316-CF02-B314-8614-053C96B2D3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2"/>
          <a:stretch/>
        </p:blipFill>
        <p:spPr>
          <a:xfrm>
            <a:off x="6847609" y="746990"/>
            <a:ext cx="5122718" cy="514465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071B067-8DBA-593A-4135-ED6EF4BA7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7" y="4069967"/>
            <a:ext cx="4540827" cy="78342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DFC874A-F5DD-28EE-5B5A-780794119843}"/>
              </a:ext>
            </a:extLst>
          </p:cNvPr>
          <p:cNvSpPr txBox="1"/>
          <p:nvPr/>
        </p:nvSpPr>
        <p:spPr>
          <a:xfrm>
            <a:off x="101787" y="5060648"/>
            <a:ext cx="37256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/>
              </a:rPr>
              <a:t>pathway :</a:t>
            </a:r>
          </a:p>
          <a:p>
            <a:r>
              <a:rPr lang="en-US" sz="1600" dirty="0">
                <a:latin typeface="Calibri"/>
              </a:rPr>
              <a:t>	- </a:t>
            </a:r>
            <a:r>
              <a:rPr lang="en-US" sz="1600" dirty="0" err="1">
                <a:latin typeface="Calibri"/>
              </a:rPr>
              <a:t>MetaCyc</a:t>
            </a:r>
            <a:endParaRPr lang="en-US" sz="1600" dirty="0">
              <a:latin typeface="Calibri"/>
            </a:endParaRPr>
          </a:p>
          <a:p>
            <a:r>
              <a:rPr lang="en-US" sz="1600" dirty="0">
                <a:latin typeface="Calibri"/>
              </a:rPr>
              <a:t>	- </a:t>
            </a:r>
            <a:r>
              <a:rPr lang="en-US" sz="1600" dirty="0" err="1">
                <a:latin typeface="Calibri"/>
              </a:rPr>
              <a:t>Reactome</a:t>
            </a:r>
            <a:endParaRPr lang="en-US" sz="1600" dirty="0">
              <a:latin typeface="Calibri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1CAE637-6E5D-90EB-C7E9-29169FC13D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5344149"/>
            <a:ext cx="1485069" cy="626778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2A13415D-4C3B-7F38-A847-53F3C17EC7A7}"/>
              </a:ext>
            </a:extLst>
          </p:cNvPr>
          <p:cNvSpPr txBox="1"/>
          <p:nvPr/>
        </p:nvSpPr>
        <p:spPr>
          <a:xfrm>
            <a:off x="3477717" y="5036480"/>
            <a:ext cx="31986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 err="1">
                <a:latin typeface="Calibri"/>
              </a:rPr>
              <a:t>other</a:t>
            </a:r>
            <a:r>
              <a:rPr lang="fr-FR" sz="1600" dirty="0">
                <a:latin typeface="Calibri"/>
              </a:rPr>
              <a:t> </a:t>
            </a:r>
            <a:r>
              <a:rPr lang="fr-FR" sz="1600" dirty="0" err="1">
                <a:latin typeface="Calibri"/>
              </a:rPr>
              <a:t>licensed</a:t>
            </a:r>
            <a:r>
              <a:rPr lang="fr-FR" sz="1600" dirty="0">
                <a:latin typeface="Calibri"/>
              </a:rPr>
              <a:t> </a:t>
            </a:r>
            <a:r>
              <a:rPr lang="fr-FR" sz="1600" dirty="0" err="1">
                <a:latin typeface="Calibri"/>
              </a:rPr>
              <a:t>analysis</a:t>
            </a:r>
            <a:r>
              <a:rPr lang="fr-FR" sz="1600" dirty="0">
                <a:latin typeface="Calibri"/>
              </a:rPr>
              <a:t> </a:t>
            </a:r>
            <a:r>
              <a:rPr lang="fr-FR" sz="1600" dirty="0" err="1">
                <a:latin typeface="Calibri"/>
              </a:rPr>
              <a:t>available</a:t>
            </a:r>
            <a:r>
              <a:rPr lang="fr-FR" sz="1600" dirty="0">
                <a:latin typeface="Calibri"/>
              </a:rPr>
              <a:t>:</a:t>
            </a:r>
            <a:endParaRPr lang="en-GB" sz="16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602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617E23C-260E-DF9F-FD32-7976C1CC38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05DA5AC9-48AA-6BBB-4562-356A801777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 err="1"/>
              <a:t>Interproscan</a:t>
            </a:r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924A99-2373-E39E-A51C-5E2E9F10659C}"/>
              </a:ext>
            </a:extLst>
          </p:cNvPr>
          <p:cNvSpPr txBox="1"/>
          <p:nvPr/>
        </p:nvSpPr>
        <p:spPr>
          <a:xfrm>
            <a:off x="374073" y="884648"/>
            <a:ext cx="115131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Search against signature databases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	 </a:t>
            </a:r>
            <a:r>
              <a:rPr lang="en-US" dirty="0" err="1"/>
              <a:t>InterProScan</a:t>
            </a:r>
            <a:r>
              <a:rPr lang="en-US" dirty="0"/>
              <a:t> runs searches in parallel (Each database uses its own search engine:</a:t>
            </a:r>
          </a:p>
          <a:p>
            <a:pPr lvl="2"/>
            <a:r>
              <a:rPr lang="en-US" dirty="0" err="1"/>
              <a:t>Pfam</a:t>
            </a:r>
            <a:r>
              <a:rPr lang="en-US" dirty="0"/>
              <a:t> 		→ HMMER (HMM profiles).</a:t>
            </a:r>
          </a:p>
          <a:p>
            <a:pPr lvl="2"/>
            <a:r>
              <a:rPr lang="en-US" dirty="0"/>
              <a:t>PROSITE</a:t>
            </a:r>
            <a:r>
              <a:rPr lang="en-US" b="1" dirty="0"/>
              <a:t>		</a:t>
            </a:r>
            <a:r>
              <a:rPr lang="en-US" dirty="0"/>
              <a:t>→ regular expressions or profiles.</a:t>
            </a:r>
          </a:p>
          <a:p>
            <a:pPr lvl="2"/>
            <a:r>
              <a:rPr lang="en-US" dirty="0"/>
              <a:t>SUPERFAMILY → structural HMMs.</a:t>
            </a:r>
          </a:p>
          <a:p>
            <a:pPr lvl="2"/>
            <a:r>
              <a:rPr lang="en-US" dirty="0"/>
              <a:t>COILS 		→ prediction of coiled-coil regions.</a:t>
            </a:r>
          </a:p>
          <a:p>
            <a:pPr>
              <a:buFont typeface="+mj-lt"/>
              <a:buAutoNum type="arabicPeriod" startAt="2"/>
            </a:pPr>
            <a:endParaRPr lang="en-US" b="1" dirty="0"/>
          </a:p>
          <a:p>
            <a:r>
              <a:rPr lang="en-US" b="1" dirty="0">
                <a:solidFill>
                  <a:schemeClr val="accent2"/>
                </a:solidFill>
              </a:rPr>
              <a:t>Result aggregation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	All matches are collected and for each match, </a:t>
            </a:r>
            <a:r>
              <a:rPr lang="en-US" dirty="0" err="1"/>
              <a:t>InterProScan</a:t>
            </a:r>
            <a:r>
              <a:rPr lang="en-US" dirty="0"/>
              <a:t> adds:</a:t>
            </a:r>
          </a:p>
          <a:p>
            <a:r>
              <a:rPr lang="en-US" dirty="0"/>
              <a:t>		The </a:t>
            </a:r>
            <a:r>
              <a:rPr lang="en-US" b="1" dirty="0" err="1"/>
              <a:t>InterPro</a:t>
            </a:r>
            <a:r>
              <a:rPr lang="en-US" b="1" dirty="0"/>
              <a:t> ID</a:t>
            </a:r>
            <a:r>
              <a:rPr lang="en-US" dirty="0"/>
              <a:t> (if available, e.g. IPR002568).</a:t>
            </a:r>
          </a:p>
          <a:p>
            <a:r>
              <a:rPr lang="en-US" dirty="0"/>
              <a:t>		Associated </a:t>
            </a:r>
            <a:r>
              <a:rPr lang="en-US" b="1" dirty="0"/>
              <a:t>GO terms</a:t>
            </a:r>
            <a:r>
              <a:rPr lang="en-US" dirty="0"/>
              <a:t> (if --</a:t>
            </a:r>
            <a:r>
              <a:rPr lang="en-US" dirty="0" err="1"/>
              <a:t>goterms</a:t>
            </a:r>
            <a:r>
              <a:rPr lang="en-US" dirty="0"/>
              <a:t> is used).</a:t>
            </a:r>
          </a:p>
          <a:p>
            <a:r>
              <a:rPr lang="en-US" dirty="0"/>
              <a:t>		Associated </a:t>
            </a:r>
            <a:r>
              <a:rPr lang="en-US" b="1" dirty="0"/>
              <a:t>pathways</a:t>
            </a:r>
            <a:r>
              <a:rPr lang="en-US" dirty="0"/>
              <a:t> (if -pa is used).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“</a:t>
            </a:r>
            <a:r>
              <a:rPr lang="en-US" b="1" dirty="0" err="1">
                <a:solidFill>
                  <a:schemeClr val="accent2"/>
                </a:solidFill>
              </a:rPr>
              <a:t>iprlookup</a:t>
            </a:r>
            <a:r>
              <a:rPr lang="en-US" b="1" dirty="0">
                <a:solidFill>
                  <a:schemeClr val="accent2"/>
                </a:solidFill>
              </a:rPr>
              <a:t>” option (default: enabled)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	Links matches from member databases (e.g. </a:t>
            </a:r>
            <a:r>
              <a:rPr lang="en-US" dirty="0" err="1"/>
              <a:t>Pfam</a:t>
            </a:r>
            <a:r>
              <a:rPr lang="en-US" dirty="0"/>
              <a:t>: PF01623) to the corresponding </a:t>
            </a:r>
            <a:r>
              <a:rPr lang="en-US" b="1" dirty="0" err="1"/>
              <a:t>InterPro</a:t>
            </a:r>
            <a:r>
              <a:rPr lang="en-US" b="1" dirty="0"/>
              <a:t> entry</a:t>
            </a:r>
            <a:r>
              <a:rPr lang="en-US" dirty="0"/>
              <a:t> (e.g. IPR002568).</a:t>
            </a:r>
          </a:p>
          <a:p>
            <a:r>
              <a:rPr lang="en-US" dirty="0"/>
              <a:t>	This unifies results coming from different databases.</a:t>
            </a:r>
          </a:p>
        </p:txBody>
      </p:sp>
    </p:spTree>
    <p:extLst>
      <p:ext uri="{BB962C8B-B14F-4D97-AF65-F5344CB8AC3E}">
        <p14:creationId xmlns:p14="http://schemas.microsoft.com/office/powerpoint/2010/main" val="2107404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75E3213-449A-0AF4-6CEE-913D5C85D3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 err="1"/>
              <a:t>Interproscan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39442AE-5B3B-7598-D29E-6F3CAFD2FB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Content Placeholder 2" descr="Screen Shot 2014-04-01 at 8.50.35 AM.png">
            <a:extLst>
              <a:ext uri="{FF2B5EF4-FFF2-40B4-BE49-F238E27FC236}">
                <a16:creationId xmlns:a16="http://schemas.microsoft.com/office/drawing/2014/main" id="{E710C129-34F9-FC03-494C-916D69721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1" r="-2161"/>
          <a:stretch>
            <a:fillRect/>
          </a:stretch>
        </p:blipFill>
        <p:spPr>
          <a:xfrm>
            <a:off x="2376632" y="925867"/>
            <a:ext cx="6767367" cy="47783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73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FF733E4-6C8E-DD97-C8F0-13359CEE52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word about network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26E56C-7E45-B024-9792-47D6A07776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3FD903-1F01-C0E3-BD7E-E4983E0076FB}"/>
              </a:ext>
            </a:extLst>
          </p:cNvPr>
          <p:cNvSpPr txBox="1">
            <a:spLocks/>
          </p:cNvSpPr>
          <p:nvPr/>
        </p:nvSpPr>
        <p:spPr>
          <a:xfrm>
            <a:off x="1246909" y="727365"/>
            <a:ext cx="9621982" cy="28006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Categorizations of gene function (</a:t>
            </a:r>
            <a:r>
              <a:rPr lang="en-US" dirty="0" err="1">
                <a:solidFill>
                  <a:srgbClr val="000000"/>
                </a:solidFill>
              </a:rPr>
              <a:t>e.g</a:t>
            </a:r>
            <a:r>
              <a:rPr lang="en-US" dirty="0">
                <a:solidFill>
                  <a:srgbClr val="000000"/>
                </a:solidFill>
              </a:rPr>
              <a:t> GO) in a hierarchy of categories is helpful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BUT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0000"/>
                </a:solidFill>
              </a:rPr>
              <a:t>gene has no function alone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</a:endParaRPr>
          </a:p>
          <a:p>
            <a:pPr>
              <a:buFont typeface="Symbol" charset="0"/>
              <a:buChar char=""/>
            </a:pPr>
            <a:r>
              <a:rPr lang="en-US" dirty="0">
                <a:solidFill>
                  <a:srgbClr val="000000"/>
                </a:solidFill>
              </a:rPr>
              <a:t>Pathways / regulatory networks explain how genes interact so what they are doing!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E.g. databases for pathway :</a:t>
            </a:r>
          </a:p>
          <a:p>
            <a:pPr lvl="2"/>
            <a:r>
              <a:rPr lang="en-US" sz="1800" dirty="0"/>
              <a:t>KEGG</a:t>
            </a:r>
          </a:p>
          <a:p>
            <a:pPr lvl="2"/>
            <a:r>
              <a:rPr lang="en-US" sz="1800" dirty="0" err="1"/>
              <a:t>MetaCyc</a:t>
            </a:r>
            <a:endParaRPr lang="en-US" sz="1800" dirty="0"/>
          </a:p>
          <a:p>
            <a:pPr lvl="2"/>
            <a:r>
              <a:rPr lang="en-US" sz="1800" dirty="0" err="1"/>
              <a:t>Reactome</a:t>
            </a:r>
            <a:endParaRPr lang="en-US" sz="1800" dirty="0"/>
          </a:p>
          <a:p>
            <a:pPr lvl="2"/>
            <a:r>
              <a:rPr lang="en-US" sz="1800" dirty="0" err="1"/>
              <a:t>UniPathway</a:t>
            </a:r>
            <a:endParaRPr lang="en-US" sz="1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D0DA2EA-0F49-3B6E-C1B6-D1FED873C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022" y="3811313"/>
            <a:ext cx="2896270" cy="2319323"/>
          </a:xfrm>
          <a:prstGeom prst="rect">
            <a:avLst/>
          </a:prstGeom>
        </p:spPr>
      </p:pic>
      <p:pic>
        <p:nvPicPr>
          <p:cNvPr id="7" name="Picture 2" descr="Perception is NOT Reality - Dr. Jim Taylor">
            <a:extLst>
              <a:ext uri="{FF2B5EF4-FFF2-40B4-BE49-F238E27FC236}">
                <a16:creationId xmlns:a16="http://schemas.microsoft.com/office/drawing/2014/main" id="{AC8A8753-63A6-017E-2516-0F7638716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770" y="3811313"/>
            <a:ext cx="3242885" cy="231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810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1503EB6-F45C-6D21-38AB-82A125A9B2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KEGG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74F0135-A2AA-A62E-36C6-C31D06635E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" name="Content Placeholder 3" descr="Pic12-Kegg">
            <a:extLst>
              <a:ext uri="{FF2B5EF4-FFF2-40B4-BE49-F238E27FC236}">
                <a16:creationId xmlns:a16="http://schemas.microsoft.com/office/drawing/2014/main" id="{96021EE1-BB8B-9E98-A6FC-4B05C8A50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7" b="5447"/>
          <a:stretch>
            <a:fillRect/>
          </a:stretch>
        </p:blipFill>
        <p:spPr>
          <a:xfrm>
            <a:off x="2076306" y="530658"/>
            <a:ext cx="7772400" cy="548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8946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1CE3637-C470-D306-357A-317AFFAFE8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Closing remarks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9CDE940-6C42-750F-36BB-3AFB9A0DE8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BF62F990-FBCC-79C0-5DC8-EA452505518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371" y="521676"/>
            <a:ext cx="1398193" cy="123438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B96B96-DB7A-DE4F-D5B9-69545171BF66}"/>
              </a:ext>
            </a:extLst>
          </p:cNvPr>
          <p:cNvSpPr txBox="1">
            <a:spLocks/>
          </p:cNvSpPr>
          <p:nvPr/>
        </p:nvSpPr>
        <p:spPr>
          <a:xfrm>
            <a:off x="1343840" y="521676"/>
            <a:ext cx="10131162" cy="508115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Structural annotation matters</a:t>
            </a:r>
          </a:p>
          <a:p>
            <a:pPr marL="0" indent="0">
              <a:buNone/>
            </a:pPr>
            <a:r>
              <a:rPr lang="en-US" sz="1800" dirty="0"/>
              <a:t>	Functional annotation depends strongly on the quality of structural annotation</a:t>
            </a:r>
          </a:p>
          <a:p>
            <a:pPr marL="0" indent="0">
              <a:buNone/>
            </a:pPr>
            <a:r>
              <a:rPr lang="en-US" sz="1800" dirty="0"/>
              <a:t>	Common issues: gene fusions, gene splits, partial genes, over-predictions, wrong ORFs</a:t>
            </a:r>
          </a:p>
          <a:p>
            <a:r>
              <a:rPr lang="en-US" sz="2200" dirty="0">
                <a:solidFill>
                  <a:schemeClr val="accent2"/>
                </a:solidFill>
              </a:rPr>
              <a:t>Limits of functional annotation</a:t>
            </a:r>
          </a:p>
          <a:p>
            <a:pPr marL="457200" lvl="1" indent="0">
              <a:buNone/>
            </a:pPr>
            <a:r>
              <a:rPr lang="en-US" dirty="0"/>
              <a:t>Errors can propagate from databases =&gt; experimental validation is essential</a:t>
            </a:r>
          </a:p>
          <a:p>
            <a:pPr marL="457200" lvl="1" indent="0">
              <a:buNone/>
            </a:pPr>
            <a:r>
              <a:rPr lang="en-US" dirty="0"/>
              <a:t>Annotation quality depends on the database used</a:t>
            </a:r>
          </a:p>
          <a:p>
            <a:pPr marL="457200" lvl="1" indent="0">
              <a:buNone/>
            </a:pPr>
            <a:r>
              <a:rPr lang="en-US" dirty="0"/>
              <a:t>Many proteins remain </a:t>
            </a:r>
            <a:r>
              <a:rPr lang="en-US" i="1" dirty="0"/>
              <a:t>hypothetical</a:t>
            </a:r>
            <a:r>
              <a:rPr lang="en-US" dirty="0"/>
              <a:t> or </a:t>
            </a:r>
            <a:r>
              <a:rPr lang="en-US" i="1" dirty="0"/>
              <a:t>uncharacterized </a:t>
            </a:r>
            <a:r>
              <a:rPr lang="en-US" dirty="0"/>
              <a:t>(</a:t>
            </a:r>
            <a:r>
              <a:rPr lang="en-US" dirty="0">
                <a:solidFill>
                  <a:srgbClr val="000000"/>
                </a:solidFill>
              </a:rPr>
              <a:t>Depends largely on conventional experiments</a:t>
            </a:r>
            <a:r>
              <a:rPr lang="en-US" dirty="0"/>
              <a:t>)</a:t>
            </a:r>
          </a:p>
          <a:p>
            <a:r>
              <a:rPr lang="en-US" sz="2200" dirty="0">
                <a:solidFill>
                  <a:schemeClr val="accent2"/>
                </a:solidFill>
              </a:rPr>
              <a:t>Beyond sequence similarity</a:t>
            </a:r>
          </a:p>
          <a:p>
            <a:pPr marL="457200" lvl="1" indent="0">
              <a:buNone/>
            </a:pPr>
            <a:r>
              <a:rPr lang="en-US" dirty="0"/>
              <a:t>High sequence similarity ≠ identical function </a:t>
            </a:r>
          </a:p>
          <a:p>
            <a:pPr marL="457200" lvl="1" indent="0">
              <a:buNone/>
            </a:pPr>
            <a:r>
              <a:rPr lang="en-US" dirty="0"/>
              <a:t>Functional understanding requires additional context:</a:t>
            </a:r>
          </a:p>
          <a:p>
            <a:pPr lvl="8"/>
            <a:r>
              <a:rPr lang="en-US" sz="1600" dirty="0"/>
              <a:t>Pathway integration</a:t>
            </a:r>
          </a:p>
          <a:p>
            <a:pPr lvl="8"/>
            <a:r>
              <a:rPr lang="en-US" sz="1600" dirty="0"/>
              <a:t>Spatial/temporal regulation</a:t>
            </a:r>
          </a:p>
          <a:p>
            <a:pPr lvl="8"/>
            <a:r>
              <a:rPr lang="en-US" sz="1600" dirty="0"/>
              <a:t>Biological networks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7900C7A9-3374-06CF-9D3E-ACD4EA4AFFA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9733" y="521676"/>
            <a:ext cx="1398193" cy="12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3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6D94D-7AA5-2B3C-A6EE-862067C58A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E24F68-DB8C-4590-8CA9-5AB178F7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5513"/>
          <a:stretch/>
        </p:blipFill>
        <p:spPr>
          <a:xfrm>
            <a:off x="2644000" y="240631"/>
            <a:ext cx="6903995" cy="52057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54CB8-EF6E-DC1B-97D5-375C388BB404}"/>
              </a:ext>
            </a:extLst>
          </p:cNvPr>
          <p:cNvSpPr/>
          <p:nvPr/>
        </p:nvSpPr>
        <p:spPr>
          <a:xfrm>
            <a:off x="2644001" y="4468170"/>
            <a:ext cx="6903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Thank you for your attention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1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71105</TotalTime>
  <Words>2204</Words>
  <Application>Microsoft Macintosh PowerPoint</Application>
  <PresentationFormat>Grand écran</PresentationFormat>
  <Paragraphs>348</Paragraphs>
  <Slides>28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Arial</vt:lpstr>
      <vt:lpstr>Calibri</vt:lpstr>
      <vt:lpstr>Gill Sans MT</vt:lpstr>
      <vt:lpstr>Helvetica</vt:lpstr>
      <vt:lpstr>Roboto</vt:lpstr>
      <vt:lpstr>Symbol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Jacques Dainat Ph.D.</dc:title>
  <dc:creator>Jacques Dainat</dc:creator>
  <cp:lastModifiedBy>Jacques DAINAT</cp:lastModifiedBy>
  <cp:revision>461</cp:revision>
  <cp:lastPrinted>2023-09-15T12:14:39Z</cp:lastPrinted>
  <dcterms:created xsi:type="dcterms:W3CDTF">2018-11-21T09:52:36Z</dcterms:created>
  <dcterms:modified xsi:type="dcterms:W3CDTF">2025-09-15T14:54:39Z</dcterms:modified>
</cp:coreProperties>
</file>