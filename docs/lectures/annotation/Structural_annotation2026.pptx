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6" r:id="rId1"/>
  </p:sldMasterIdLst>
  <p:notesMasterIdLst>
    <p:notesMasterId r:id="rId31"/>
  </p:notesMasterIdLst>
  <p:handoutMasterIdLst>
    <p:handoutMasterId r:id="rId32"/>
  </p:handoutMasterIdLst>
  <p:sldIdLst>
    <p:sldId id="279" r:id="rId2"/>
    <p:sldId id="376" r:id="rId3"/>
    <p:sldId id="396" r:id="rId4"/>
    <p:sldId id="399" r:id="rId5"/>
    <p:sldId id="397" r:id="rId6"/>
    <p:sldId id="398" r:id="rId7"/>
    <p:sldId id="400" r:id="rId8"/>
    <p:sldId id="401" r:id="rId9"/>
    <p:sldId id="553" r:id="rId10"/>
    <p:sldId id="431" r:id="rId11"/>
    <p:sldId id="575" r:id="rId12"/>
    <p:sldId id="433" r:id="rId13"/>
    <p:sldId id="434" r:id="rId14"/>
    <p:sldId id="435" r:id="rId15"/>
    <p:sldId id="436" r:id="rId16"/>
    <p:sldId id="576" r:id="rId17"/>
    <p:sldId id="549" r:id="rId18"/>
    <p:sldId id="438" r:id="rId19"/>
    <p:sldId id="548" r:id="rId20"/>
    <p:sldId id="577" r:id="rId21"/>
    <p:sldId id="437" r:id="rId22"/>
    <p:sldId id="440" r:id="rId23"/>
    <p:sldId id="537" r:id="rId24"/>
    <p:sldId id="554" r:id="rId25"/>
    <p:sldId id="535" r:id="rId26"/>
    <p:sldId id="562" r:id="rId27"/>
    <p:sldId id="536" r:id="rId28"/>
    <p:sldId id="566" r:id="rId29"/>
    <p:sldId id="31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92A1"/>
    <a:srgbClr val="1D4872"/>
    <a:srgbClr val="FF9300"/>
    <a:srgbClr val="E1DED9"/>
    <a:srgbClr val="E5E2DE"/>
    <a:srgbClr val="E6E4E0"/>
    <a:srgbClr val="E0E0E0"/>
    <a:srgbClr val="0270C0"/>
    <a:srgbClr val="5894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31"/>
    <p:restoredTop sz="90508" autoAdjust="0"/>
  </p:normalViewPr>
  <p:slideViewPr>
    <p:cSldViewPr snapToGrid="0" snapToObjects="1">
      <p:cViewPr varScale="1">
        <p:scale>
          <a:sx n="144" d="100"/>
          <a:sy n="144" d="100"/>
        </p:scale>
        <p:origin x="139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432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EB0726B-68AD-DDAB-A67B-992F369E5C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13C3575-040A-50B1-36EA-15DE126107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93CDE-F4A9-1449-8906-9C685798F4D7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4FA33C-2485-B4EC-A361-86AC2D3FAB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8E0D0F-9233-FC3D-B5FF-0FB9AF03E9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173D1-22A5-1B4A-B3DF-E78F17583EB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2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141F-58C7-A14B-B7C4-4167B0731CCF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1648F-5206-084C-80CE-B104653B017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7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cbi.nlm.nih.gov/pubmed/?term=Zickmann%20F%5Bauth%5D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dx.doi.org/10.1186/s12864-015-1315-9" TargetMode="External"/><Relationship Id="rId4" Type="http://schemas.openxmlformats.org/officeDocument/2006/relationships/hyperlink" Target="http://www.ncbi.nlm.nih.gov/pubmed/?term=Renard%20BY%5Bauth%5D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Question: Avez-vous une idée de comment procéder?</a:t>
            </a:r>
          </a:p>
          <a:p>
            <a:r>
              <a:rPr lang="fr-FR" dirty="0"/>
              <a:t>Je ne vais malheureusement pas aborder la thématique de comment coder de manière reproductible en 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example of </a:t>
            </a:r>
            <a:r>
              <a:rPr lang="en-GB" dirty="0" err="1"/>
              <a:t>probabilitics</a:t>
            </a:r>
            <a:r>
              <a:rPr lang="en-GB" dirty="0"/>
              <a:t> methods:</a:t>
            </a:r>
          </a:p>
          <a:p>
            <a:r>
              <a:rPr lang="en-GB" dirty="0"/>
              <a:t>- Likelihood methods</a:t>
            </a:r>
          </a:p>
          <a:p>
            <a:r>
              <a:rPr lang="en-GB" dirty="0"/>
              <a:t>- Bayesian methods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71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73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DNA-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based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mapping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tools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help to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address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this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challenge, but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they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are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only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able to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transfer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annotation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between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closely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related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species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.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Here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we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introduce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LiftOn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, a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homology-based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software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tool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that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integrates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DNA and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protein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alignments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to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enhance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the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accuracy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of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genome-scale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annotation and to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allow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mapping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between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relatively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distant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species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.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21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Tiberius </a:t>
            </a:r>
            <a:r>
              <a:rPr lang="fr-FR" b="0" i="0" u="none" strike="noStrike" dirty="0">
                <a:solidFill>
                  <a:srgbClr val="2A2A2A"/>
                </a:solidFill>
                <a:effectLst/>
                <a:latin typeface="Merriweather" pitchFamily="2" charset="77"/>
              </a:rPr>
              <a:t>HMM </a:t>
            </a:r>
            <a:r>
              <a:rPr lang="fr-FR" b="0" i="0" u="none" strike="noStrike" dirty="0" err="1">
                <a:solidFill>
                  <a:srgbClr val="2A2A2A"/>
                </a:solidFill>
                <a:effectLst/>
                <a:latin typeface="Merriweather" pitchFamily="2" charset="77"/>
              </a:rPr>
              <a:t>is</a:t>
            </a:r>
            <a:r>
              <a:rPr lang="fr-FR" b="0" i="0" u="none" strike="noStrike" dirty="0">
                <a:solidFill>
                  <a:srgbClr val="2A2A2A"/>
                </a:solidFill>
                <a:effectLst/>
                <a:latin typeface="Merriweather" pitchFamily="2" charset="77"/>
              </a:rPr>
              <a:t> </a:t>
            </a:r>
            <a:r>
              <a:rPr lang="fr-FR" b="0" i="0" u="none" strike="noStrike" dirty="0" err="1">
                <a:solidFill>
                  <a:srgbClr val="2A2A2A"/>
                </a:solidFill>
                <a:effectLst/>
                <a:latin typeface="Merriweather" pitchFamily="2" charset="77"/>
              </a:rPr>
              <a:t>used</a:t>
            </a:r>
            <a:r>
              <a:rPr lang="fr-FR" b="0" i="0" u="none" strike="noStrike" dirty="0">
                <a:solidFill>
                  <a:srgbClr val="2A2A2A"/>
                </a:solidFill>
                <a:effectLst/>
                <a:latin typeface="Merriweather" pitchFamily="2" charset="77"/>
              </a:rPr>
              <a:t> </a:t>
            </a:r>
            <a:r>
              <a:rPr lang="fr-FR" b="0" i="0" u="none" strike="noStrike" dirty="0" err="1">
                <a:solidFill>
                  <a:srgbClr val="2A2A2A"/>
                </a:solidFill>
                <a:effectLst/>
                <a:latin typeface="Merriweather" pitchFamily="2" charset="77"/>
              </a:rPr>
              <a:t>during</a:t>
            </a:r>
            <a:r>
              <a:rPr lang="fr-FR" b="0" i="0" u="none" strike="noStrike" dirty="0">
                <a:solidFill>
                  <a:srgbClr val="2A2A2A"/>
                </a:solidFill>
                <a:effectLst/>
                <a:latin typeface="Merriweather" pitchFamily="2" charset="77"/>
              </a:rPr>
              <a:t> </a:t>
            </a:r>
            <a:r>
              <a:rPr lang="fr-FR" b="0" i="1" u="none" strike="noStrike" dirty="0" err="1">
                <a:solidFill>
                  <a:srgbClr val="2A2A2A"/>
                </a:solidFill>
                <a:effectLst/>
                <a:latin typeface="Merriweather" pitchFamily="2" charset="77"/>
              </a:rPr>
              <a:t>both</a:t>
            </a:r>
            <a:r>
              <a:rPr lang="fr-FR" b="0" i="0" u="none" strike="noStrike" dirty="0">
                <a:solidFill>
                  <a:srgbClr val="2A2A2A"/>
                </a:solidFill>
                <a:effectLst/>
                <a:latin typeface="Merriweather" pitchFamily="2" charset="77"/>
              </a:rPr>
              <a:t> training and </a:t>
            </a:r>
            <a:r>
              <a:rPr lang="fr-FR" b="0" i="0" u="none" strike="noStrike" dirty="0" err="1">
                <a:solidFill>
                  <a:srgbClr val="2A2A2A"/>
                </a:solidFill>
                <a:effectLst/>
                <a:latin typeface="Merriweather" pitchFamily="2" charset="77"/>
              </a:rPr>
              <a:t>inference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67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30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EVM</a:t>
            </a:r>
            <a:r>
              <a:rPr lang="en-US" baseline="0" dirty="0"/>
              <a:t> choose the post-processed gene model that is most consistent with the evidences</a:t>
            </a:r>
          </a:p>
          <a:p>
            <a:r>
              <a:rPr lang="en-US" dirty="0"/>
              <a:t>~ GAZE :</a:t>
            </a:r>
            <a:r>
              <a:rPr lang="en-US" baseline="0" dirty="0"/>
              <a:t> GAZE (Howe et al. 2002), pro- vides a general framework to assemble an optimal set of gene structures given a user-supplied feature set, scoring scheme,</a:t>
            </a:r>
            <a:endParaRPr lang="en-US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 invalidUrl="http://www.ncbi.nlm.nih.gov/pubmed/?term=Zickmann F[auth]"/>
              </a:rPr>
              <a:t>Ipred</a:t>
            </a:r>
            <a:r>
              <a:rPr lang="en-US" u="sng" dirty="0">
                <a:hlinkClick r:id="rId3" invalidUrl="http://www.ncbi.nlm.nih.gov/pubmed/?term=Zickmann F[auth]"/>
              </a:rPr>
              <a:t>: Franziska Zickmann and </a:t>
            </a:r>
            <a:r>
              <a:rPr lang="en-US" u="sng" dirty="0">
                <a:hlinkClick r:id="rId4" invalidUrl="http://www.ncbi.nlm.nih.gov/pubmed/?term=Renard BY[auth]"/>
              </a:rPr>
              <a:t>Bernhard Y Renard</a:t>
            </a:r>
            <a:r>
              <a:rPr lang="en-US" u="sng" dirty="0"/>
              <a:t> </a:t>
            </a:r>
            <a:r>
              <a:rPr lang="hu-HU" u="sng" dirty="0"/>
              <a:t>BMC </a:t>
            </a:r>
            <a:r>
              <a:rPr lang="hu-HU" u="sng" dirty="0" err="1"/>
              <a:t>Genomics</a:t>
            </a:r>
            <a:r>
              <a:rPr lang="hu-HU" u="sng" dirty="0"/>
              <a:t>. 2015; 16(1): 134.</a:t>
            </a:r>
            <a:r>
              <a:rPr lang="en-US" dirty="0" err="1"/>
              <a:t>doi</a:t>
            </a:r>
            <a:r>
              <a:rPr lang="en-US" dirty="0"/>
              <a:t>:  </a:t>
            </a:r>
            <a:r>
              <a:rPr lang="en-US" u="sng" dirty="0">
                <a:hlinkClick r:id="rId5"/>
              </a:rPr>
              <a:t>10.1186/s12864-015-1315-9</a:t>
            </a:r>
            <a:endParaRPr lang="en-US" dirty="0"/>
          </a:p>
          <a:p>
            <a:r>
              <a:rPr lang="en-US" dirty="0"/>
              <a:t>EVIGAN</a:t>
            </a:r>
            <a:r>
              <a:rPr lang="en-US" baseline="0" dirty="0"/>
              <a:t> is the </a:t>
            </a:r>
            <a:r>
              <a:rPr lang="en-US" baseline="0" dirty="0" err="1"/>
              <a:t>scuccessor</a:t>
            </a:r>
            <a:r>
              <a:rPr lang="en-US" baseline="0" dirty="0"/>
              <a:t> of GLEAN</a:t>
            </a:r>
          </a:p>
          <a:p>
            <a:r>
              <a:rPr lang="en-US" baseline="0" dirty="0"/>
              <a:t>* Are pipelines that contain chooser</a:t>
            </a:r>
            <a:endParaRPr lang="en-US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96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23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10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0E0D2-EBEA-4B4D-B471-D9E93B2D0A5F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6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0B1A7-E63F-C945-BA0F-073149B16916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47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498B-52B4-D248-AC7D-6C0430F78E61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44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46C6-6131-3E46-855C-3DC38D8E7B01}" type="datetime1">
              <a:rPr lang="fr-FR" smtClean="0"/>
              <a:t>19/10/2026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82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B3D0-D467-2B41-9678-48D794215140}" type="datetime1">
              <a:rPr lang="fr-FR" smtClean="0"/>
              <a:t>19/10/2026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07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BEDC-7666-004E-BE91-E87BFD6169DB}" type="datetime1">
              <a:rPr lang="fr-FR" smtClean="0"/>
              <a:t>19/10/2026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451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3A66-96D5-924E-A36F-D0E492D74F3A}" type="datetime1">
              <a:rPr lang="fr-FR" smtClean="0"/>
              <a:t>19/10/2026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0523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0F2B-8FFA-8A41-B7B8-A9CC2655472A}" type="datetime1">
              <a:rPr lang="fr-FR" smtClean="0"/>
              <a:t>19/10/2026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09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607F8C7-317E-3A42-B629-4A50B731A1AC}" type="datetime1">
              <a:rPr lang="fr-FR" smtClean="0"/>
              <a:t>19/10/2026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664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9802-2785-FE4D-A07F-6610B026E8FB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71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1AC4-02B8-A545-9B5B-0C3EE09FD627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303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C84F53A-35AA-A583-F69F-86369A24DEF0}"/>
              </a:ext>
            </a:extLst>
          </p:cNvPr>
          <p:cNvCxnSpPr/>
          <p:nvPr userDrawn="1"/>
        </p:nvCxnSpPr>
        <p:spPr>
          <a:xfrm>
            <a:off x="459517" y="444040"/>
            <a:ext cx="11224332" cy="0"/>
          </a:xfrm>
          <a:prstGeom prst="line">
            <a:avLst/>
          </a:prstGeom>
          <a:ln w="9525" cmpd="sng">
            <a:solidFill>
              <a:srgbClr val="8A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8BFD074D-2582-B065-C767-BCAB89AD7D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0"/>
            <a:ext cx="12192000" cy="444500"/>
          </a:xfrm>
        </p:spPr>
        <p:txBody>
          <a:bodyPr/>
          <a:lstStyle>
            <a:lvl1pPr marL="0" indent="0" algn="ctr">
              <a:buNone/>
              <a:defRPr b="0" cap="none" spc="0">
                <a:ln w="0"/>
                <a:solidFill>
                  <a:srgbClr val="02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  <a:lvl2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2pPr>
            <a:lvl3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3pPr>
            <a:lvl4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4pPr>
            <a:lvl5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5pPr>
          </a:lstStyle>
          <a:p>
            <a:pPr lvl="0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374BB62F-3963-2B70-AEA5-B10FCFC49E8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617244" y="6413052"/>
            <a:ext cx="1421889" cy="309201"/>
          </a:xfrm>
        </p:spPr>
        <p:txBody>
          <a:bodyPr/>
          <a:lstStyle/>
          <a:p>
            <a:fld id="{D7D8D820-F334-8742-8AC7-66EEDAB2EAC2}" type="datetime1">
              <a:rPr lang="fr-FR" smtClean="0"/>
              <a:t>19/10/2026</a:t>
            </a:fld>
            <a:endParaRPr lang="en-US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E5310E98-F573-2FB9-D8FA-5D89B44521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73896" y="6413960"/>
            <a:ext cx="5378672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BFEA4EDD-33BF-CA1E-119C-F66477D6E28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3807" y="6413961"/>
            <a:ext cx="854119" cy="309659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CE8079A4-7AA8-4A4F-87E2-7781EC5097DD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2E207B9E-14FB-E537-1518-E74527A54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074" y="6251046"/>
            <a:ext cx="1636749" cy="48416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0519749-FB4A-3542-E28D-042AF44C12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9" t="12227" r="12811" b="14127"/>
          <a:stretch/>
        </p:blipFill>
        <p:spPr>
          <a:xfrm>
            <a:off x="1857632" y="6248270"/>
            <a:ext cx="634193" cy="48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78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3A66-96D5-924E-A36F-D0E492D74F3A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35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ke34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4.jpeg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3.jpg"/><Relationship Id="rId9" Type="http://schemas.openxmlformats.org/officeDocument/2006/relationships/hyperlink" Target="https://freepngimg.com/png/80213-text-symbol-sign-black-arroba-white" TargetMode="External"/><Relationship Id="rId14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weberlab-hhu/Helixer" TargetMode="External"/><Relationship Id="rId3" Type="http://schemas.openxmlformats.org/officeDocument/2006/relationships/hyperlink" Target="https://academic.oup.com/bioinformatics/article/40/12/btae685/7903281" TargetMode="External"/><Relationship Id="rId7" Type="http://schemas.openxmlformats.org/officeDocument/2006/relationships/hyperlink" Target="https://doi.org/10.1101/2023.02.06.52728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s://github.com/Gaius-Augustus/Tiberius" TargetMode="External"/><Relationship Id="rId9" Type="http://schemas.openxmlformats.org/officeDocument/2006/relationships/image" Target="../media/image2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CD2EBC-5076-D24A-AEF9-B6A8AC11F049}"/>
              </a:ext>
            </a:extLst>
          </p:cNvPr>
          <p:cNvSpPr txBox="1"/>
          <p:nvPr/>
        </p:nvSpPr>
        <p:spPr>
          <a:xfrm>
            <a:off x="2800350" y="527050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 fontScale="25000" lnSpcReduction="20000"/>
          </a:bodyPr>
          <a:lstStyle/>
          <a:p>
            <a:pPr algn="l"/>
            <a:endParaRPr lang="en-GB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BEC24E-07D5-F740-A842-2F3820E97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42" y="237602"/>
            <a:ext cx="3287795" cy="97254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05B4075-878E-6653-889D-DC4137FDB9DC}"/>
              </a:ext>
            </a:extLst>
          </p:cNvPr>
          <p:cNvSpPr txBox="1"/>
          <p:nvPr/>
        </p:nvSpPr>
        <p:spPr>
          <a:xfrm>
            <a:off x="6524264" y="3032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097A4089-15D0-0182-66C4-7A466A68AED9}"/>
              </a:ext>
            </a:extLst>
          </p:cNvPr>
          <p:cNvSpPr txBox="1">
            <a:spLocks/>
          </p:cNvSpPr>
          <p:nvPr/>
        </p:nvSpPr>
        <p:spPr>
          <a:xfrm>
            <a:off x="0" y="1979221"/>
            <a:ext cx="12192000" cy="2255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Methods in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genome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annotation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B056A61-CFD9-6140-5038-4884A1FBF7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9" t="12227" r="12811" b="14127"/>
          <a:stretch/>
        </p:blipFill>
        <p:spPr>
          <a:xfrm>
            <a:off x="3742895" y="237601"/>
            <a:ext cx="1266665" cy="972549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A210819-9122-4D1F-58B8-CC249783DB6C}"/>
              </a:ext>
            </a:extLst>
          </p:cNvPr>
          <p:cNvSpPr txBox="1"/>
          <p:nvPr/>
        </p:nvSpPr>
        <p:spPr>
          <a:xfrm>
            <a:off x="0" y="6181445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22/09/2025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887C6DF-E142-F3B1-5D40-CD1824E487CA}"/>
              </a:ext>
            </a:extLst>
          </p:cNvPr>
          <p:cNvSpPr txBox="1"/>
          <p:nvPr/>
        </p:nvSpPr>
        <p:spPr>
          <a:xfrm>
            <a:off x="9929698" y="6555094"/>
            <a:ext cx="1669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Jacques Dainat Ph.D.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BED1E1B3-8F78-27EA-E2F1-CF1D91EC8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7513" y="6181445"/>
            <a:ext cx="642254" cy="642254"/>
          </a:xfrm>
          <a:prstGeom prst="ellipse">
            <a:avLst/>
          </a:prstGeom>
        </p:spPr>
      </p:pic>
      <p:pic>
        <p:nvPicPr>
          <p:cNvPr id="21" name="Picture 29">
            <a:hlinkClick r:id="rId6"/>
            <a:extLst>
              <a:ext uri="{FF2B5EF4-FFF2-40B4-BE49-F238E27FC236}">
                <a16:creationId xmlns:a16="http://schemas.microsoft.com/office/drawing/2014/main" id="{89EBB4B5-A8DC-AE03-1BD7-D0DF48AA5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92068" y="6532274"/>
            <a:ext cx="332120" cy="33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62A78C47-4245-D420-57CD-8BD9ED4B1A04}"/>
              </a:ext>
            </a:extLst>
          </p:cNvPr>
          <p:cNvSpPr txBox="1"/>
          <p:nvPr/>
        </p:nvSpPr>
        <p:spPr>
          <a:xfrm>
            <a:off x="3424123" y="6532274"/>
            <a:ext cx="21507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@</a:t>
            </a:r>
            <a:r>
              <a:rPr lang="en-US" sz="1200" dirty="0" err="1">
                <a:solidFill>
                  <a:schemeClr val="bg1"/>
                </a:solidFill>
                <a:latin typeface="Roboto" pitchFamily="2" charset="0"/>
              </a:rPr>
              <a:t>Jacquesdainat.bsky.social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AC803A2-D6B6-07EC-6C5E-9A07D0B4B01C}"/>
              </a:ext>
            </a:extLst>
          </p:cNvPr>
          <p:cNvSpPr txBox="1"/>
          <p:nvPr/>
        </p:nvSpPr>
        <p:spPr>
          <a:xfrm>
            <a:off x="2367039" y="6561814"/>
            <a:ext cx="1669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Juke34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70F70352-0DEF-6161-4152-81AC1DFB55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1362" y="6547249"/>
            <a:ext cx="276999" cy="276999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BCB7F09D-196E-B450-7AF1-9A9D0103DAAC}"/>
              </a:ext>
            </a:extLst>
          </p:cNvPr>
          <p:cNvSpPr txBox="1"/>
          <p:nvPr/>
        </p:nvSpPr>
        <p:spPr>
          <a:xfrm>
            <a:off x="287842" y="6548538"/>
            <a:ext cx="1743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Roboto" pitchFamily="2" charset="0"/>
              </a:rPr>
              <a:t>Jacques.dainat@ird.fr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D21230A3-709D-3E2B-F994-C2FACF1A01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3281" y="6471179"/>
            <a:ext cx="370989" cy="370989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E0AF94A-E95B-00AF-19FC-268F3DCD5D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775" y="5210371"/>
            <a:ext cx="1068960" cy="1021213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6AD93107-6B79-6CB3-E21C-383A6827D63A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93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2915" b="96413" l="2200" r="97600">
                        <a14:foregroundMark x1="36400" y1="35426" x2="36400" y2="35426"/>
                        <a14:foregroundMark x1="42800" y1="36099" x2="42800" y2="36099"/>
                        <a14:foregroundMark x1="56400" y1="32960" x2="56400" y2="32960"/>
                        <a14:foregroundMark x1="68800" y1="28251" x2="68800" y2="28251"/>
                        <a14:foregroundMark x1="83400" y1="10762" x2="83400" y2="10762"/>
                        <a14:foregroundMark x1="92000" y1="21076" x2="92000" y2="21076"/>
                        <a14:foregroundMark x1="96000" y1="19955" x2="96000" y2="19955"/>
                        <a14:foregroundMark x1="92400" y1="36547" x2="92400" y2="36547"/>
                        <a14:foregroundMark x1="97600" y1="64126" x2="97600" y2="64126"/>
                        <a14:foregroundMark x1="88800" y1="61659" x2="88800" y2="61659"/>
                        <a14:foregroundMark x1="79800" y1="68161" x2="79800" y2="68161"/>
                        <a14:foregroundMark x1="64000" y1="80717" x2="64000" y2="80717"/>
                        <a14:foregroundMark x1="42200" y1="68834" x2="42200" y2="68834"/>
                        <a14:foregroundMark x1="16600" y1="67489" x2="16600" y2="67489"/>
                        <a14:foregroundMark x1="7200" y1="61211" x2="7200" y2="61211"/>
                        <a14:foregroundMark x1="2200" y1="63004" x2="2200" y2="63004"/>
                        <a14:foregroundMark x1="7600" y1="47085" x2="7600" y2="47085"/>
                        <a14:foregroundMark x1="3000" y1="30493" x2="3000" y2="30493"/>
                        <a14:foregroundMark x1="10600" y1="16592" x2="10600" y2="16592"/>
                        <a14:foregroundMark x1="19600" y1="8969" x2="19600" y2="8969"/>
                        <a14:foregroundMark x1="17400" y1="4933" x2="17400" y2="4933"/>
                        <a14:foregroundMark x1="32800" y1="2915" x2="32800" y2="2915"/>
                        <a14:foregroundMark x1="53600" y1="6502" x2="53600" y2="6502"/>
                        <a14:foregroundMark x1="63200" y1="10090" x2="63200" y2="10090"/>
                        <a14:foregroundMark x1="18000" y1="82287" x2="18000" y2="82287"/>
                        <a14:foregroundMark x1="27400" y1="95067" x2="27400" y2="95067"/>
                        <a14:foregroundMark x1="53000" y1="96413" x2="53000" y2="96413"/>
                        <a14:foregroundMark x1="64600" y1="95964" x2="64600" y2="95964"/>
                        <a14:foregroundMark x1="79200" y1="92377" x2="79200" y2="92377"/>
                        <a14:foregroundMark x1="87200" y1="84081" x2="87200" y2="84081"/>
                        <a14:foregroundMark x1="34400" y1="3139" x2="34400" y2="3139"/>
                        <a14:foregroundMark x1="69800" y1="32287" x2="69800" y2="32287"/>
                        <a14:foregroundMark x1="69600" y1="32511" x2="69600" y2="32511"/>
                        <a14:foregroundMark x1="69600" y1="32063" x2="69600" y2="32063"/>
                        <a14:foregroundMark x1="69800" y1="32511" x2="69800" y2="32511"/>
                        <a14:foregroundMark x1="69800" y1="32511" x2="69800" y2="32511"/>
                        <a14:foregroundMark x1="69800" y1="32287" x2="69800" y2="32287"/>
                        <a14:foregroundMark x1="69800" y1="32287" x2="69800" y2="32287"/>
                        <a14:foregroundMark x1="69800" y1="32287" x2="69800" y2="32287"/>
                        <a14:foregroundMark x1="69800" y1="32287" x2="69800" y2="32287"/>
                        <a14:foregroundMark x1="69600" y1="31839" x2="69600" y2="31839"/>
                        <a14:foregroundMark x1="69600" y1="32287" x2="69600" y2="32287"/>
                        <a14:foregroundMark x1="69800" y1="32511" x2="70000" y2="32960"/>
                        <a14:foregroundMark x1="70000" y1="33408" x2="68800" y2="32960"/>
                        <a14:foregroundMark x1="39400" y1="89910" x2="39400" y2="89910"/>
                        <a14:foregroundMark x1="39600" y1="89910" x2="39600" y2="89910"/>
                        <a14:foregroundMark x1="39600" y1="90135" x2="39600" y2="90135"/>
                        <a14:foregroundMark x1="39600" y1="90135" x2="39600" y2="90135"/>
                        <a14:foregroundMark x1="39600" y1="89686" x2="39600" y2="89686"/>
                        <a14:foregroundMark x1="39600" y1="89686" x2="39200" y2="89686"/>
                        <a14:foregroundMark x1="39600" y1="90135" x2="39600" y2="90135"/>
                        <a14:backgroundMark x1="40000" y1="89910" x2="40000" y2="89910"/>
                        <a14:backgroundMark x1="63200" y1="96413" x2="63200" y2="96413"/>
                        <a14:backgroundMark x1="63800" y1="96188" x2="63800" y2="96188"/>
                        <a14:backgroundMark x1="64200" y1="96188" x2="64200" y2="96188"/>
                        <a14:backgroundMark x1="64000" y1="95740" x2="64000" y2="95740"/>
                        <a14:backgroundMark x1="64000" y1="95740" x2="64000" y2="95740"/>
                        <a14:backgroundMark x1="64000" y1="95964" x2="64000" y2="95964"/>
                        <a14:backgroundMark x1="64200" y1="95964" x2="64200" y2="95964"/>
                        <a14:backgroundMark x1="64200" y1="96413" x2="64200" y2="96413"/>
                        <a14:backgroundMark x1="42600" y1="71525" x2="42600" y2="71525"/>
                        <a14:backgroundMark x1="42800" y1="71076" x2="42800" y2="71076"/>
                        <a14:backgroundMark x1="61400" y1="67937" x2="61400" y2="67937"/>
                        <a14:backgroundMark x1="70000" y1="32063" x2="70000" y2="32063"/>
                        <a14:backgroundMark x1="17000" y1="5381" x2="17000" y2="5381"/>
                        <a14:backgroundMark x1="17600" y1="5381" x2="17600" y2="5381"/>
                        <a14:backgroundMark x1="17000" y1="5157" x2="17000" y2="5157"/>
                        <a14:backgroundMark x1="17000" y1="4933" x2="17000" y2="4933"/>
                        <a14:backgroundMark x1="17000" y1="5157" x2="17000" y2="5157"/>
                        <a14:backgroundMark x1="17000" y1="5157" x2="17000" y2="5157"/>
                        <a14:backgroundMark x1="17200" y1="5157" x2="17200" y2="5157"/>
                        <a14:backgroundMark x1="17200" y1="5157" x2="17200" y2="5157"/>
                        <a14:backgroundMark x1="17200" y1="4933" x2="17200" y2="4933"/>
                        <a14:backgroundMark x1="17400" y1="5157" x2="17400" y2="5157"/>
                        <a14:backgroundMark x1="17400" y1="4933" x2="17400" y2="4933"/>
                        <a14:backgroundMark x1="17400" y1="5157" x2="17400" y2="5157"/>
                        <a14:backgroundMark x1="32400" y1="3363" x2="32400" y2="3363"/>
                        <a14:backgroundMark x1="32400" y1="2691" x2="32400" y2="2691"/>
                        <a14:backgroundMark x1="32400" y1="3587" x2="32400" y2="3587"/>
                        <a14:backgroundMark x1="32400" y1="3363" x2="32400" y2="3363"/>
                        <a14:backgroundMark x1="32400" y1="3587" x2="32400" y2="3587"/>
                        <a14:backgroundMark x1="32200" y1="3363" x2="32200" y2="3363"/>
                        <a14:backgroundMark x1="32200" y1="3363" x2="32200" y2="3363"/>
                        <a14:backgroundMark x1="32400" y1="3587" x2="32400" y2="3587"/>
                        <a14:backgroundMark x1="32400" y1="3587" x2="32400" y2="3587"/>
                        <a14:backgroundMark x1="32400" y1="3363" x2="32400" y2="3363"/>
                        <a14:backgroundMark x1="32400" y1="3363" x2="32400" y2="3363"/>
                        <a14:backgroundMark x1="32400" y1="3363" x2="32400" y2="3363"/>
                        <a14:backgroundMark x1="32600" y1="3363" x2="32600" y2="3363"/>
                        <a14:backgroundMark x1="32600" y1="3139" x2="32600" y2="31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362" y="5259565"/>
            <a:ext cx="785191" cy="700391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FAA25AA1-832A-8914-E46D-93A0F74209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8884" y="5430451"/>
            <a:ext cx="992125" cy="52950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6B86C17-C874-9546-64BA-73A4E494DE0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72214" y="5292444"/>
            <a:ext cx="959549" cy="72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3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Calibri" charset="0"/>
                <a:ea typeface="MS PGothic" charset="0"/>
              </a:rPr>
              <a:t>What is annotation ?</a:t>
            </a:r>
            <a:endParaRPr lang="en-US" sz="1600" dirty="0">
              <a:latin typeface="Calibri" charset="0"/>
              <a:ea typeface="MS PGothic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73511-CFAF-7A28-39A4-EEBEC0D878CE}"/>
              </a:ext>
            </a:extLst>
          </p:cNvPr>
          <p:cNvSpPr/>
          <p:nvPr/>
        </p:nvSpPr>
        <p:spPr>
          <a:xfrm>
            <a:off x="945214" y="1983108"/>
            <a:ext cx="449786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u="sng" dirty="0"/>
              <a:t>Structural annotation:</a:t>
            </a:r>
            <a:endParaRPr lang="en-US" sz="2400" dirty="0"/>
          </a:p>
          <a:p>
            <a:pPr algn="ctr"/>
            <a:endParaRPr lang="sv-SE" sz="2000" dirty="0">
              <a:latin typeface="Calibri" charset="0"/>
              <a:ea typeface="MS PGothic" charset="0"/>
            </a:endParaRPr>
          </a:p>
          <a:p>
            <a:pPr algn="ctr"/>
            <a:r>
              <a:rPr lang="sv-SE" sz="2000" dirty="0" err="1">
                <a:latin typeface="Calibri" charset="0"/>
                <a:ea typeface="MS PGothic" charset="0"/>
              </a:rPr>
              <a:t>Find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out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where</a:t>
            </a:r>
            <a:r>
              <a:rPr lang="sv-SE" sz="2000" dirty="0">
                <a:latin typeface="Calibri" charset="0"/>
                <a:ea typeface="MS PGothic" charset="0"/>
              </a:rPr>
              <a:t> the regions </a:t>
            </a:r>
            <a:r>
              <a:rPr lang="sv-SE" sz="2000" dirty="0" err="1">
                <a:latin typeface="Calibri" charset="0"/>
                <a:ea typeface="MS PGothic" charset="0"/>
              </a:rPr>
              <a:t>of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interest</a:t>
            </a:r>
            <a:r>
              <a:rPr lang="sv-SE" sz="2000" dirty="0">
                <a:latin typeface="Calibri" charset="0"/>
                <a:ea typeface="MS PGothic" charset="0"/>
              </a:rPr>
              <a:t> (</a:t>
            </a:r>
            <a:r>
              <a:rPr lang="sv-SE" sz="2000" dirty="0" err="1">
                <a:latin typeface="Calibri" charset="0"/>
                <a:ea typeface="MS PGothic" charset="0"/>
              </a:rPr>
              <a:t>usually</a:t>
            </a:r>
            <a:r>
              <a:rPr lang="sv-SE" sz="2000" dirty="0">
                <a:latin typeface="Calibri" charset="0"/>
                <a:ea typeface="MS PGothic" charset="0"/>
              </a:rPr>
              <a:t> genes) </a:t>
            </a:r>
            <a:r>
              <a:rPr lang="sv-SE" sz="2000" dirty="0" err="1">
                <a:latin typeface="Calibri" charset="0"/>
                <a:ea typeface="MS PGothic" charset="0"/>
              </a:rPr>
              <a:t>are</a:t>
            </a:r>
            <a:r>
              <a:rPr lang="sv-SE" sz="2000" dirty="0">
                <a:latin typeface="Calibri" charset="0"/>
                <a:ea typeface="MS PGothic" charset="0"/>
              </a:rPr>
              <a:t> in the </a:t>
            </a:r>
            <a:r>
              <a:rPr lang="sv-SE" sz="2000" dirty="0" err="1">
                <a:latin typeface="Calibri" charset="0"/>
                <a:ea typeface="MS PGothic" charset="0"/>
              </a:rPr>
              <a:t>sequence</a:t>
            </a:r>
            <a:r>
              <a:rPr lang="sv-SE" sz="2000" dirty="0">
                <a:latin typeface="Calibri" charset="0"/>
                <a:ea typeface="MS PGothic" charset="0"/>
              </a:rPr>
              <a:t> data and </a:t>
            </a:r>
            <a:r>
              <a:rPr lang="sv-SE" sz="2000" dirty="0" err="1">
                <a:latin typeface="Calibri" charset="0"/>
                <a:ea typeface="MS PGothic" charset="0"/>
              </a:rPr>
              <a:t>what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they</a:t>
            </a:r>
            <a:r>
              <a:rPr lang="sv-SE" sz="2000" dirty="0">
                <a:latin typeface="Calibri" charset="0"/>
                <a:ea typeface="MS PGothic" charset="0"/>
              </a:rPr>
              <a:t> look like. </a:t>
            </a:r>
          </a:p>
          <a:p>
            <a:pPr algn="ctr"/>
            <a:r>
              <a:rPr lang="sv-SE" sz="2000" dirty="0">
                <a:latin typeface="Calibri" charset="0"/>
                <a:ea typeface="MS PGothic" charset="0"/>
              </a:rPr>
              <a:t>=&gt; </a:t>
            </a:r>
            <a:r>
              <a:rPr lang="sv-SE" sz="2000" b="1" dirty="0"/>
              <a:t>Gene </a:t>
            </a:r>
            <a:r>
              <a:rPr lang="sv-SE" sz="2000" b="1" dirty="0" err="1"/>
              <a:t>prediction</a:t>
            </a:r>
            <a:r>
              <a:rPr lang="sv-SE" sz="2000" b="1" dirty="0"/>
              <a:t> </a:t>
            </a:r>
            <a:r>
              <a:rPr lang="sv-SE" sz="2000" dirty="0"/>
              <a:t>/ </a:t>
            </a:r>
            <a:r>
              <a:rPr lang="sv-SE" sz="2000" b="1" dirty="0"/>
              <a:t>Gene </a:t>
            </a:r>
            <a:r>
              <a:rPr lang="sv-SE" sz="2000" b="1" dirty="0" err="1"/>
              <a:t>Finding</a:t>
            </a:r>
            <a:endParaRPr lang="sv-SE" sz="2000" dirty="0"/>
          </a:p>
          <a:p>
            <a:pPr algn="ctr"/>
            <a:endParaRPr lang="sv-SE" sz="2000" dirty="0">
              <a:latin typeface="Calibri" charset="0"/>
              <a:ea typeface="MS PGothic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3583C-D851-32FA-61FD-14F6B4E8A6F8}"/>
              </a:ext>
            </a:extLst>
          </p:cNvPr>
          <p:cNvSpPr/>
          <p:nvPr/>
        </p:nvSpPr>
        <p:spPr>
          <a:xfrm>
            <a:off x="6956781" y="1979107"/>
            <a:ext cx="36569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functional annotation:</a:t>
            </a:r>
          </a:p>
          <a:p>
            <a:pPr algn="ctr"/>
            <a:endParaRPr lang="sv-SE" sz="2000" dirty="0">
              <a:latin typeface="Calibri" charset="0"/>
              <a:ea typeface="MS PGothic" charset="0"/>
            </a:endParaRPr>
          </a:p>
          <a:p>
            <a:pPr algn="ctr"/>
            <a:r>
              <a:rPr lang="sv-SE" sz="2000" dirty="0" err="1">
                <a:latin typeface="Calibri" charset="0"/>
                <a:ea typeface="MS PGothic" charset="0"/>
              </a:rPr>
              <a:t>Find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out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what</a:t>
            </a:r>
            <a:r>
              <a:rPr lang="sv-SE" sz="2000" dirty="0">
                <a:latin typeface="Calibri" charset="0"/>
                <a:ea typeface="MS PGothic" charset="0"/>
              </a:rPr>
              <a:t> the regions do. </a:t>
            </a:r>
            <a:r>
              <a:rPr lang="sv-SE" sz="2000" dirty="0" err="1">
                <a:latin typeface="Calibri" charset="0"/>
                <a:ea typeface="MS PGothic" charset="0"/>
              </a:rPr>
              <a:t>What</a:t>
            </a:r>
            <a:r>
              <a:rPr lang="sv-SE" sz="2000" dirty="0">
                <a:latin typeface="Calibri" charset="0"/>
                <a:ea typeface="MS PGothic" charset="0"/>
              </a:rPr>
              <a:t> do </a:t>
            </a:r>
            <a:r>
              <a:rPr lang="sv-SE" sz="2000" dirty="0" err="1">
                <a:latin typeface="Calibri" charset="0"/>
                <a:ea typeface="MS PGothic" charset="0"/>
              </a:rPr>
              <a:t>they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code</a:t>
            </a:r>
            <a:r>
              <a:rPr lang="sv-SE" sz="2000" dirty="0">
                <a:latin typeface="Calibri" charset="0"/>
                <a:ea typeface="MS PGothic" charset="0"/>
              </a:rPr>
              <a:t> for?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9196C3-F62B-C11A-7245-47F2007B8EEF}"/>
              </a:ext>
            </a:extLst>
          </p:cNvPr>
          <p:cNvSpPr/>
          <p:nvPr/>
        </p:nvSpPr>
        <p:spPr>
          <a:xfrm>
            <a:off x="5992451" y="2203333"/>
            <a:ext cx="520670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VS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1ED22261-23DF-161E-6D81-5C5C5C23A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849" y="4255973"/>
            <a:ext cx="1854057" cy="820420"/>
          </a:xfrm>
          <a:prstGeom prst="rect">
            <a:avLst/>
          </a:prstGeom>
        </p:spPr>
      </p:pic>
      <p:pic>
        <p:nvPicPr>
          <p:cNvPr id="9" name="Picture 2" descr="http://0.tqn.com/d/biology/1/0/2/b/protein_structure.jpg">
            <a:extLst>
              <a:ext uri="{FF2B5EF4-FFF2-40B4-BE49-F238E27FC236}">
                <a16:creationId xmlns:a16="http://schemas.microsoft.com/office/drawing/2014/main" id="{8328DF74-352F-6FEB-4775-2D21D62CC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281" y="3493899"/>
            <a:ext cx="1606123" cy="2344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C35C07F3-C8DD-70BD-E9E4-EE20F1B0CA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827" y="4320076"/>
            <a:ext cx="3513893" cy="137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6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972D2D4-754B-EAE8-B6AC-99293B6FE91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Annotation tools</a:t>
            </a:r>
            <a:endParaRPr lang="en-US" sz="20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A14DE4E-9F93-D673-0299-B4253D927C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BA3C9F97-1FD2-B4F9-6E65-5F7EAB36A4C5}"/>
              </a:ext>
            </a:extLst>
          </p:cNvPr>
          <p:cNvCxnSpPr>
            <a:cxnSpLocks/>
          </p:cNvCxnSpPr>
          <p:nvPr/>
        </p:nvCxnSpPr>
        <p:spPr>
          <a:xfrm>
            <a:off x="1192721" y="2279159"/>
            <a:ext cx="9431737" cy="0"/>
          </a:xfrm>
          <a:prstGeom prst="straightConnector1">
            <a:avLst/>
          </a:prstGeom>
          <a:ln w="762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3CF967C-EB2A-46E0-0EFF-8E4DBA5246F4}"/>
              </a:ext>
            </a:extLst>
          </p:cNvPr>
          <p:cNvSpPr/>
          <p:nvPr/>
        </p:nvSpPr>
        <p:spPr>
          <a:xfrm>
            <a:off x="1094192" y="1678995"/>
            <a:ext cx="2866740" cy="1200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First annotation tools</a:t>
            </a:r>
          </a:p>
          <a:p>
            <a:endParaRPr lang="en-US" sz="2400" dirty="0"/>
          </a:p>
          <a:p>
            <a:r>
              <a:rPr lang="en-US" sz="2400" dirty="0"/>
              <a:t>90’s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F5A6C7-2C87-7617-1BE1-DCE29F7F26F3}"/>
              </a:ext>
            </a:extLst>
          </p:cNvPr>
          <p:cNvSpPr/>
          <p:nvPr/>
        </p:nvSpPr>
        <p:spPr>
          <a:xfrm>
            <a:off x="6614662" y="1776445"/>
            <a:ext cx="36573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/>
              <a:t>&gt;100 annotation tools*</a:t>
            </a:r>
          </a:p>
          <a:p>
            <a:pPr algn="r"/>
            <a:endParaRPr lang="en-US" sz="2400" dirty="0"/>
          </a:p>
          <a:p>
            <a:pPr algn="r"/>
            <a:r>
              <a:rPr lang="en-US" sz="2400" dirty="0"/>
              <a:t>Nowadays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A925BC-7045-19D0-BF71-93531A3FDD16}"/>
              </a:ext>
            </a:extLst>
          </p:cNvPr>
          <p:cNvSpPr/>
          <p:nvPr/>
        </p:nvSpPr>
        <p:spPr>
          <a:xfrm>
            <a:off x="1137733" y="4594047"/>
            <a:ext cx="9143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6"/>
                </a:solidFill>
              </a:rPr>
              <a:t>GFF</a:t>
            </a:r>
            <a:endParaRPr lang="en-US" sz="2400" dirty="0">
              <a:solidFill>
                <a:schemeClr val="accent6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ED3D5F-ADC3-6874-B602-E28A972BAAEF}"/>
              </a:ext>
            </a:extLst>
          </p:cNvPr>
          <p:cNvSpPr/>
          <p:nvPr/>
        </p:nvSpPr>
        <p:spPr>
          <a:xfrm>
            <a:off x="1524000" y="3847054"/>
            <a:ext cx="9143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Structural annotation + functional annotation + </a:t>
            </a:r>
            <a:r>
              <a:rPr lang="mr-IN" sz="2400" dirty="0"/>
              <a:t>…</a:t>
            </a:r>
            <a:r>
              <a:rPr lang="en-US" sz="2400" dirty="0"/>
              <a:t> </a:t>
            </a:r>
          </a:p>
        </p:txBody>
      </p:sp>
      <p:sp>
        <p:nvSpPr>
          <p:cNvPr id="13" name="Bent Arrow 17">
            <a:extLst>
              <a:ext uri="{FF2B5EF4-FFF2-40B4-BE49-F238E27FC236}">
                <a16:creationId xmlns:a16="http://schemas.microsoft.com/office/drawing/2014/main" id="{C11918D1-481C-A536-8D29-162293759868}"/>
              </a:ext>
            </a:extLst>
          </p:cNvPr>
          <p:cNvSpPr/>
          <p:nvPr/>
        </p:nvSpPr>
        <p:spPr>
          <a:xfrm rot="10800000">
            <a:off x="6802073" y="4336397"/>
            <a:ext cx="698870" cy="608493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4" name="Bent Arrow 18">
            <a:extLst>
              <a:ext uri="{FF2B5EF4-FFF2-40B4-BE49-F238E27FC236}">
                <a16:creationId xmlns:a16="http://schemas.microsoft.com/office/drawing/2014/main" id="{A2842272-9303-FA1D-2D46-C16A8AA32A4E}"/>
              </a:ext>
            </a:extLst>
          </p:cNvPr>
          <p:cNvSpPr/>
          <p:nvPr/>
        </p:nvSpPr>
        <p:spPr>
          <a:xfrm rot="10800000" flipH="1">
            <a:off x="4148343" y="4308719"/>
            <a:ext cx="698870" cy="608493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8D8C6CF3-05EF-4B0F-D3A0-1DF62ED7DB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5" t="6767" r="11544" b="7576"/>
          <a:stretch/>
        </p:blipFill>
        <p:spPr>
          <a:xfrm>
            <a:off x="8120154" y="1229879"/>
            <a:ext cx="646331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64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32545ED-7B85-C265-AC93-1BA92603C2B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Experimental vs Predictive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C2B2FCA-5309-AE89-F35C-484B2EEED8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A86E5AC-F173-9DDD-154D-72C871925E6C}"/>
              </a:ext>
            </a:extLst>
          </p:cNvPr>
          <p:cNvSpPr txBox="1">
            <a:spLocks/>
          </p:cNvSpPr>
          <p:nvPr/>
        </p:nvSpPr>
        <p:spPr>
          <a:xfrm>
            <a:off x="2155371" y="1661070"/>
            <a:ext cx="4040188" cy="3951288"/>
          </a:xfrm>
          <a:prstGeom prst="rect">
            <a:avLst/>
          </a:prstGeom>
          <a:ln w="12700">
            <a:solidFill>
              <a:srgbClr val="FF9300"/>
            </a:solidFill>
          </a:ln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Isolate and clone cognate transcripts (as cDNA) sequence them and compare cDNA with genomic DNA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=&gt; It’s the ONLY secure method but: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Cloning is time consuming. </a:t>
            </a:r>
          </a:p>
          <a:p>
            <a:r>
              <a:rPr lang="en-US" dirty="0"/>
              <a:t>Lowly expressed genes are difficult to detect. </a:t>
            </a:r>
          </a:p>
          <a:p>
            <a:r>
              <a:rPr lang="mr-IN" dirty="0"/>
              <a:t>…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37993D4-2F9C-32C2-9077-71848ADBEEB7}"/>
              </a:ext>
            </a:extLst>
          </p:cNvPr>
          <p:cNvSpPr txBox="1">
            <a:spLocks/>
          </p:cNvSpPr>
          <p:nvPr/>
        </p:nvSpPr>
        <p:spPr>
          <a:xfrm>
            <a:off x="7693024" y="1032422"/>
            <a:ext cx="1599021" cy="639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Predictive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AD7232D-6292-6090-554C-9438C6416250}"/>
              </a:ext>
            </a:extLst>
          </p:cNvPr>
          <p:cNvSpPr txBox="1">
            <a:spLocks/>
          </p:cNvSpPr>
          <p:nvPr/>
        </p:nvSpPr>
        <p:spPr>
          <a:xfrm>
            <a:off x="6343196" y="1661070"/>
            <a:ext cx="4041775" cy="3951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Intrinsic (Machine Learning)</a:t>
            </a:r>
          </a:p>
          <a:p>
            <a:pPr marL="0" indent="0">
              <a:buNone/>
            </a:pPr>
            <a:r>
              <a:rPr lang="en-US" sz="1400" dirty="0"/>
              <a:t>Use only the DNA sequence itself to predict genes based on statistical models of gene structure</a:t>
            </a:r>
          </a:p>
          <a:p>
            <a:r>
              <a:rPr lang="en-US" dirty="0"/>
              <a:t>Extrinsic</a:t>
            </a:r>
          </a:p>
          <a:p>
            <a:pPr marL="0" indent="0">
              <a:buNone/>
            </a:pPr>
            <a:r>
              <a:rPr lang="fr-FR" sz="1400" dirty="0"/>
              <a:t>Use </a:t>
            </a:r>
            <a:r>
              <a:rPr lang="fr-FR" sz="1400" b="1" dirty="0" err="1"/>
              <a:t>external</a:t>
            </a:r>
            <a:r>
              <a:rPr lang="fr-FR" sz="1400" b="1" dirty="0"/>
              <a:t> </a:t>
            </a:r>
            <a:r>
              <a:rPr lang="fr-FR" sz="1400" b="1" dirty="0" err="1"/>
              <a:t>biological</a:t>
            </a:r>
            <a:r>
              <a:rPr lang="fr-FR" sz="1400" b="1" dirty="0"/>
              <a:t> </a:t>
            </a:r>
            <a:r>
              <a:rPr lang="fr-FR" sz="1400" b="1" dirty="0" err="1"/>
              <a:t>evidence</a:t>
            </a:r>
            <a:r>
              <a:rPr lang="fr-FR" sz="1400" dirty="0"/>
              <a:t>, like RNA-Seq, </a:t>
            </a:r>
            <a:r>
              <a:rPr lang="fr-FR" sz="1400" dirty="0" err="1"/>
              <a:t>ESTs</a:t>
            </a:r>
            <a:r>
              <a:rPr lang="fr-FR" sz="1400" dirty="0"/>
              <a:t>, </a:t>
            </a:r>
            <a:r>
              <a:rPr lang="fr-FR" sz="1400" dirty="0" err="1"/>
              <a:t>protein</a:t>
            </a:r>
            <a:r>
              <a:rPr lang="fr-FR" sz="1400" dirty="0"/>
              <a:t> </a:t>
            </a:r>
            <a:r>
              <a:rPr lang="fr-FR" sz="1400" dirty="0" err="1"/>
              <a:t>alignments</a:t>
            </a:r>
            <a:r>
              <a:rPr lang="fr-FR" sz="1400" dirty="0"/>
              <a:t>, or </a:t>
            </a:r>
            <a:r>
              <a:rPr lang="fr-FR" sz="1400" dirty="0" err="1"/>
              <a:t>known</a:t>
            </a:r>
            <a:r>
              <a:rPr lang="fr-FR" sz="1400" dirty="0"/>
              <a:t> </a:t>
            </a:r>
            <a:r>
              <a:rPr lang="fr-FR" sz="1400" dirty="0" err="1"/>
              <a:t>homologs</a:t>
            </a:r>
            <a:r>
              <a:rPr lang="fr-FR" sz="1400" dirty="0"/>
              <a:t>, to guide annotation</a:t>
            </a:r>
            <a:endParaRPr lang="en-US" dirty="0"/>
          </a:p>
          <a:p>
            <a:r>
              <a:rPr lang="en-US" dirty="0"/>
              <a:t>Hybrid</a:t>
            </a:r>
          </a:p>
          <a:p>
            <a:pPr marL="0" indent="0">
              <a:buNone/>
            </a:pPr>
            <a:r>
              <a:rPr lang="fr-FR" sz="1400" dirty="0"/>
              <a:t>Modern </a:t>
            </a:r>
            <a:r>
              <a:rPr lang="fr-FR" sz="1400" dirty="0" err="1"/>
              <a:t>methods</a:t>
            </a:r>
            <a:r>
              <a:rPr lang="fr-FR" sz="1400" dirty="0"/>
              <a:t> </a:t>
            </a:r>
            <a:r>
              <a:rPr lang="fr-FR" sz="1400" dirty="0" err="1"/>
              <a:t>often</a:t>
            </a:r>
            <a:r>
              <a:rPr lang="fr-FR" sz="1400" dirty="0"/>
              <a:t> </a:t>
            </a:r>
            <a:r>
              <a:rPr lang="fr-FR" sz="1400" dirty="0" err="1"/>
              <a:t>integrate</a:t>
            </a:r>
            <a:r>
              <a:rPr lang="fr-FR" sz="1400" dirty="0"/>
              <a:t> </a:t>
            </a:r>
            <a:r>
              <a:rPr lang="fr-FR" sz="1400" dirty="0" err="1"/>
              <a:t>intrinsic</a:t>
            </a:r>
            <a:r>
              <a:rPr lang="fr-FR" sz="1400" dirty="0"/>
              <a:t> and </a:t>
            </a:r>
            <a:r>
              <a:rPr lang="fr-FR" sz="1400" dirty="0" err="1"/>
              <a:t>extrinsic</a:t>
            </a:r>
            <a:r>
              <a:rPr lang="fr-FR" sz="1400" dirty="0"/>
              <a:t> </a:t>
            </a:r>
            <a:r>
              <a:rPr lang="fr-FR" sz="1400" dirty="0" err="1"/>
              <a:t>signals</a:t>
            </a:r>
            <a:r>
              <a:rPr lang="fr-FR" sz="1400" dirty="0"/>
              <a:t>, </a:t>
            </a:r>
            <a:r>
              <a:rPr lang="fr-FR" sz="1400" dirty="0" err="1"/>
              <a:t>blurring</a:t>
            </a:r>
            <a:r>
              <a:rPr lang="fr-FR" sz="1400" dirty="0"/>
              <a:t> the line…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2F6D2D-C88C-1AF2-F681-EA027F507324}"/>
              </a:ext>
            </a:extLst>
          </p:cNvPr>
          <p:cNvSpPr/>
          <p:nvPr/>
        </p:nvSpPr>
        <p:spPr>
          <a:xfrm>
            <a:off x="6343196" y="1661070"/>
            <a:ext cx="4041775" cy="3951288"/>
          </a:xfrm>
          <a:prstGeom prst="rect">
            <a:avLst/>
          </a:prstGeom>
          <a:noFill/>
          <a:ln w="7620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2E3E4C0-5B5E-25B5-0434-7310DD4D8CB0}"/>
              </a:ext>
            </a:extLst>
          </p:cNvPr>
          <p:cNvSpPr txBox="1">
            <a:spLocks/>
          </p:cNvSpPr>
          <p:nvPr/>
        </p:nvSpPr>
        <p:spPr>
          <a:xfrm>
            <a:off x="10254894" y="6071818"/>
            <a:ext cx="587277" cy="27237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3B0580-DF84-9446-904E-939BF4084F75}" type="slidenum">
              <a:rPr lang="en-US" smtClean="0"/>
              <a:pPr/>
              <a:t>4</a:t>
            </a:fld>
            <a:r>
              <a:rPr lang="en-US"/>
              <a:t>/70</a:t>
            </a:r>
            <a:endParaRPr lang="en-US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232E724-69FE-5745-A4D1-614AA0D1C2B6}"/>
              </a:ext>
            </a:extLst>
          </p:cNvPr>
          <p:cNvSpPr txBox="1"/>
          <p:nvPr/>
        </p:nvSpPr>
        <p:spPr>
          <a:xfrm>
            <a:off x="2944291" y="1059915"/>
            <a:ext cx="24623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Experimental</a:t>
            </a:r>
          </a:p>
          <a:p>
            <a:r>
              <a:rPr lang="en-US" sz="1400" dirty="0"/>
              <a:t>(ESTs, cDNAs, RNA-seq)</a:t>
            </a:r>
            <a:endParaRPr lang="en-US" sz="1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4C83C59-8498-B7EF-7EE1-EC40A6601FD1}"/>
              </a:ext>
            </a:extLst>
          </p:cNvPr>
          <p:cNvSpPr txBox="1"/>
          <p:nvPr/>
        </p:nvSpPr>
        <p:spPr>
          <a:xfrm>
            <a:off x="7545952" y="1336913"/>
            <a:ext cx="18931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 err="1"/>
              <a:t>computational</a:t>
            </a:r>
            <a:r>
              <a:rPr lang="fr-FR" sz="1400" dirty="0"/>
              <a:t> </a:t>
            </a:r>
            <a:r>
              <a:rPr lang="fr-FR" sz="1400" dirty="0" err="1"/>
              <a:t>methods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56284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B4E804B-F488-5DE1-FAE3-A055B640CA8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different approaches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8A37211-2D7A-9EF7-6860-DAA87A27FA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641E8-41FB-787A-DDA4-DFB27921BF79}"/>
              </a:ext>
            </a:extLst>
          </p:cNvPr>
          <p:cNvSpPr txBox="1">
            <a:spLocks noChangeArrowheads="1"/>
          </p:cNvSpPr>
          <p:nvPr/>
        </p:nvSpPr>
        <p:spPr>
          <a:xfrm>
            <a:off x="478971" y="444500"/>
            <a:ext cx="11578955" cy="567327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2"/>
                </a:solidFill>
              </a:rPr>
              <a:t>Similarity-based methods :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2"/>
                </a:solidFill>
              </a:rPr>
              <a:t>	</a:t>
            </a:r>
            <a:r>
              <a:rPr lang="en-US" sz="1800" dirty="0">
                <a:solidFill>
                  <a:srgbClr val="000000"/>
                </a:solidFill>
              </a:rPr>
              <a:t>These use similarity to annotated sequences like proteins and transcripts</a:t>
            </a:r>
          </a:p>
          <a:p>
            <a:pPr>
              <a:lnSpc>
                <a:spcPct val="100000"/>
              </a:lnSpc>
            </a:pPr>
            <a:r>
              <a:rPr lang="en-US" i="1" dirty="0">
                <a:solidFill>
                  <a:schemeClr val="accent2"/>
                </a:solidFill>
              </a:rPr>
              <a:t>Ab initio </a:t>
            </a:r>
            <a:r>
              <a:rPr lang="en-US" dirty="0">
                <a:solidFill>
                  <a:schemeClr val="accent2"/>
                </a:solidFill>
              </a:rPr>
              <a:t>prediction :</a:t>
            </a:r>
            <a:r>
              <a:rPr lang="en-US" dirty="0">
                <a:solidFill>
                  <a:schemeClr val="accent2"/>
                </a:solidFill>
                <a:cs typeface="Arial" charset="0"/>
              </a:rPr>
              <a:t> </a:t>
            </a:r>
            <a:r>
              <a:rPr lang="en-US" sz="1800" dirty="0">
                <a:solidFill>
                  <a:schemeClr val="accent2"/>
                </a:solidFill>
                <a:cs typeface="Arial" charset="0"/>
              </a:rPr>
              <a:t>	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2"/>
                </a:solidFill>
                <a:cs typeface="Arial" charset="0"/>
              </a:rPr>
              <a:t>	</a:t>
            </a:r>
            <a:r>
              <a:rPr lang="en-US" sz="1800" dirty="0"/>
              <a:t>Machine learning based methods (probabilistic: Likelihood, Bayesian | deterministic: </a:t>
            </a:r>
            <a:r>
              <a:rPr lang="en-US" sz="1600" dirty="0"/>
              <a:t>Neural networks)</a:t>
            </a:r>
            <a:endParaRPr lang="en-US" sz="1800" dirty="0"/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2"/>
                </a:solidFill>
              </a:rPr>
              <a:t>Hybrid approaches :</a:t>
            </a:r>
            <a:r>
              <a:rPr lang="en-US" dirty="0">
                <a:solidFill>
                  <a:schemeClr val="accent2"/>
                </a:solidFill>
                <a:cs typeface="Arial" charset="0"/>
              </a:rPr>
              <a:t> </a:t>
            </a:r>
            <a:r>
              <a:rPr lang="en-US" sz="1800" dirty="0">
                <a:solidFill>
                  <a:schemeClr val="accent2"/>
                </a:solidFill>
                <a:cs typeface="Arial" charset="0"/>
              </a:rPr>
              <a:t>	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i="1" dirty="0">
                <a:solidFill>
                  <a:schemeClr val="accent2"/>
                </a:solidFill>
                <a:cs typeface="Arial" charset="0"/>
              </a:rPr>
              <a:t>	</a:t>
            </a:r>
            <a:r>
              <a:rPr lang="en-US" i="1" dirty="0"/>
              <a:t>Ab initio </a:t>
            </a:r>
            <a:r>
              <a:rPr lang="en-US" dirty="0"/>
              <a:t>tools with the ability to integrate external evidence/hints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2"/>
                </a:solidFill>
              </a:rPr>
              <a:t>Comparative (homology) based gene finders 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2"/>
                </a:solidFill>
              </a:rPr>
              <a:t>	</a:t>
            </a:r>
            <a:r>
              <a:rPr lang="en-US" sz="1800" dirty="0">
                <a:solidFill>
                  <a:srgbClr val="000000"/>
                </a:solidFill>
              </a:rPr>
              <a:t>These align genomic sequences from different species and use the alignments to guide the gene predictions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2"/>
                </a:solidFill>
              </a:rPr>
              <a:t>Chooser / Combiner :</a:t>
            </a:r>
            <a:r>
              <a:rPr lang="en-US" dirty="0">
                <a:solidFill>
                  <a:schemeClr val="accent2"/>
                </a:solidFill>
                <a:cs typeface="Arial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cs typeface="Arial" charset="0"/>
              </a:rPr>
              <a:t>	</a:t>
            </a:r>
            <a:r>
              <a:rPr lang="fr-FR" sz="1800" dirty="0"/>
              <a:t>Selects </a:t>
            </a:r>
            <a:r>
              <a:rPr lang="fr-FR" sz="1800" dirty="0" err="1"/>
              <a:t>among</a:t>
            </a:r>
            <a:r>
              <a:rPr lang="fr-FR" sz="1800" dirty="0"/>
              <a:t> </a:t>
            </a:r>
            <a:r>
              <a:rPr lang="fr-FR" sz="1800" dirty="0" err="1"/>
              <a:t>existing</a:t>
            </a:r>
            <a:r>
              <a:rPr lang="fr-FR" sz="1800" dirty="0"/>
              <a:t> </a:t>
            </a:r>
            <a:r>
              <a:rPr lang="fr-FR" sz="1800" dirty="0" err="1"/>
              <a:t>predictions</a:t>
            </a:r>
            <a:r>
              <a:rPr lang="fr-FR" sz="1800" dirty="0"/>
              <a:t> </a:t>
            </a:r>
            <a:r>
              <a:rPr lang="fr-FR" sz="1800" dirty="0" err="1"/>
              <a:t>according</a:t>
            </a:r>
            <a:r>
              <a:rPr lang="fr-FR" sz="1800" dirty="0"/>
              <a:t> to </a:t>
            </a:r>
            <a:r>
              <a:rPr lang="fr-FR" sz="1800" dirty="0" err="1"/>
              <a:t>evidence</a:t>
            </a:r>
            <a:r>
              <a:rPr lang="fr-FR" sz="1800" dirty="0"/>
              <a:t> or confidence.</a:t>
            </a:r>
          </a:p>
          <a:p>
            <a:pPr marL="0" indent="0">
              <a:buNone/>
            </a:pPr>
            <a:r>
              <a:rPr lang="fr-FR" sz="1800" dirty="0"/>
              <a:t>	</a:t>
            </a:r>
            <a:r>
              <a:rPr lang="fr-FR" sz="1800" dirty="0" err="1"/>
              <a:t>Constructs</a:t>
            </a:r>
            <a:r>
              <a:rPr lang="fr-FR" sz="1800" dirty="0"/>
              <a:t> consensus </a:t>
            </a:r>
            <a:r>
              <a:rPr lang="fr-FR" sz="1800" dirty="0" err="1"/>
              <a:t>gene</a:t>
            </a:r>
            <a:r>
              <a:rPr lang="fr-FR" sz="1800" dirty="0"/>
              <a:t> </a:t>
            </a:r>
            <a:r>
              <a:rPr lang="fr-FR" sz="1800" dirty="0" err="1"/>
              <a:t>models</a:t>
            </a:r>
            <a:r>
              <a:rPr lang="fr-FR" sz="1800" dirty="0"/>
              <a:t> by </a:t>
            </a:r>
            <a:r>
              <a:rPr lang="fr-FR" sz="1800" dirty="0" err="1"/>
              <a:t>integrating</a:t>
            </a:r>
            <a:r>
              <a:rPr lang="fr-FR" sz="1800" dirty="0"/>
              <a:t> </a:t>
            </a:r>
            <a:r>
              <a:rPr lang="fr-FR" sz="1800" dirty="0" err="1"/>
              <a:t>evidence</a:t>
            </a:r>
            <a:r>
              <a:rPr lang="fr-FR" sz="1800" dirty="0"/>
              <a:t> </a:t>
            </a:r>
            <a:r>
              <a:rPr lang="fr-FR" sz="1800" dirty="0" err="1"/>
              <a:t>from</a:t>
            </a:r>
            <a:r>
              <a:rPr lang="fr-FR" sz="1800" dirty="0"/>
              <a:t> </a:t>
            </a:r>
            <a:r>
              <a:rPr lang="fr-FR" sz="1800" dirty="0" err="1"/>
              <a:t>different</a:t>
            </a:r>
            <a:r>
              <a:rPr lang="fr-FR" sz="1800" dirty="0"/>
              <a:t> sources.</a:t>
            </a:r>
            <a:endParaRPr lang="en-US" sz="1800" dirty="0"/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2"/>
                </a:solidFill>
              </a:rPr>
              <a:t>Pipelines 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2"/>
                </a:solidFill>
              </a:rPr>
              <a:t>	</a:t>
            </a:r>
            <a:r>
              <a:rPr lang="en-US" sz="1800" dirty="0"/>
              <a:t>These combine multiple approaches, can annotate other types of features, work on functional annotation, etc.</a:t>
            </a:r>
          </a:p>
        </p:txBody>
      </p:sp>
    </p:spTree>
    <p:extLst>
      <p:ext uri="{BB962C8B-B14F-4D97-AF65-F5344CB8AC3E}">
        <p14:creationId xmlns:p14="http://schemas.microsoft.com/office/powerpoint/2010/main" val="2463702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8D031FF-174C-03ED-1BAC-9228C56B8F2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Types data used vs methods - the main lines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5CEC794-2E97-1A83-9930-4698078AAC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21861" y="6548341"/>
            <a:ext cx="854119" cy="309659"/>
          </a:xfrm>
        </p:spPr>
        <p:txBody>
          <a:bodyPr/>
          <a:lstStyle/>
          <a:p>
            <a:fld id="{CE8079A4-7AA8-4A4F-87E2-7781EC5097D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3BD231-21FE-0772-2B38-786CE2081154}"/>
              </a:ext>
            </a:extLst>
          </p:cNvPr>
          <p:cNvSpPr txBox="1">
            <a:spLocks/>
          </p:cNvSpPr>
          <p:nvPr/>
        </p:nvSpPr>
        <p:spPr bwMode="auto">
          <a:xfrm>
            <a:off x="4723789" y="1308134"/>
            <a:ext cx="2329084" cy="67096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Calibri" charset="0"/>
                <a:ea typeface="MS PGothic" charset="0"/>
              </a:rPr>
              <a:t>Known amino acid sequences from other organisms</a:t>
            </a:r>
          </a:p>
          <a:p>
            <a:endParaRPr lang="en-US" sz="1600" dirty="0">
              <a:latin typeface="Calibri" charset="0"/>
              <a:ea typeface="MS PGothic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456B94-E7B7-0603-0299-EFAA052FF6F5}"/>
              </a:ext>
            </a:extLst>
          </p:cNvPr>
          <p:cNvSpPr txBox="1">
            <a:spLocks/>
          </p:cNvSpPr>
          <p:nvPr/>
        </p:nvSpPr>
        <p:spPr bwMode="auto">
          <a:xfrm>
            <a:off x="2127460" y="1391728"/>
            <a:ext cx="2480411" cy="5869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74B3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charset="0"/>
                <a:ea typeface="MS PGothic" charset="0"/>
              </a:rPr>
              <a:t>Assembled from RNA-</a:t>
            </a:r>
            <a:r>
              <a:rPr lang="en-US" sz="1400" dirty="0" err="1">
                <a:solidFill>
                  <a:schemeClr val="tx1"/>
                </a:solidFill>
                <a:latin typeface="Calibri" charset="0"/>
                <a:ea typeface="MS PGothic" charset="0"/>
              </a:rPr>
              <a:t>seq</a:t>
            </a:r>
            <a:r>
              <a:rPr lang="en-US" sz="1400" dirty="0">
                <a:solidFill>
                  <a:schemeClr val="tx1"/>
                </a:solidFill>
                <a:latin typeface="Calibri" charset="0"/>
                <a:ea typeface="MS PGothic" charset="0"/>
              </a:rPr>
              <a:t> or downloaded ESTs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CF0AF719-E764-A32F-C879-CD7078F00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0995" y="911193"/>
            <a:ext cx="10492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000" dirty="0"/>
              <a:t>Proteins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AEBEB926-8089-B05C-4083-2AC1AB8FA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031" y="974203"/>
            <a:ext cx="13346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000" dirty="0"/>
              <a:t>Transcripts</a:t>
            </a: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7950303A-0B8B-5CBD-4947-2FFE1B53A55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276" y="1931272"/>
            <a:ext cx="1767972" cy="1849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4">
            <a:extLst>
              <a:ext uri="{FF2B5EF4-FFF2-40B4-BE49-F238E27FC236}">
                <a16:creationId xmlns:a16="http://schemas.microsoft.com/office/drawing/2014/main" id="{9FE6AC5A-16B7-D077-067F-CD3CE5CDF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0912" y="958125"/>
            <a:ext cx="13324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000"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nb-NO" dirty="0"/>
              <a:t>ML </a:t>
            </a:r>
            <a:r>
              <a:rPr lang="nb-NO" dirty="0" err="1"/>
              <a:t>models</a:t>
            </a:r>
            <a:endParaRPr lang="en-US" dirty="0"/>
          </a:p>
        </p:txBody>
      </p:sp>
      <p:pic>
        <p:nvPicPr>
          <p:cNvPr id="13" name="Picture 2" descr="Transcription+The+new+mRNA+molecule+is+formed+by+incorporating+nucleotides+that+are+complementary+to+the+template+strand..jpg">
            <a:extLst>
              <a:ext uri="{FF2B5EF4-FFF2-40B4-BE49-F238E27FC236}">
                <a16:creationId xmlns:a16="http://schemas.microsoft.com/office/drawing/2014/main" id="{EB9A0BAB-3E1E-9385-48B2-F39806981A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4" t="29979" r="4536"/>
          <a:stretch/>
        </p:blipFill>
        <p:spPr>
          <a:xfrm>
            <a:off x="2193192" y="2116849"/>
            <a:ext cx="2075179" cy="1327211"/>
          </a:xfrm>
          <a:prstGeom prst="rect">
            <a:avLst/>
          </a:prstGeom>
        </p:spPr>
      </p:pic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B9722DBC-6B9D-FF07-7F31-AC3E99784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083841"/>
              </p:ext>
            </p:extLst>
          </p:nvPr>
        </p:nvGraphicFramePr>
        <p:xfrm>
          <a:off x="116022" y="3823818"/>
          <a:ext cx="11959955" cy="21945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09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9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34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9618">
                  <a:extLst>
                    <a:ext uri="{9D8B030D-6E8A-4147-A177-3AD203B41FA5}">
                      <a16:colId xmlns:a16="http://schemas.microsoft.com/office/drawing/2014/main" val="600584175"/>
                    </a:ext>
                  </a:extLst>
                </a:gridCol>
              </a:tblGrid>
              <a:tr h="31644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44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Comparative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44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Pure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a</a:t>
                      </a:r>
                      <a:r>
                        <a:rPr lang="en-US" dirty="0" err="1"/>
                        <a:t>b</a:t>
                      </a:r>
                      <a:r>
                        <a:rPr lang="en-US" dirty="0"/>
                        <a:t> initio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443">
                <a:tc>
                  <a:txBody>
                    <a:bodyPr/>
                    <a:lstStyle/>
                    <a:p>
                      <a:r>
                        <a:rPr lang="en-US" dirty="0"/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44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Chooser/Combiner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6" name="Straight Connector 19">
            <a:extLst>
              <a:ext uri="{FF2B5EF4-FFF2-40B4-BE49-F238E27FC236}">
                <a16:creationId xmlns:a16="http://schemas.microsoft.com/office/drawing/2014/main" id="{6074D67E-5FE9-0B99-5CE0-4772EB16DF33}"/>
              </a:ext>
            </a:extLst>
          </p:cNvPr>
          <p:cNvCxnSpPr/>
          <p:nvPr/>
        </p:nvCxnSpPr>
        <p:spPr>
          <a:xfrm>
            <a:off x="4505540" y="1086911"/>
            <a:ext cx="0" cy="2732154"/>
          </a:xfrm>
          <a:prstGeom prst="line">
            <a:avLst/>
          </a:prstGeom>
          <a:ln w="12700">
            <a:solidFill>
              <a:srgbClr val="6892A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TextBox 25">
            <a:extLst>
              <a:ext uri="{FF2B5EF4-FFF2-40B4-BE49-F238E27FC236}">
                <a16:creationId xmlns:a16="http://schemas.microsoft.com/office/drawing/2014/main" id="{74173552-D8EA-E1CB-7212-3BDFDB0E63BE}"/>
              </a:ext>
            </a:extLst>
          </p:cNvPr>
          <p:cNvSpPr txBox="1"/>
          <p:nvPr/>
        </p:nvSpPr>
        <p:spPr>
          <a:xfrm>
            <a:off x="41012" y="1904758"/>
            <a:ext cx="2291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Annotation approach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59836F8E-6DF2-C48A-F5C5-DF06B1394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0539" y="1713023"/>
            <a:ext cx="1290131" cy="606645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32F0475-CAD2-1B05-A40F-A88B13DEFBA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2412" t="16710" r="4047" b="14622"/>
          <a:stretch/>
        </p:blipFill>
        <p:spPr>
          <a:xfrm>
            <a:off x="10319726" y="2945305"/>
            <a:ext cx="1290621" cy="710586"/>
          </a:xfrm>
          <a:prstGeom prst="rect">
            <a:avLst/>
          </a:prstGeom>
        </p:spPr>
      </p:pic>
      <p:sp>
        <p:nvSpPr>
          <p:cNvPr id="27" name="TextBox 4">
            <a:extLst>
              <a:ext uri="{FF2B5EF4-FFF2-40B4-BE49-F238E27FC236}">
                <a16:creationId xmlns:a16="http://schemas.microsoft.com/office/drawing/2014/main" id="{FB3BBC7B-CD29-A8D0-FBA4-B3315D15D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717" y="952148"/>
            <a:ext cx="11785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000"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nb-NO" dirty="0" err="1"/>
              <a:t>Genomes</a:t>
            </a:r>
            <a:endParaRPr lang="en-US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0CD513A-55B5-821C-4B01-640F04ECA51F}"/>
              </a:ext>
            </a:extLst>
          </p:cNvPr>
          <p:cNvSpPr txBox="1"/>
          <p:nvPr/>
        </p:nvSpPr>
        <p:spPr>
          <a:xfrm>
            <a:off x="7298299" y="1358235"/>
            <a:ext cx="24804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Calibri" charset="0"/>
                <a:ea typeface="MS PGothic" charset="0"/>
              </a:rPr>
              <a:t>Genome from close related species</a:t>
            </a:r>
          </a:p>
        </p:txBody>
      </p:sp>
      <p:cxnSp>
        <p:nvCxnSpPr>
          <p:cNvPr id="32" name="Straight Connector 19">
            <a:extLst>
              <a:ext uri="{FF2B5EF4-FFF2-40B4-BE49-F238E27FC236}">
                <a16:creationId xmlns:a16="http://schemas.microsoft.com/office/drawing/2014/main" id="{0D9A0DB3-D4D2-7F14-EC93-E33591B39332}"/>
              </a:ext>
            </a:extLst>
          </p:cNvPr>
          <p:cNvCxnSpPr/>
          <p:nvPr/>
        </p:nvCxnSpPr>
        <p:spPr>
          <a:xfrm>
            <a:off x="7078923" y="1086911"/>
            <a:ext cx="0" cy="2732154"/>
          </a:xfrm>
          <a:prstGeom prst="line">
            <a:avLst/>
          </a:prstGeom>
          <a:ln w="12700">
            <a:solidFill>
              <a:srgbClr val="6892A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3" name="Straight Connector 19">
            <a:extLst>
              <a:ext uri="{FF2B5EF4-FFF2-40B4-BE49-F238E27FC236}">
                <a16:creationId xmlns:a16="http://schemas.microsoft.com/office/drawing/2014/main" id="{239F5E44-9292-1D58-5A8E-9F2B0D98EEF2}"/>
              </a:ext>
            </a:extLst>
          </p:cNvPr>
          <p:cNvCxnSpPr>
            <a:cxnSpLocks/>
          </p:cNvCxnSpPr>
          <p:nvPr/>
        </p:nvCxnSpPr>
        <p:spPr>
          <a:xfrm>
            <a:off x="9591346" y="599225"/>
            <a:ext cx="0" cy="5419153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" descr="wga.jpg">
            <a:extLst>
              <a:ext uri="{FF2B5EF4-FFF2-40B4-BE49-F238E27FC236}">
                <a16:creationId xmlns:a16="http://schemas.microsoft.com/office/drawing/2014/main" id="{CC9A9EE4-5C48-78C4-7B31-B26510870DD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9" t="6297" r="37421" b="17395"/>
          <a:stretch/>
        </p:blipFill>
        <p:spPr>
          <a:xfrm>
            <a:off x="8089704" y="1866540"/>
            <a:ext cx="706578" cy="179215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57C7B1EA-3DEA-A7AD-C6EC-DD11BBB81602}"/>
              </a:ext>
            </a:extLst>
          </p:cNvPr>
          <p:cNvSpPr/>
          <p:nvPr/>
        </p:nvSpPr>
        <p:spPr>
          <a:xfrm>
            <a:off x="9984176" y="528830"/>
            <a:ext cx="1162498" cy="430439"/>
          </a:xfrm>
          <a:prstGeom prst="rect">
            <a:avLst/>
          </a:prstGeom>
        </p:spPr>
        <p:txBody>
          <a:bodyPr/>
          <a:lstStyle/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US" sz="20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Intrinsic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E88555-D655-F00E-5C09-F922D369DC48}"/>
              </a:ext>
            </a:extLst>
          </p:cNvPr>
          <p:cNvSpPr/>
          <p:nvPr/>
        </p:nvSpPr>
        <p:spPr>
          <a:xfrm>
            <a:off x="5393015" y="487500"/>
            <a:ext cx="1303562" cy="430439"/>
          </a:xfrm>
          <a:prstGeom prst="rect">
            <a:avLst/>
          </a:prstGeom>
        </p:spPr>
        <p:txBody>
          <a:bodyPr/>
          <a:lstStyle/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Extrinsic </a:t>
            </a:r>
          </a:p>
        </p:txBody>
      </p:sp>
      <p:cxnSp>
        <p:nvCxnSpPr>
          <p:cNvPr id="38" name="Straight Connector 19">
            <a:extLst>
              <a:ext uri="{FF2B5EF4-FFF2-40B4-BE49-F238E27FC236}">
                <a16:creationId xmlns:a16="http://schemas.microsoft.com/office/drawing/2014/main" id="{B2874562-AE6F-0CBE-8389-4ACE5C694A98}"/>
              </a:ext>
            </a:extLst>
          </p:cNvPr>
          <p:cNvCxnSpPr>
            <a:cxnSpLocks/>
          </p:cNvCxnSpPr>
          <p:nvPr/>
        </p:nvCxnSpPr>
        <p:spPr>
          <a:xfrm>
            <a:off x="2125677" y="964022"/>
            <a:ext cx="9969858" cy="1018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19">
            <a:extLst>
              <a:ext uri="{FF2B5EF4-FFF2-40B4-BE49-F238E27FC236}">
                <a16:creationId xmlns:a16="http://schemas.microsoft.com/office/drawing/2014/main" id="{FCB139B1-442B-630E-9035-9B5E4F6DC1D1}"/>
              </a:ext>
            </a:extLst>
          </p:cNvPr>
          <p:cNvCxnSpPr>
            <a:cxnSpLocks/>
          </p:cNvCxnSpPr>
          <p:nvPr/>
        </p:nvCxnSpPr>
        <p:spPr>
          <a:xfrm>
            <a:off x="2125677" y="599224"/>
            <a:ext cx="0" cy="5419153"/>
          </a:xfrm>
          <a:prstGeom prst="line">
            <a:avLst/>
          </a:prstGeom>
          <a:ln w="381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10A95481-0A35-8C26-D955-F62A62E13CD2}"/>
              </a:ext>
            </a:extLst>
          </p:cNvPr>
          <p:cNvSpPr txBox="1"/>
          <p:nvPr/>
        </p:nvSpPr>
        <p:spPr>
          <a:xfrm>
            <a:off x="9711595" y="2465818"/>
            <a:ext cx="23357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400">
                <a:latin typeface="Calibri" charset="0"/>
                <a:ea typeface="MS PGothic" charset="0"/>
              </a:defRPr>
            </a:lvl1pPr>
          </a:lstStyle>
          <a:p>
            <a:r>
              <a:rPr lang="en-US" dirty="0"/>
              <a:t>deterministic (CNN, RNN </a:t>
            </a:r>
            <a:r>
              <a:rPr lang="en-US" dirty="0" err="1"/>
              <a:t>i.e</a:t>
            </a:r>
            <a:r>
              <a:rPr lang="en-US" dirty="0"/>
              <a:t> deep learning )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24F49124-7C6E-47A5-9750-6E855B038432}"/>
              </a:ext>
            </a:extLst>
          </p:cNvPr>
          <p:cNvSpPr txBox="1"/>
          <p:nvPr/>
        </p:nvSpPr>
        <p:spPr>
          <a:xfrm>
            <a:off x="9778705" y="1368622"/>
            <a:ext cx="2325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400">
                <a:latin typeface="Calibri" charset="0"/>
                <a:ea typeface="MS PGothic" charset="0"/>
              </a:defRPr>
            </a:lvl1pPr>
          </a:lstStyle>
          <a:p>
            <a:r>
              <a:rPr lang="en-US" dirty="0"/>
              <a:t>probabilistic (HMM, GHMM)</a:t>
            </a:r>
          </a:p>
        </p:txBody>
      </p:sp>
    </p:spTree>
    <p:extLst>
      <p:ext uri="{BB962C8B-B14F-4D97-AF65-F5344CB8AC3E}">
        <p14:creationId xmlns:p14="http://schemas.microsoft.com/office/powerpoint/2010/main" val="2184865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FB68D1-6116-5C50-413E-5680C71A5E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027A6-AA9B-54AE-FD81-EB0830132941}"/>
              </a:ext>
            </a:extLst>
          </p:cNvPr>
          <p:cNvSpPr/>
          <p:nvPr/>
        </p:nvSpPr>
        <p:spPr>
          <a:xfrm>
            <a:off x="1045029" y="1628737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Extrinsic approaches</a:t>
            </a: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Similarity-based methods </a:t>
            </a:r>
            <a:endParaRPr lang="en-US" sz="3600" b="1" dirty="0">
              <a:solidFill>
                <a:srgbClr val="00000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8A37187-0515-D0DF-19D9-A3D8B91FCB80}"/>
              </a:ext>
            </a:extLst>
          </p:cNvPr>
          <p:cNvSpPr txBox="1"/>
          <p:nvPr/>
        </p:nvSpPr>
        <p:spPr>
          <a:xfrm>
            <a:off x="2347274" y="3704434"/>
            <a:ext cx="6801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These use similarity to annotated sequences like </a:t>
            </a:r>
            <a:r>
              <a:rPr lang="en-US" sz="2000" dirty="0">
                <a:solidFill>
                  <a:srgbClr val="000000"/>
                </a:solidFill>
              </a:rPr>
              <a:t>	</a:t>
            </a:r>
          </a:p>
          <a:p>
            <a:pPr lvl="6"/>
            <a:r>
              <a:rPr lang="en-US" sz="2400" dirty="0">
                <a:solidFill>
                  <a:srgbClr val="000000"/>
                </a:solidFill>
              </a:rPr>
              <a:t>Proteins</a:t>
            </a:r>
          </a:p>
          <a:p>
            <a:pPr lvl="6"/>
            <a:r>
              <a:rPr lang="en-US" sz="2400" dirty="0">
                <a:solidFill>
                  <a:srgbClr val="000000"/>
                </a:solidFill>
              </a:rPr>
              <a:t>Transcripts</a:t>
            </a:r>
          </a:p>
          <a:p>
            <a:pPr lvl="6"/>
            <a:r>
              <a:rPr lang="en-US" sz="2400" dirty="0">
                <a:solidFill>
                  <a:srgbClr val="000000"/>
                </a:solidFill>
              </a:rPr>
              <a:t>ESTs</a:t>
            </a:r>
          </a:p>
        </p:txBody>
      </p:sp>
    </p:spTree>
    <p:extLst>
      <p:ext uri="{BB962C8B-B14F-4D97-AF65-F5344CB8AC3E}">
        <p14:creationId xmlns:p14="http://schemas.microsoft.com/office/powerpoint/2010/main" val="531138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713EC4C-8AE0-8F58-D2BC-A087ECBE999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Similarity-based method: Protein data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E4CBD26-832B-B36E-1308-1118BDFAD5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9929B9-739D-B3FA-C421-8CDA3501BC57}"/>
              </a:ext>
            </a:extLst>
          </p:cNvPr>
          <p:cNvSpPr txBox="1">
            <a:spLocks/>
          </p:cNvSpPr>
          <p:nvPr/>
        </p:nvSpPr>
        <p:spPr>
          <a:xfrm>
            <a:off x="217928" y="1294518"/>
            <a:ext cx="7392450" cy="34471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charset="0"/>
                <a:ea typeface="MS PGothic" charset="0"/>
              </a:rPr>
              <a:t>Conserved in sequence =&gt; conserved annotation with little noise</a:t>
            </a:r>
          </a:p>
        </p:txBody>
      </p:sp>
      <p:pic>
        <p:nvPicPr>
          <p:cNvPr id="5" name="Picture 6" descr="Screen Shot 2018-02-28 at 17.17.00.png">
            <a:extLst>
              <a:ext uri="{FF2B5EF4-FFF2-40B4-BE49-F238E27FC236}">
                <a16:creationId xmlns:a16="http://schemas.microsoft.com/office/drawing/2014/main" id="{3D91C3D8-42A8-AE5F-E0B5-3571161F0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6860"/>
          <a:stretch>
            <a:fillRect/>
          </a:stretch>
        </p:blipFill>
        <p:spPr>
          <a:xfrm>
            <a:off x="217928" y="1725161"/>
            <a:ext cx="7320154" cy="349361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3AC561A-DE6B-C458-3CDF-0B3D7E3F5AC4}"/>
              </a:ext>
            </a:extLst>
          </p:cNvPr>
          <p:cNvSpPr txBox="1"/>
          <p:nvPr/>
        </p:nvSpPr>
        <p:spPr>
          <a:xfrm>
            <a:off x="97970" y="594343"/>
            <a:ext cx="7284137" cy="34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80000"/>
              </a:lnSpc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Evidence sequences (protein, est, etc.) are aligned to the genome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63498A4-88A7-A299-A421-9823589400ED}"/>
              </a:ext>
            </a:extLst>
          </p:cNvPr>
          <p:cNvSpPr txBox="1"/>
          <p:nvPr/>
        </p:nvSpPr>
        <p:spPr>
          <a:xfrm>
            <a:off x="7850459" y="2561652"/>
            <a:ext cx="4123613" cy="1820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Limits :</a:t>
            </a:r>
          </a:p>
          <a:p>
            <a:pPr marL="457200" lvl="1" indent="0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sz="2000" b="1" dirty="0"/>
          </a:p>
          <a:p>
            <a:pPr marL="800100" lvl="1" indent="-342900">
              <a:lnSpc>
                <a:spcPct val="80000"/>
              </a:lnSpc>
              <a:buFontTx/>
              <a:buChar char="-"/>
            </a:pPr>
            <a:r>
              <a:rPr lang="en-US" sz="2000" dirty="0"/>
              <a:t>Related to pre-existing data</a:t>
            </a:r>
          </a:p>
          <a:p>
            <a:pPr marL="800100" lvl="1" indent="-342900">
              <a:lnSpc>
                <a:spcPct val="80000"/>
              </a:lnSpc>
              <a:buFontTx/>
              <a:buChar char="-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Data from model organisms often used =&gt; bias?</a:t>
            </a:r>
          </a:p>
          <a:p>
            <a:pPr marL="800100" lvl="1" indent="-342900">
              <a:lnSpc>
                <a:spcPct val="80000"/>
              </a:lnSpc>
              <a:buFontTx/>
              <a:buChar char="-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Data can be incomplete</a:t>
            </a:r>
          </a:p>
          <a:p>
            <a:pPr marL="800100" lvl="1" indent="-342900">
              <a:lnSpc>
                <a:spcPct val="80000"/>
              </a:lnSpc>
              <a:buFontTx/>
              <a:buChar char="-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Data can be wrong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256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FB68D1-6116-5C50-413E-5680C71A5E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027A6-AA9B-54AE-FD81-EB0830132941}"/>
              </a:ext>
            </a:extLst>
          </p:cNvPr>
          <p:cNvSpPr/>
          <p:nvPr/>
        </p:nvSpPr>
        <p:spPr>
          <a:xfrm>
            <a:off x="1045029" y="1628737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Extrinsic approaches</a:t>
            </a: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Comparative methods </a:t>
            </a:r>
            <a:endParaRPr lang="en-US" sz="36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13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C375D02-E5FA-336C-906C-42F56A743C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859A1265-2E2B-713C-F9BC-F883F86D02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Comparative-based method (projection tools)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E174E4B-24DB-0D12-0D89-3202D38E02CF}"/>
              </a:ext>
            </a:extLst>
          </p:cNvPr>
          <p:cNvSpPr txBox="1"/>
          <p:nvPr/>
        </p:nvSpPr>
        <p:spPr>
          <a:xfrm>
            <a:off x="2500035" y="813832"/>
            <a:ext cx="8964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Tools that use </a:t>
            </a:r>
            <a:r>
              <a:rPr lang="en-GB" b="1" dirty="0"/>
              <a:t>whole-genome alignments </a:t>
            </a:r>
            <a:r>
              <a:rPr lang="en-GB" dirty="0"/>
              <a:t>between closely related species.</a:t>
            </a:r>
          </a:p>
          <a:p>
            <a:r>
              <a:rPr lang="en-GB" dirty="0"/>
              <a:t>Transfer gene models based on conserved synteny, gene structure, and alignment blocks.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5CD95DF-A829-5ADE-B61F-D06968AA1F83}"/>
              </a:ext>
            </a:extLst>
          </p:cNvPr>
          <p:cNvSpPr txBox="1"/>
          <p:nvPr/>
        </p:nvSpPr>
        <p:spPr>
          <a:xfrm>
            <a:off x="5155409" y="4901574"/>
            <a:ext cx="50256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Popular</a:t>
            </a:r>
            <a:r>
              <a:rPr lang="fr-FR" b="1" dirty="0"/>
              <a:t> </a:t>
            </a:r>
            <a:r>
              <a:rPr lang="fr-FR" b="1" dirty="0" err="1"/>
              <a:t>tools</a:t>
            </a:r>
            <a:endParaRPr lang="fr-FR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/>
              <a:t> Kraken (not the </a:t>
            </a:r>
            <a:r>
              <a:rPr lang="fr-FR" b="1" dirty="0" err="1"/>
              <a:t>kmer</a:t>
            </a:r>
            <a:r>
              <a:rPr lang="fr-FR" b="1" dirty="0"/>
              <a:t> </a:t>
            </a:r>
            <a:r>
              <a:rPr lang="fr-FR" b="1" dirty="0" err="1"/>
              <a:t>tool</a:t>
            </a:r>
            <a:r>
              <a:rPr lang="fr-FR" b="1" dirty="0"/>
              <a:t> one)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/>
              <a:t> </a:t>
            </a:r>
            <a:r>
              <a:rPr lang="fr-FR" b="1" dirty="0" err="1"/>
              <a:t>TransMap</a:t>
            </a:r>
            <a:r>
              <a:rPr lang="fr-FR" b="1" dirty="0"/>
              <a:t> (UCSC)</a:t>
            </a:r>
            <a:endParaRPr lang="fr-FR" dirty="0"/>
          </a:p>
        </p:txBody>
      </p:sp>
      <p:pic>
        <p:nvPicPr>
          <p:cNvPr id="17" name="Picture 3" descr="wga.jpg">
            <a:extLst>
              <a:ext uri="{FF2B5EF4-FFF2-40B4-BE49-F238E27FC236}">
                <a16:creationId xmlns:a16="http://schemas.microsoft.com/office/drawing/2014/main" id="{73E56C1F-3287-2DE9-557E-D30B54F207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9" t="6297" r="37421" b="17395"/>
          <a:stretch/>
        </p:blipFill>
        <p:spPr>
          <a:xfrm>
            <a:off x="732494" y="1735908"/>
            <a:ext cx="1096067" cy="278004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F68E8F44-9A97-746E-7075-135432E2E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064" y="1949887"/>
            <a:ext cx="6867862" cy="2757357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A81C650F-4F5D-606E-25BB-C12E704BD262}"/>
              </a:ext>
            </a:extLst>
          </p:cNvPr>
          <p:cNvSpPr txBox="1"/>
          <p:nvPr/>
        </p:nvSpPr>
        <p:spPr>
          <a:xfrm>
            <a:off x="732494" y="4769166"/>
            <a:ext cx="112074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LASTZ</a:t>
            </a:r>
          </a:p>
          <a:p>
            <a:r>
              <a:rPr lang="fr-FR" sz="1400" dirty="0" err="1">
                <a:solidFill>
                  <a:srgbClr val="1B1B1B"/>
                </a:solidFill>
                <a:latin typeface="Cambria" panose="02040503050406030204" pitchFamily="18" charset="0"/>
              </a:rPr>
              <a:t>Mummer</a:t>
            </a:r>
            <a:endParaRPr lang="fr-FR" sz="1400" dirty="0">
              <a:solidFill>
                <a:srgbClr val="1B1B1B"/>
              </a:solidFill>
              <a:latin typeface="Cambria" panose="02040503050406030204" pitchFamily="18" charset="0"/>
            </a:endParaRPr>
          </a:p>
          <a:p>
            <a:r>
              <a:rPr lang="fr-FR" sz="1400" dirty="0" err="1">
                <a:solidFill>
                  <a:srgbClr val="1B1B1B"/>
                </a:solidFill>
                <a:latin typeface="Cambria" panose="02040503050406030204" pitchFamily="18" charset="0"/>
              </a:rPr>
              <a:t>Satsuma</a:t>
            </a:r>
            <a:endParaRPr lang="fr-FR" sz="1400" dirty="0">
              <a:solidFill>
                <a:srgbClr val="1B1B1B"/>
              </a:solidFill>
              <a:latin typeface="Cambria" panose="02040503050406030204" pitchFamily="18" charset="0"/>
            </a:endParaRPr>
          </a:p>
          <a:p>
            <a:r>
              <a:rPr lang="fr-FR" sz="1400" dirty="0" err="1">
                <a:solidFill>
                  <a:srgbClr val="1B1B1B"/>
                </a:solidFill>
                <a:latin typeface="Cambria" panose="02040503050406030204" pitchFamily="18" charset="0"/>
              </a:rPr>
              <a:t>SynMap</a:t>
            </a:r>
            <a:endParaRPr lang="fr-FR" sz="1400" dirty="0">
              <a:solidFill>
                <a:srgbClr val="1B1B1B"/>
              </a:solidFill>
              <a:latin typeface="Cambria" panose="02040503050406030204" pitchFamily="18" charset="0"/>
            </a:endParaRPr>
          </a:p>
          <a:p>
            <a:r>
              <a:rPr lang="fr-FR" sz="1400" dirty="0">
                <a:solidFill>
                  <a:srgbClr val="1B1B1B"/>
                </a:solidFill>
                <a:latin typeface="Cambria" panose="02040503050406030204" pitchFamily="18" charset="0"/>
              </a:rPr>
              <a:t>Pecan</a:t>
            </a:r>
          </a:p>
          <a:p>
            <a:r>
              <a:rPr lang="fr-FR" sz="1400" dirty="0">
                <a:solidFill>
                  <a:srgbClr val="1B1B1B"/>
                </a:solidFill>
                <a:latin typeface="Cambria" panose="02040503050406030204" pitchFamily="18" charset="0"/>
              </a:rPr>
              <a:t>HAL</a:t>
            </a:r>
            <a:endParaRPr lang="en-GB" sz="1400" dirty="0"/>
          </a:p>
        </p:txBody>
      </p:sp>
      <p:sp>
        <p:nvSpPr>
          <p:cNvPr id="21" name="Accolade fermante 20">
            <a:extLst>
              <a:ext uri="{FF2B5EF4-FFF2-40B4-BE49-F238E27FC236}">
                <a16:creationId xmlns:a16="http://schemas.microsoft.com/office/drawing/2014/main" id="{8E11DC88-D0AC-9500-443E-F35A81616A4A}"/>
              </a:ext>
            </a:extLst>
          </p:cNvPr>
          <p:cNvSpPr/>
          <p:nvPr/>
        </p:nvSpPr>
        <p:spPr>
          <a:xfrm>
            <a:off x="1620620" y="4769166"/>
            <a:ext cx="140621" cy="88862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ccolade fermante 21">
            <a:extLst>
              <a:ext uri="{FF2B5EF4-FFF2-40B4-BE49-F238E27FC236}">
                <a16:creationId xmlns:a16="http://schemas.microsoft.com/office/drawing/2014/main" id="{9A6E76E9-09E1-75EC-4719-3510545D507F}"/>
              </a:ext>
            </a:extLst>
          </p:cNvPr>
          <p:cNvSpPr/>
          <p:nvPr/>
        </p:nvSpPr>
        <p:spPr>
          <a:xfrm>
            <a:off x="1620619" y="5730825"/>
            <a:ext cx="140621" cy="3133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CC5E80B-595C-FAB7-1559-15398B6D9A90}"/>
              </a:ext>
            </a:extLst>
          </p:cNvPr>
          <p:cNvSpPr txBox="1"/>
          <p:nvPr/>
        </p:nvSpPr>
        <p:spPr>
          <a:xfrm>
            <a:off x="1853234" y="5055462"/>
            <a:ext cx="21814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 err="1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chained</a:t>
            </a:r>
            <a:r>
              <a:rPr lang="fr-FR" sz="1400" b="0" i="0" u="none" strike="noStrike" dirty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 </a:t>
            </a:r>
            <a:r>
              <a:rPr lang="fr-FR" sz="1400" b="0" i="0" u="none" strike="noStrike" dirty="0" err="1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alignments</a:t>
            </a:r>
            <a:endParaRPr lang="en-GB" sz="14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0726D16-BB5C-F09B-57CC-1952DE8BE037}"/>
              </a:ext>
            </a:extLst>
          </p:cNvPr>
          <p:cNvSpPr txBox="1"/>
          <p:nvPr/>
        </p:nvSpPr>
        <p:spPr>
          <a:xfrm>
            <a:off x="1853233" y="5712245"/>
            <a:ext cx="21814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graph </a:t>
            </a:r>
            <a:r>
              <a:rPr lang="fr-FR" sz="1400" b="0" i="0" u="none" strike="noStrike" dirty="0" err="1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alignments</a:t>
            </a:r>
            <a:endParaRPr lang="en-GB" sz="1400" dirty="0"/>
          </a:p>
        </p:txBody>
      </p:sp>
      <p:sp>
        <p:nvSpPr>
          <p:cNvPr id="26" name="Flèche vers la droite 25">
            <a:extLst>
              <a:ext uri="{FF2B5EF4-FFF2-40B4-BE49-F238E27FC236}">
                <a16:creationId xmlns:a16="http://schemas.microsoft.com/office/drawing/2014/main" id="{7E77714B-2E94-2481-FB4F-D32A0530D315}"/>
              </a:ext>
            </a:extLst>
          </p:cNvPr>
          <p:cNvSpPr/>
          <p:nvPr/>
        </p:nvSpPr>
        <p:spPr>
          <a:xfrm>
            <a:off x="3327659" y="2814752"/>
            <a:ext cx="707011" cy="886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992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C375D02-E5FA-336C-906C-42F56A743C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859A1265-2E2B-713C-F9BC-F883F86D02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Comparative-based method (projection tools)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E174E4B-24DB-0D12-0D89-3202D38E02CF}"/>
              </a:ext>
            </a:extLst>
          </p:cNvPr>
          <p:cNvSpPr txBox="1"/>
          <p:nvPr/>
        </p:nvSpPr>
        <p:spPr>
          <a:xfrm>
            <a:off x="2500035" y="813832"/>
            <a:ext cx="8964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Tools that use </a:t>
            </a:r>
            <a:r>
              <a:rPr lang="en-GB" b="1" dirty="0"/>
              <a:t>local alignments</a:t>
            </a:r>
            <a:r>
              <a:rPr lang="en-GB" dirty="0"/>
              <a:t> between species.</a:t>
            </a:r>
          </a:p>
          <a:p>
            <a:r>
              <a:rPr lang="en-GB" dirty="0"/>
              <a:t>Transfer gene models based on gene alignment.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68E8F44-9A97-746E-7075-135432E2E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966" y="1955188"/>
            <a:ext cx="4102721" cy="164718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CABEE07-8505-C27A-56D0-987B4A90F50A}"/>
              </a:ext>
            </a:extLst>
          </p:cNvPr>
          <p:cNvSpPr txBox="1"/>
          <p:nvPr/>
        </p:nvSpPr>
        <p:spPr>
          <a:xfrm>
            <a:off x="2634673" y="2931116"/>
            <a:ext cx="2244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Popular tools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3F7694D-A0F6-710F-D874-9F5ED11D29B6}"/>
              </a:ext>
            </a:extLst>
          </p:cNvPr>
          <p:cNvSpPr txBox="1"/>
          <p:nvPr/>
        </p:nvSpPr>
        <p:spPr>
          <a:xfrm>
            <a:off x="5263679" y="3392781"/>
            <a:ext cx="1150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err="1">
                <a:solidFill>
                  <a:schemeClr val="accent1"/>
                </a:solidFill>
              </a:rPr>
              <a:t>LiftOn</a:t>
            </a:r>
            <a:r>
              <a:rPr lang="en-GB" sz="20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291305E-A279-F8CA-DDD9-682F1DFDBA97}"/>
              </a:ext>
            </a:extLst>
          </p:cNvPr>
          <p:cNvSpPr txBox="1"/>
          <p:nvPr/>
        </p:nvSpPr>
        <p:spPr>
          <a:xfrm>
            <a:off x="5441195" y="5550757"/>
            <a:ext cx="1084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1D4872"/>
                </a:solidFill>
              </a:rPr>
              <a:t>Miniprot</a:t>
            </a:r>
            <a:endParaRPr lang="en-GB" sz="1600" dirty="0">
              <a:solidFill>
                <a:srgbClr val="1D4872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F0D0BB9-F842-E2CE-50CA-CB6B6B6BB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679" y="4525544"/>
            <a:ext cx="1439849" cy="53951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6AA5675-80FE-D7D0-E0E4-FF0CB173A70A}"/>
              </a:ext>
            </a:extLst>
          </p:cNvPr>
          <p:cNvSpPr txBox="1"/>
          <p:nvPr/>
        </p:nvSpPr>
        <p:spPr>
          <a:xfrm>
            <a:off x="1297311" y="3454894"/>
            <a:ext cx="1150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err="1">
                <a:solidFill>
                  <a:schemeClr val="accent1"/>
                </a:solidFill>
              </a:rPr>
              <a:t>LiftOff</a:t>
            </a:r>
            <a:endParaRPr lang="en-GB" sz="2000" dirty="0">
              <a:solidFill>
                <a:schemeClr val="accent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1BA8D88-07C5-57C3-57A4-D3C5B26EE93A}"/>
              </a:ext>
            </a:extLst>
          </p:cNvPr>
          <p:cNvSpPr txBox="1"/>
          <p:nvPr/>
        </p:nvSpPr>
        <p:spPr>
          <a:xfrm>
            <a:off x="1484603" y="5676458"/>
            <a:ext cx="1084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1D4872"/>
                </a:solidFill>
              </a:rPr>
              <a:t>minimap2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632635A-FCA6-48A5-0D29-43C29F604DD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DFEFF"/>
              </a:clrFrom>
              <a:clrTo>
                <a:srgbClr val="FDFEFF">
                  <a:alpha val="0"/>
                </a:srgbClr>
              </a:clrTo>
            </a:clrChange>
          </a:blip>
          <a:srcRect l="26155" t="22668" r="28538" b="22749"/>
          <a:stretch/>
        </p:blipFill>
        <p:spPr>
          <a:xfrm>
            <a:off x="1297311" y="4534619"/>
            <a:ext cx="1272108" cy="118541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833A5336-103B-FAF5-4590-07F544DDF708}"/>
              </a:ext>
            </a:extLst>
          </p:cNvPr>
          <p:cNvSpPr txBox="1"/>
          <p:nvPr/>
        </p:nvSpPr>
        <p:spPr>
          <a:xfrm>
            <a:off x="234937" y="4027854"/>
            <a:ext cx="3396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transfer</a:t>
            </a:r>
            <a:r>
              <a:rPr lang="fr-FR" sz="1400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annotation </a:t>
            </a:r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between</a:t>
            </a:r>
            <a:r>
              <a:rPr lang="fr-FR" sz="1400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closely</a:t>
            </a:r>
            <a:r>
              <a:rPr lang="fr-FR" sz="1400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related</a:t>
            </a:r>
            <a:r>
              <a:rPr lang="fr-FR" sz="1400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species</a:t>
            </a:r>
            <a:endParaRPr lang="en-GB" sz="14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C3D31FE-F2A7-7C56-28E2-58A414A94272}"/>
              </a:ext>
            </a:extLst>
          </p:cNvPr>
          <p:cNvSpPr txBox="1"/>
          <p:nvPr/>
        </p:nvSpPr>
        <p:spPr>
          <a:xfrm>
            <a:off x="4582819" y="4002324"/>
            <a:ext cx="3396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transfer</a:t>
            </a:r>
            <a:r>
              <a:rPr lang="fr-FR" sz="1400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annotation </a:t>
            </a:r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between</a:t>
            </a:r>
            <a:r>
              <a:rPr lang="fr-FR" sz="1400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close and distant </a:t>
            </a:r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related</a:t>
            </a:r>
            <a:r>
              <a:rPr lang="fr-FR" sz="1400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species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394405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FB68D1-6116-5C50-413E-5680C71A5E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027A6-AA9B-54AE-FD81-EB0830132941}"/>
              </a:ext>
            </a:extLst>
          </p:cNvPr>
          <p:cNvSpPr/>
          <p:nvPr/>
        </p:nvSpPr>
        <p:spPr>
          <a:xfrm>
            <a:off x="1045029" y="1628737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Intrinsic approaches</a:t>
            </a:r>
          </a:p>
          <a:p>
            <a:pPr algn="ctr"/>
            <a:r>
              <a:rPr lang="en-US" sz="3600" i="1" dirty="0">
                <a:solidFill>
                  <a:srgbClr val="000000"/>
                </a:solidFill>
              </a:rPr>
              <a:t>ab initio</a:t>
            </a:r>
            <a:endParaRPr lang="en-US" sz="3600" b="1" i="1" dirty="0">
              <a:solidFill>
                <a:srgbClr val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CBB060-C85E-CB49-1F3E-4E20665FB43D}"/>
              </a:ext>
            </a:extLst>
          </p:cNvPr>
          <p:cNvSpPr/>
          <p:nvPr/>
        </p:nvSpPr>
        <p:spPr>
          <a:xfrm>
            <a:off x="1423448" y="4752222"/>
            <a:ext cx="95399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Using Machine Learning approaches (probabilistic and/or deterministic models) to predict features</a:t>
            </a:r>
          </a:p>
        </p:txBody>
      </p:sp>
    </p:spTree>
    <p:extLst>
      <p:ext uri="{BB962C8B-B14F-4D97-AF65-F5344CB8AC3E}">
        <p14:creationId xmlns:p14="http://schemas.microsoft.com/office/powerpoint/2010/main" val="3867319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7E2067A-8411-DB60-A8B2-7D7F617D015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Intrinsic / </a:t>
            </a:r>
            <a:r>
              <a:rPr lang="en-GB" i="1" dirty="0"/>
              <a:t>ab initio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8E97264-6056-142C-2887-8416A66649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FD1644-8390-6352-191F-C99730FD3042}"/>
              </a:ext>
            </a:extLst>
          </p:cNvPr>
          <p:cNvSpPr txBox="1">
            <a:spLocks/>
          </p:cNvSpPr>
          <p:nvPr/>
        </p:nvSpPr>
        <p:spPr>
          <a:xfrm>
            <a:off x="1981200" y="874336"/>
            <a:ext cx="8229600" cy="452596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Bacterial gene prediction</a:t>
            </a:r>
            <a:endParaRPr lang="en-US" b="1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</a:rPr>
              <a:t>	- Short intergenic regions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</a:rPr>
              <a:t>	- Uninterrupted ORFs (No intron)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</a:rPr>
              <a:t>	- Very conserved signals</a:t>
            </a:r>
            <a:endParaRPr lang="en-US" sz="18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lvl="1">
              <a:buFont typeface="Symbol" charset="0"/>
              <a:buChar char=""/>
            </a:pPr>
            <a:r>
              <a:rPr lang="en-US" dirty="0"/>
              <a:t> easy problem: Accuracy &gt; 90%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5" name="Picture 4" descr="Screenshot 2019-06-28 at 13.10.39.png">
            <a:extLst>
              <a:ext uri="{FF2B5EF4-FFF2-40B4-BE49-F238E27FC236}">
                <a16:creationId xmlns:a16="http://schemas.microsoft.com/office/drawing/2014/main" id="{6B309854-F609-5E00-E73C-D4AF67318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844601"/>
            <a:ext cx="9144000" cy="170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05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2C7A58A-4FC6-E5DF-1C55-670F03DCB37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dirty="0"/>
              <a:t>Intrinsic / </a:t>
            </a:r>
            <a:r>
              <a:rPr lang="en-GB" i="1" dirty="0"/>
              <a:t>ab initio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211C8DD-DA2B-0515-9F33-E3F35C6170F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1620A1-E077-D0D6-0DF6-4BBEDD159FE9}"/>
              </a:ext>
            </a:extLst>
          </p:cNvPr>
          <p:cNvSpPr txBox="1">
            <a:spLocks/>
          </p:cNvSpPr>
          <p:nvPr/>
        </p:nvSpPr>
        <p:spPr>
          <a:xfrm>
            <a:off x="1754957" y="553824"/>
            <a:ext cx="10217084" cy="5076062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228600" indent="-22860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b="1">
                <a:effectLst/>
              </a:defRPr>
            </a:lvl1pPr>
            <a:lvl2pPr lvl="1"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cap="none" baseline="0">
                <a:effectLst/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effectLst/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cap="none" baseline="0">
                <a:effectLst/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9pPr>
          </a:lstStyle>
          <a:p>
            <a:r>
              <a:rPr lang="en-US" dirty="0"/>
              <a:t>Eukaryotic gene prediction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0" dirty="0"/>
              <a:t>	- Presence of intron =&gt; structures differ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0" dirty="0"/>
              <a:t>	- Isoforms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0" dirty="0"/>
              <a:t>	- New features (e.g. </a:t>
            </a:r>
            <a:r>
              <a:rPr lang="en-US" b="0" dirty="0" err="1"/>
              <a:t>lncRNAs</a:t>
            </a:r>
            <a:r>
              <a:rPr lang="en-US" b="0" dirty="0"/>
              <a:t>)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3657600" lvl="8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=&gt; </a:t>
            </a:r>
            <a:r>
              <a:rPr lang="en-US" sz="1800" dirty="0"/>
              <a:t>Hard problem: Accuracy &lt; 70%</a:t>
            </a:r>
          </a:p>
          <a:p>
            <a:pPr marL="3657600" lvl="8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=&gt;</a:t>
            </a:r>
            <a:r>
              <a:rPr lang="en-US" sz="1800" dirty="0"/>
              <a:t> Requires training 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6" descr="Screenshot 2019-06-28 at 13.14.59.png">
            <a:extLst>
              <a:ext uri="{FF2B5EF4-FFF2-40B4-BE49-F238E27FC236}">
                <a16:creationId xmlns:a16="http://schemas.microsoft.com/office/drawing/2014/main" id="{33231C89-6B19-5234-D2C4-9113B391240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422" y="2259907"/>
            <a:ext cx="5439402" cy="275740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421872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5EB805E-678C-9C93-DB06-775065FA290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Probabilistic methods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6C4159-E03C-5267-BACE-8B701D16F7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2ACC993-AC62-CCCA-4403-3E6AF1A3EA9F}"/>
              </a:ext>
            </a:extLst>
          </p:cNvPr>
          <p:cNvSpPr txBox="1">
            <a:spLocks/>
          </p:cNvSpPr>
          <p:nvPr/>
        </p:nvSpPr>
        <p:spPr>
          <a:xfrm>
            <a:off x="1899501" y="1203770"/>
            <a:ext cx="2728243" cy="46166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gene content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4BEFB0D-DED9-D3C6-8C91-57E1A00E7A92}"/>
              </a:ext>
            </a:extLst>
          </p:cNvPr>
          <p:cNvSpPr txBox="1">
            <a:spLocks/>
          </p:cNvSpPr>
          <p:nvPr/>
        </p:nvSpPr>
        <p:spPr>
          <a:xfrm>
            <a:off x="1899501" y="2068516"/>
            <a:ext cx="4040188" cy="32563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/>
              <a:buChar char="•"/>
            </a:pPr>
            <a:r>
              <a:rPr lang="en-US" dirty="0"/>
              <a:t>codon usage</a:t>
            </a:r>
          </a:p>
          <a:p>
            <a:pPr lvl="1">
              <a:buFont typeface="Arial"/>
              <a:buChar char="•"/>
            </a:pPr>
            <a:r>
              <a:rPr lang="en-US" dirty="0"/>
              <a:t>hexamer usage</a:t>
            </a:r>
          </a:p>
          <a:p>
            <a:pPr lvl="1">
              <a:buFont typeface="Arial"/>
              <a:buChar char="•"/>
            </a:pPr>
            <a:r>
              <a:rPr lang="en-US" dirty="0"/>
              <a:t>GC content</a:t>
            </a:r>
          </a:p>
          <a:p>
            <a:pPr lvl="1">
              <a:buFont typeface="Arial"/>
              <a:buChar char="•"/>
            </a:pPr>
            <a:r>
              <a:rPr lang="en-US" dirty="0"/>
              <a:t>compositional bias between codon positions</a:t>
            </a:r>
          </a:p>
          <a:p>
            <a:pPr lvl="1">
              <a:buFont typeface="Arial"/>
              <a:buChar char="•"/>
            </a:pPr>
            <a:r>
              <a:rPr lang="en-US" dirty="0"/>
              <a:t>nucleotide periodicity</a:t>
            </a:r>
          </a:p>
          <a:p>
            <a:pPr lvl="1">
              <a:buFont typeface="Arial"/>
              <a:buChar char="•"/>
            </a:pPr>
            <a:r>
              <a:rPr lang="en-US" dirty="0"/>
              <a:t>exon/intron size</a:t>
            </a:r>
          </a:p>
          <a:p>
            <a:pPr lvl="1">
              <a:buFont typeface="Arial"/>
              <a:buChar char="•"/>
            </a:pPr>
            <a:r>
              <a:rPr lang="mr-IN" dirty="0"/>
              <a:t>…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87897B8-2FA3-839E-846E-ED113C13549A}"/>
              </a:ext>
            </a:extLst>
          </p:cNvPr>
          <p:cNvSpPr txBox="1">
            <a:spLocks/>
          </p:cNvSpPr>
          <p:nvPr/>
        </p:nvSpPr>
        <p:spPr>
          <a:xfrm>
            <a:off x="6087326" y="1203770"/>
            <a:ext cx="4041775" cy="639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signal detection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565BFD53-A022-46B0-A311-23220E227C11}"/>
              </a:ext>
            </a:extLst>
          </p:cNvPr>
          <p:cNvSpPr txBox="1">
            <a:spLocks/>
          </p:cNvSpPr>
          <p:nvPr/>
        </p:nvSpPr>
        <p:spPr>
          <a:xfrm>
            <a:off x="6087326" y="2035091"/>
            <a:ext cx="4041775" cy="325637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/>
              <a:buChar char="•"/>
            </a:pPr>
            <a:r>
              <a:rPr lang="en-US" dirty="0"/>
              <a:t>Promoter</a:t>
            </a:r>
          </a:p>
          <a:p>
            <a:pPr lvl="1">
              <a:buFont typeface="Arial"/>
              <a:buChar char="•"/>
            </a:pPr>
            <a:r>
              <a:rPr lang="en-US" dirty="0"/>
              <a:t>ORF</a:t>
            </a:r>
          </a:p>
          <a:p>
            <a:pPr lvl="1">
              <a:buFont typeface="Arial"/>
              <a:buChar char="•"/>
            </a:pPr>
            <a:r>
              <a:rPr lang="en-US" dirty="0"/>
              <a:t>Start codon</a:t>
            </a:r>
          </a:p>
          <a:p>
            <a:pPr lvl="1">
              <a:buFont typeface="Arial"/>
              <a:buChar char="•"/>
            </a:pPr>
            <a:r>
              <a:rPr lang="en-US" dirty="0"/>
              <a:t>Splice site (Donor and acceptor)</a:t>
            </a:r>
          </a:p>
          <a:p>
            <a:pPr lvl="1">
              <a:buFont typeface="Arial"/>
              <a:buChar char="•"/>
            </a:pPr>
            <a:r>
              <a:rPr lang="en-US" dirty="0"/>
              <a:t>Stop codon</a:t>
            </a:r>
          </a:p>
          <a:p>
            <a:pPr lvl="1">
              <a:buFont typeface="Arial"/>
              <a:buChar char="•"/>
            </a:pPr>
            <a:r>
              <a:rPr lang="en-US" dirty="0"/>
              <a:t>Poly(A) tail</a:t>
            </a:r>
          </a:p>
          <a:p>
            <a:pPr lvl="1">
              <a:buFont typeface="Arial"/>
              <a:buChar char="•"/>
            </a:pPr>
            <a:r>
              <a:rPr lang="en-US" dirty="0"/>
              <a:t>CpG islands</a:t>
            </a:r>
          </a:p>
          <a:p>
            <a:pPr lvl="1">
              <a:buFont typeface="Arial"/>
              <a:buChar char="•"/>
            </a:pPr>
            <a:r>
              <a:rPr lang="en-US" dirty="0"/>
              <a:t>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FD9C8F-7E70-6BA0-CB41-33BB2B28A0F2}"/>
              </a:ext>
            </a:extLst>
          </p:cNvPr>
          <p:cNvSpPr/>
          <p:nvPr/>
        </p:nvSpPr>
        <p:spPr>
          <a:xfrm>
            <a:off x="1733472" y="5398637"/>
            <a:ext cx="9470335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=&gt; </a:t>
            </a:r>
            <a:r>
              <a:rPr lang="en-US" i="1" dirty="0"/>
              <a:t>Ab initio </a:t>
            </a:r>
            <a:r>
              <a:rPr lang="en-US" dirty="0"/>
              <a:t>tools will combine this information through different Probabilistic models (e.g. HMM, GHMM, WAM) to calculate the most probable combination that represents a valid gene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B9BFC0D-A886-3AA9-8A03-3333C397A981}"/>
              </a:ext>
            </a:extLst>
          </p:cNvPr>
          <p:cNvSpPr txBox="1"/>
          <p:nvPr/>
        </p:nvSpPr>
        <p:spPr>
          <a:xfrm>
            <a:off x="6096000" y="1566532"/>
            <a:ext cx="54926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 err="1"/>
              <a:t>These</a:t>
            </a:r>
            <a:r>
              <a:rPr lang="fr-FR" sz="1200" dirty="0"/>
              <a:t> are like </a:t>
            </a:r>
            <a:r>
              <a:rPr lang="fr-FR" sz="1200" b="1" dirty="0" err="1"/>
              <a:t>landmarks</a:t>
            </a:r>
            <a:r>
              <a:rPr lang="fr-FR" sz="1200" dirty="0"/>
              <a:t> in the </a:t>
            </a:r>
            <a:r>
              <a:rPr lang="fr-FR" sz="1200" dirty="0" err="1"/>
              <a:t>genome</a:t>
            </a:r>
            <a:r>
              <a:rPr lang="fr-FR" sz="1200" dirty="0"/>
              <a:t>, </a:t>
            </a:r>
            <a:r>
              <a:rPr lang="fr-FR" sz="1200" dirty="0" err="1"/>
              <a:t>they</a:t>
            </a:r>
            <a:r>
              <a:rPr lang="fr-FR" sz="1200" dirty="0"/>
              <a:t> tell the model </a:t>
            </a:r>
            <a:r>
              <a:rPr lang="fr-FR" sz="1200" i="1" dirty="0" err="1"/>
              <a:t>where</a:t>
            </a:r>
            <a:r>
              <a:rPr lang="fr-FR" sz="1200" dirty="0"/>
              <a:t> to look.</a:t>
            </a:r>
            <a:endParaRPr lang="en-GB" sz="12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D21B123-1904-BEA8-8324-5756022C97F3}"/>
              </a:ext>
            </a:extLst>
          </p:cNvPr>
          <p:cNvSpPr txBox="1"/>
          <p:nvPr/>
        </p:nvSpPr>
        <p:spPr>
          <a:xfrm>
            <a:off x="1899501" y="1533107"/>
            <a:ext cx="33795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/>
              <a:t>Statistical properties of protein-coding sequence </a:t>
            </a:r>
          </a:p>
          <a:p>
            <a:pPr marL="0" indent="0">
              <a:buNone/>
            </a:pPr>
            <a:r>
              <a:rPr lang="en-US" sz="1200" dirty="0"/>
              <a:t>learn from existing data.</a:t>
            </a:r>
          </a:p>
        </p:txBody>
      </p:sp>
    </p:spTree>
    <p:extLst>
      <p:ext uri="{BB962C8B-B14F-4D97-AF65-F5344CB8AC3E}">
        <p14:creationId xmlns:p14="http://schemas.microsoft.com/office/powerpoint/2010/main" val="1697203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A34F438-7366-F004-E2BD-831A0FF9806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205F8EA-26A4-FB27-B3F8-9882E4C862B8}"/>
              </a:ext>
            </a:extLst>
          </p:cNvPr>
          <p:cNvSpPr txBox="1"/>
          <p:nvPr/>
        </p:nvSpPr>
        <p:spPr>
          <a:xfrm>
            <a:off x="1538869" y="1582340"/>
            <a:ext cx="105190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Complete </a:t>
            </a:r>
            <a:r>
              <a:rPr lang="fr-FR" b="1" dirty="0" err="1"/>
              <a:t>bacterial</a:t>
            </a:r>
            <a:r>
              <a:rPr lang="fr-FR" b="1" dirty="0"/>
              <a:t> or </a:t>
            </a:r>
            <a:r>
              <a:rPr lang="fr-FR" b="1" dirty="0" err="1"/>
              <a:t>archaeal</a:t>
            </a:r>
            <a:r>
              <a:rPr lang="fr-FR" b="1" dirty="0"/>
              <a:t> </a:t>
            </a:r>
            <a:r>
              <a:rPr lang="fr-FR" b="1" dirty="0" err="1"/>
              <a:t>genomes</a:t>
            </a:r>
            <a:endParaRPr lang="fr-FR" b="1" dirty="0"/>
          </a:p>
          <a:p>
            <a:pPr>
              <a:buNone/>
            </a:pP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 err="1"/>
              <a:t>Prodigal</a:t>
            </a:r>
            <a:r>
              <a:rPr lang="fr-FR" dirty="0"/>
              <a:t> a </a:t>
            </a:r>
            <a:r>
              <a:rPr lang="fr-FR" dirty="0" err="1"/>
              <a:t>widely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</a:t>
            </a:r>
            <a:r>
              <a:rPr lang="fr-FR" dirty="0" err="1"/>
              <a:t>baseline</a:t>
            </a:r>
            <a:r>
              <a:rPr lang="fr-FR" dirty="0"/>
              <a:t> for </a:t>
            </a:r>
            <a:r>
              <a:rPr lang="fr-FR" dirty="0" err="1"/>
              <a:t>protein-coding</a:t>
            </a:r>
            <a:r>
              <a:rPr lang="fr-FR" dirty="0"/>
              <a:t> </a:t>
            </a:r>
            <a:r>
              <a:rPr lang="fr-FR" dirty="0" err="1"/>
              <a:t>gene</a:t>
            </a:r>
            <a:r>
              <a:rPr lang="fr-FR" dirty="0"/>
              <a:t> </a:t>
            </a:r>
            <a:r>
              <a:rPr lang="fr-FR" dirty="0" err="1"/>
              <a:t>prediction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 err="1"/>
              <a:t>Pyrodigal</a:t>
            </a:r>
            <a:r>
              <a:rPr lang="fr-FR" b="1" dirty="0"/>
              <a:t> </a:t>
            </a:r>
            <a:r>
              <a:rPr lang="fr-FR" dirty="0"/>
              <a:t>a </a:t>
            </a:r>
            <a:r>
              <a:rPr lang="fr-FR" dirty="0" err="1"/>
              <a:t>reimplementation</a:t>
            </a:r>
            <a:r>
              <a:rPr lang="fr-FR" dirty="0"/>
              <a:t> of </a:t>
            </a:r>
            <a:r>
              <a:rPr lang="fr-FR" dirty="0" err="1"/>
              <a:t>Prodigal</a:t>
            </a:r>
            <a:r>
              <a:rPr lang="fr-FR" dirty="0"/>
              <a:t> in Python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GeneMarkS-2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GLIMMER 3</a:t>
            </a:r>
            <a:r>
              <a:rPr lang="fr-FR" dirty="0"/>
              <a:t> (</a:t>
            </a:r>
            <a:r>
              <a:rPr lang="fr-FR" dirty="0" err="1"/>
              <a:t>requires</a:t>
            </a:r>
            <a:r>
              <a:rPr lang="fr-FR" dirty="0"/>
              <a:t> a training </a:t>
            </a:r>
            <a:r>
              <a:rPr lang="fr-FR" dirty="0" err="1"/>
              <a:t>step</a:t>
            </a:r>
            <a:r>
              <a:rPr lang="fr-FR" dirty="0"/>
              <a:t> for a new </a:t>
            </a:r>
            <a:r>
              <a:rPr lang="fr-FR" dirty="0" err="1"/>
              <a:t>organism</a:t>
            </a:r>
            <a:r>
              <a:rPr lang="fr-FR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FR" b="1" dirty="0"/>
          </a:p>
          <a:p>
            <a:pPr lvl="0"/>
            <a:r>
              <a:rPr lang="fr-FR" b="1" dirty="0" err="1"/>
              <a:t>Metagenomes</a:t>
            </a:r>
            <a:r>
              <a:rPr lang="fr-FR" b="1" dirty="0"/>
              <a:t> </a:t>
            </a:r>
            <a:r>
              <a:rPr lang="fr-FR" b="1" dirty="0" err="1"/>
              <a:t>assemblies</a:t>
            </a:r>
            <a:endParaRPr lang="fr-FR" b="1" dirty="0"/>
          </a:p>
          <a:p>
            <a:pPr lvl="1"/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 err="1"/>
              <a:t>FragGeneScan</a:t>
            </a:r>
            <a:r>
              <a:rPr lang="fr-FR" dirty="0"/>
              <a:t> (</a:t>
            </a:r>
            <a:r>
              <a:rPr lang="fr-FR" dirty="0" err="1"/>
              <a:t>particularly</a:t>
            </a:r>
            <a:r>
              <a:rPr lang="fr-FR" dirty="0"/>
              <a:t> relevant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sequences</a:t>
            </a:r>
            <a:r>
              <a:rPr lang="fr-FR" dirty="0"/>
              <a:t> </a:t>
            </a:r>
            <a:r>
              <a:rPr lang="fr-FR" dirty="0" err="1"/>
              <a:t>contain</a:t>
            </a:r>
            <a:r>
              <a:rPr lang="fr-FR" dirty="0"/>
              <a:t> </a:t>
            </a:r>
            <a:r>
              <a:rPr lang="fr-FR" dirty="0" err="1"/>
              <a:t>sequencing</a:t>
            </a:r>
            <a:r>
              <a:rPr lang="fr-FR" dirty="0"/>
              <a:t> </a:t>
            </a:r>
            <a:r>
              <a:rPr lang="fr-FR" dirty="0" err="1"/>
              <a:t>errors</a:t>
            </a:r>
            <a:r>
              <a:rPr lang="fr-FR" dirty="0"/>
              <a:t> or </a:t>
            </a:r>
            <a:r>
              <a:rPr lang="fr-FR" dirty="0" err="1"/>
              <a:t>frameshifts</a:t>
            </a:r>
            <a:r>
              <a:rPr lang="fr-F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 err="1"/>
              <a:t>MetaGeneMark</a:t>
            </a:r>
            <a:r>
              <a:rPr lang="fr-FR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 err="1"/>
              <a:t>MetaGene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 err="1"/>
              <a:t>MetaGeneAnnotator</a:t>
            </a:r>
            <a:endParaRPr lang="fr-FR" dirty="0"/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F8781EA3-CBE1-0144-400F-D5AED0FAAC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Probabilistic methods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C74837C-F4E7-EC43-2E0A-0B58128ECFEE}"/>
              </a:ext>
            </a:extLst>
          </p:cNvPr>
          <p:cNvSpPr txBox="1"/>
          <p:nvPr/>
        </p:nvSpPr>
        <p:spPr>
          <a:xfrm>
            <a:off x="0" y="59490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Popular tools (Prokaryote)</a:t>
            </a:r>
          </a:p>
        </p:txBody>
      </p:sp>
    </p:spTree>
    <p:extLst>
      <p:ext uri="{BB962C8B-B14F-4D97-AF65-F5344CB8AC3E}">
        <p14:creationId xmlns:p14="http://schemas.microsoft.com/office/powerpoint/2010/main" val="2842826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4599AB-33B1-9A6F-E6FB-F125D440C4BF}"/>
              </a:ext>
            </a:extLst>
          </p:cNvPr>
          <p:cNvSpPr txBox="1"/>
          <p:nvPr/>
        </p:nvSpPr>
        <p:spPr>
          <a:xfrm>
            <a:off x="0" y="59490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Popular tools (Eukaryote)</a:t>
            </a:r>
          </a:p>
        </p:txBody>
      </p:sp>
      <p:sp>
        <p:nvSpPr>
          <p:cNvPr id="18" name="Espace réservé du contenu 1">
            <a:extLst>
              <a:ext uri="{FF2B5EF4-FFF2-40B4-BE49-F238E27FC236}">
                <a16:creationId xmlns:a16="http://schemas.microsoft.com/office/drawing/2014/main" id="{78ACC4D4-021B-737B-234C-5F4DE5205F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Probabilistic methods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3132C4-9C50-D7B8-8F70-7915B2020D13}"/>
              </a:ext>
            </a:extLst>
          </p:cNvPr>
          <p:cNvSpPr/>
          <p:nvPr/>
        </p:nvSpPr>
        <p:spPr>
          <a:xfrm>
            <a:off x="1953747" y="952168"/>
            <a:ext cx="888999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SNAP</a:t>
            </a:r>
            <a:r>
              <a:rPr lang="en-US" dirty="0"/>
              <a:t> 			Works ok, easy to train, not as good as others </a:t>
            </a:r>
          </a:p>
          <a:p>
            <a:r>
              <a:rPr lang="en-US" dirty="0"/>
              <a:t>					especially on longer intron genomes.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Augustus</a:t>
            </a:r>
            <a:r>
              <a:rPr lang="en-US" dirty="0"/>
              <a:t> 			Works great, hard to train (but getting better).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GeneMark</a:t>
            </a:r>
            <a:r>
              <a:rPr lang="en-US" b="1" dirty="0"/>
              <a:t>-ES</a:t>
            </a:r>
            <a:r>
              <a:rPr lang="en-US" dirty="0"/>
              <a:t> 	no hints, buggy, not good for fragmented genomes or 						                      long introns (Best suited for Fungi).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FGENESH</a:t>
            </a:r>
            <a:r>
              <a:rPr lang="en-US" dirty="0"/>
              <a:t> 		Works great, costs money even for training.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GlimmerHMM</a:t>
            </a:r>
            <a:r>
              <a:rPr lang="en-US" dirty="0"/>
              <a:t>  	(Eukaryote)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GenScan</a:t>
            </a:r>
            <a:endParaRPr lang="en-US" b="1" dirty="0"/>
          </a:p>
          <a:p>
            <a:pPr marL="285750" indent="-285750">
              <a:buFont typeface="Arial"/>
              <a:buChar char="•"/>
            </a:pPr>
            <a:endParaRPr lang="en-US" b="1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Gnomon			 </a:t>
            </a:r>
            <a:r>
              <a:rPr lang="en-US" dirty="0"/>
              <a:t>(NCBI)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EDBBB3-4327-7C64-418C-3A9E6036CBDF}"/>
              </a:ext>
            </a:extLst>
          </p:cNvPr>
          <p:cNvSpPr/>
          <p:nvPr/>
        </p:nvSpPr>
        <p:spPr>
          <a:xfrm>
            <a:off x="6529654" y="4028802"/>
            <a:ext cx="449970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http://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weatherby.genetics.utah.edu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/MAKER/wiki/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index.php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MAKER_Tutorial</a:t>
            </a:r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FD869E5-66F7-C548-E8DF-ECB46549B7ED}"/>
              </a:ext>
            </a:extLst>
          </p:cNvPr>
          <p:cNvSpPr txBox="1"/>
          <p:nvPr/>
        </p:nvSpPr>
        <p:spPr>
          <a:xfrm>
            <a:off x="639089" y="2851028"/>
            <a:ext cx="1348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Self training!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9435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5EB805E-678C-9C93-DB06-775065FA290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Deterministic methods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6C4159-E03C-5267-BACE-8B701D16F7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FB1204F-2002-49CF-F27A-5769E9BA8F9D}"/>
              </a:ext>
            </a:extLst>
          </p:cNvPr>
          <p:cNvSpPr txBox="1"/>
          <p:nvPr/>
        </p:nvSpPr>
        <p:spPr>
          <a:xfrm>
            <a:off x="262890" y="1261555"/>
            <a:ext cx="4299683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Neural networks </a:t>
            </a:r>
            <a:r>
              <a:rPr lang="fr-FR" dirty="0"/>
              <a:t>(CNN, </a:t>
            </a:r>
            <a:r>
              <a:rPr lang="fr-FR" dirty="0" err="1"/>
              <a:t>bLSTM</a:t>
            </a:r>
            <a:r>
              <a:rPr lang="fr-FR" dirty="0"/>
              <a:t>) </a:t>
            </a:r>
            <a:r>
              <a:rPr lang="fr-FR" dirty="0" err="1"/>
              <a:t>predicts</a:t>
            </a:r>
            <a:endParaRPr lang="fr-FR" dirty="0"/>
          </a:p>
          <a:p>
            <a:r>
              <a:rPr lang="fr-FR" dirty="0"/>
              <a:t> </a:t>
            </a:r>
            <a:r>
              <a:rPr lang="fr-FR" b="1" dirty="0"/>
              <a:t>for </a:t>
            </a:r>
            <a:r>
              <a:rPr lang="fr-FR" b="1" dirty="0" err="1"/>
              <a:t>each</a:t>
            </a:r>
            <a:r>
              <a:rPr lang="fr-FR" b="1" dirty="0"/>
              <a:t> base</a:t>
            </a:r>
            <a:r>
              <a:rPr lang="fr-FR" dirty="0"/>
              <a:t>, the </a:t>
            </a:r>
            <a:r>
              <a:rPr lang="fr-FR" dirty="0" err="1"/>
              <a:t>probability</a:t>
            </a:r>
            <a:r>
              <a:rPr lang="fr-FR" dirty="0"/>
              <a:t> of </a:t>
            </a:r>
            <a:r>
              <a:rPr lang="fr-FR" dirty="0" err="1"/>
              <a:t>being</a:t>
            </a:r>
            <a:r>
              <a:rPr lang="fr-FR" dirty="0"/>
              <a:t>: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fr-FR" dirty="0"/>
              <a:t> in an exon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fr-FR" dirty="0"/>
              <a:t> in an intron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fr-FR" dirty="0"/>
              <a:t> at a </a:t>
            </a:r>
            <a:r>
              <a:rPr lang="fr-FR" dirty="0" err="1"/>
              <a:t>splice</a:t>
            </a:r>
            <a:r>
              <a:rPr lang="fr-FR" dirty="0"/>
              <a:t> site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fr-FR" dirty="0"/>
              <a:t> in </a:t>
            </a:r>
            <a:r>
              <a:rPr lang="fr-FR" dirty="0" err="1"/>
              <a:t>UTRs</a:t>
            </a:r>
            <a:r>
              <a:rPr lang="fr-FR" dirty="0"/>
              <a:t>, etc.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5B40F73-BF2B-4FC9-A05F-E6A90C724660}"/>
              </a:ext>
            </a:extLst>
          </p:cNvPr>
          <p:cNvSpPr txBox="1"/>
          <p:nvPr/>
        </p:nvSpPr>
        <p:spPr>
          <a:xfrm>
            <a:off x="5207010" y="1261555"/>
            <a:ext cx="642385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/>
              <a:t>Captures </a:t>
            </a:r>
            <a:r>
              <a:rPr lang="fr-FR" sz="1600" dirty="0" err="1"/>
              <a:t>complex</a:t>
            </a:r>
            <a:r>
              <a:rPr lang="fr-FR" sz="1600" dirty="0"/>
              <a:t>, long-range </a:t>
            </a:r>
            <a:r>
              <a:rPr lang="fr-FR" sz="1600" dirty="0" err="1"/>
              <a:t>sequence</a:t>
            </a:r>
            <a:r>
              <a:rPr lang="fr-FR" sz="1600" dirty="0"/>
              <a:t> </a:t>
            </a:r>
            <a:r>
              <a:rPr lang="fr-FR" sz="1600" dirty="0" err="1"/>
              <a:t>dependencies</a:t>
            </a:r>
            <a:r>
              <a:rPr lang="fr-FR" sz="1600" dirty="0"/>
              <a:t>.</a:t>
            </a:r>
          </a:p>
          <a:p>
            <a:r>
              <a:rPr lang="fr-FR" sz="1600" dirty="0"/>
              <a:t>=&gt; </a:t>
            </a:r>
            <a:r>
              <a:rPr lang="fr-FR" sz="1600" dirty="0" err="1"/>
              <a:t>struggles</a:t>
            </a:r>
            <a:r>
              <a:rPr lang="fr-FR" sz="1600" dirty="0"/>
              <a:t> to </a:t>
            </a:r>
            <a:r>
              <a:rPr lang="fr-FR" sz="1600" dirty="0" err="1"/>
              <a:t>precisely</a:t>
            </a:r>
            <a:r>
              <a:rPr lang="fr-FR" sz="1600" dirty="0"/>
              <a:t> </a:t>
            </a:r>
            <a:r>
              <a:rPr lang="fr-FR" sz="1600" dirty="0" err="1"/>
              <a:t>locate</a:t>
            </a:r>
            <a:r>
              <a:rPr lang="fr-FR" sz="1600" dirty="0"/>
              <a:t> exon </a:t>
            </a:r>
            <a:r>
              <a:rPr lang="fr-FR" sz="1600" dirty="0" err="1"/>
              <a:t>boundaries</a:t>
            </a:r>
            <a:endParaRPr lang="fr-FR" sz="1600" dirty="0"/>
          </a:p>
          <a:p>
            <a:r>
              <a:rPr lang="fr-FR" sz="1600" dirty="0"/>
              <a:t>=&gt; base-</a:t>
            </a:r>
            <a:r>
              <a:rPr lang="fr-FR" sz="1600" dirty="0" err="1"/>
              <a:t>level</a:t>
            </a:r>
            <a:r>
              <a:rPr lang="fr-FR" sz="1600" dirty="0"/>
              <a:t> </a:t>
            </a:r>
            <a:r>
              <a:rPr lang="fr-FR" sz="1600" dirty="0" err="1"/>
              <a:t>predictions</a:t>
            </a:r>
            <a:r>
              <a:rPr lang="fr-FR" sz="1600" dirty="0"/>
              <a:t> can </a:t>
            </a:r>
            <a:r>
              <a:rPr lang="fr-FR" sz="1600" dirty="0" err="1"/>
              <a:t>be</a:t>
            </a:r>
            <a:r>
              <a:rPr lang="fr-FR" sz="16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400" b="1" dirty="0"/>
              <a:t> Noisy</a:t>
            </a:r>
            <a:r>
              <a:rPr lang="fr-FR" sz="1400" dirty="0"/>
              <a:t> (e.g., false positives),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400" b="1" dirty="0"/>
              <a:t> </a:t>
            </a:r>
            <a:r>
              <a:rPr lang="fr-FR" sz="1400" b="1" dirty="0" err="1"/>
              <a:t>Biologically</a:t>
            </a:r>
            <a:r>
              <a:rPr lang="fr-FR" sz="1400" b="1" dirty="0"/>
              <a:t> </a:t>
            </a:r>
            <a:r>
              <a:rPr lang="fr-FR" sz="1400" b="1" dirty="0" err="1"/>
              <a:t>inconsistent</a:t>
            </a:r>
            <a:r>
              <a:rPr lang="fr-FR" sz="1400" dirty="0"/>
              <a:t> (e.g., a stop codon in the middle of a </a:t>
            </a:r>
            <a:r>
              <a:rPr lang="fr-FR" sz="1400" dirty="0" err="1"/>
              <a:t>predicted</a:t>
            </a:r>
            <a:r>
              <a:rPr lang="fr-FR" sz="1400" dirty="0"/>
              <a:t> CDS),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400" b="1" dirty="0"/>
              <a:t> </a:t>
            </a:r>
            <a:r>
              <a:rPr lang="fr-FR" sz="1400" b="1" dirty="0" err="1"/>
              <a:t>Missing</a:t>
            </a:r>
            <a:r>
              <a:rPr lang="fr-FR" sz="1400" b="1" dirty="0"/>
              <a:t> structure</a:t>
            </a:r>
            <a:r>
              <a:rPr lang="fr-FR" sz="1400" dirty="0"/>
              <a:t> (e.g., incorrect start/stop, </a:t>
            </a:r>
            <a:r>
              <a:rPr lang="fr-FR" sz="1400" dirty="0" err="1"/>
              <a:t>fragmented</a:t>
            </a:r>
            <a:r>
              <a:rPr lang="fr-FR" sz="1400" dirty="0"/>
              <a:t> exons).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4AC6930-97EE-CE07-4FA4-7B152178DD58}"/>
              </a:ext>
            </a:extLst>
          </p:cNvPr>
          <p:cNvSpPr txBox="1"/>
          <p:nvPr/>
        </p:nvSpPr>
        <p:spPr>
          <a:xfrm>
            <a:off x="5269582" y="4099691"/>
            <a:ext cx="61038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 err="1"/>
              <a:t>Ensures</a:t>
            </a:r>
            <a:r>
              <a:rPr lang="fr-FR" sz="1600" dirty="0"/>
              <a:t> </a:t>
            </a:r>
            <a:r>
              <a:rPr lang="fr-FR" sz="1600" dirty="0" err="1"/>
              <a:t>coherent</a:t>
            </a:r>
            <a:r>
              <a:rPr lang="fr-FR" sz="1600" dirty="0"/>
              <a:t> </a:t>
            </a:r>
            <a:r>
              <a:rPr lang="fr-FR" sz="1600" dirty="0" err="1"/>
              <a:t>gene</a:t>
            </a:r>
            <a:r>
              <a:rPr lang="fr-FR" sz="1600" dirty="0"/>
              <a:t> structures by </a:t>
            </a:r>
            <a:r>
              <a:rPr lang="fr-FR" sz="1600" dirty="0" err="1"/>
              <a:t>filtering</a:t>
            </a:r>
            <a:r>
              <a:rPr lang="fr-FR" sz="1600" dirty="0"/>
              <a:t> </a:t>
            </a:r>
            <a:r>
              <a:rPr lang="fr-FR" sz="1600" dirty="0" err="1"/>
              <a:t>noisy</a:t>
            </a:r>
            <a:r>
              <a:rPr lang="fr-FR" sz="1600" dirty="0"/>
              <a:t> outputs.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B997038-4AB1-F54C-026A-36F516D16C68}"/>
              </a:ext>
            </a:extLst>
          </p:cNvPr>
          <p:cNvSpPr txBox="1"/>
          <p:nvPr/>
        </p:nvSpPr>
        <p:spPr>
          <a:xfrm>
            <a:off x="262890" y="4099691"/>
            <a:ext cx="4299683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accent1"/>
                </a:solidFill>
              </a:rPr>
              <a:t>HMM </a:t>
            </a:r>
            <a:r>
              <a:rPr lang="fr-FR" dirty="0" err="1">
                <a:solidFill>
                  <a:schemeClr val="accent1"/>
                </a:solidFill>
              </a:rPr>
              <a:t>postprocessor</a:t>
            </a:r>
            <a:r>
              <a:rPr lang="fr-FR" dirty="0">
                <a:solidFill>
                  <a:schemeClr val="accent1"/>
                </a:solidFill>
              </a:rPr>
              <a:t>  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F62F9F0-35BF-13A7-AC5C-F3CD254099E8}"/>
              </a:ext>
            </a:extLst>
          </p:cNvPr>
          <p:cNvSpPr txBox="1"/>
          <p:nvPr/>
        </p:nvSpPr>
        <p:spPr>
          <a:xfrm>
            <a:off x="1624946" y="3209278"/>
            <a:ext cx="19254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688753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4599AB-33B1-9A6F-E6FB-F125D440C4BF}"/>
              </a:ext>
            </a:extLst>
          </p:cNvPr>
          <p:cNvSpPr txBox="1"/>
          <p:nvPr/>
        </p:nvSpPr>
        <p:spPr>
          <a:xfrm>
            <a:off x="0" y="59490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Popular tools (Eukaryote)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D5C2A01-FA1C-6D15-5DC1-87865F78B860}"/>
              </a:ext>
            </a:extLst>
          </p:cNvPr>
          <p:cNvSpPr txBox="1"/>
          <p:nvPr/>
        </p:nvSpPr>
        <p:spPr>
          <a:xfrm>
            <a:off x="7532802" y="1128658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0" u="none" strike="noStrike" dirty="0">
                <a:solidFill>
                  <a:srgbClr val="131313"/>
                </a:solidFill>
                <a:effectLst/>
                <a:latin typeface="GillSansRegular"/>
              </a:rPr>
              <a:t>Tiberius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A3097E6-879C-2F19-5DB0-E869B2094282}"/>
              </a:ext>
            </a:extLst>
          </p:cNvPr>
          <p:cNvSpPr txBox="1"/>
          <p:nvPr/>
        </p:nvSpPr>
        <p:spPr>
          <a:xfrm>
            <a:off x="2547191" y="1136948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Helixer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7861ECC-22C1-8748-F8D1-99E2B3734B92}"/>
              </a:ext>
            </a:extLst>
          </p:cNvPr>
          <p:cNvSpPr txBox="1"/>
          <p:nvPr/>
        </p:nvSpPr>
        <p:spPr>
          <a:xfrm>
            <a:off x="6096000" y="5494114"/>
            <a:ext cx="55555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hlinkClick r:id="rId3"/>
              </a:rPr>
              <a:t>https://academic.oup.com/bioinformatics/article/40/12/btae685/7903281</a:t>
            </a:r>
            <a:endParaRPr lang="en-GB" sz="1400" dirty="0"/>
          </a:p>
          <a:p>
            <a:r>
              <a:rPr lang="en-GB" sz="1400" dirty="0">
                <a:hlinkClick r:id="rId4"/>
              </a:rPr>
              <a:t>https://github.com/Gaius-Augustus/Tiberius</a:t>
            </a:r>
            <a:endParaRPr lang="en-GB" sz="1400" dirty="0"/>
          </a:p>
          <a:p>
            <a:endParaRPr lang="en-GB" sz="14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0E0B023-04E9-750D-154A-46EA575CBAD8}"/>
              </a:ext>
            </a:extLst>
          </p:cNvPr>
          <p:cNvSpPr txBox="1"/>
          <p:nvPr/>
        </p:nvSpPr>
        <p:spPr>
          <a:xfrm>
            <a:off x="5798271" y="1658403"/>
            <a:ext cx="55555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fr-FR" sz="1600" i="0" u="none" strike="noStrike" dirty="0">
                <a:solidFill>
                  <a:srgbClr val="131313"/>
                </a:solidFill>
                <a:effectLst/>
                <a:latin typeface="GillSansRegular"/>
              </a:rPr>
              <a:t>End-to-End </a:t>
            </a:r>
            <a:r>
              <a:rPr lang="fr-FR" sz="1600" i="0" u="none" strike="noStrike" dirty="0" err="1">
                <a:solidFill>
                  <a:srgbClr val="131313"/>
                </a:solidFill>
                <a:effectLst/>
                <a:latin typeface="GillSansRegular"/>
              </a:rPr>
              <a:t>Deep</a:t>
            </a:r>
            <a:r>
              <a:rPr lang="fr-FR" sz="1600" i="0" u="none" strike="noStrike" dirty="0">
                <a:solidFill>
                  <a:srgbClr val="131313"/>
                </a:solidFill>
                <a:effectLst/>
                <a:latin typeface="GillSansRegular"/>
              </a:rPr>
              <a:t> Learning </a:t>
            </a:r>
            <a:r>
              <a:rPr lang="fr-FR" sz="1600" i="0" u="none" strike="noStrike" dirty="0" err="1">
                <a:solidFill>
                  <a:srgbClr val="131313"/>
                </a:solidFill>
                <a:effectLst/>
                <a:latin typeface="GillSansRegular"/>
              </a:rPr>
              <a:t>with</a:t>
            </a:r>
            <a:r>
              <a:rPr lang="fr-FR" sz="1600" i="0" u="none" strike="noStrike" dirty="0">
                <a:solidFill>
                  <a:srgbClr val="131313"/>
                </a:solidFill>
                <a:effectLst/>
                <a:latin typeface="GillSansRegular"/>
              </a:rPr>
              <a:t> an HMM for Gene </a:t>
            </a:r>
            <a:r>
              <a:rPr lang="fr-FR" sz="1600" i="0" u="none" strike="noStrike" dirty="0" err="1">
                <a:solidFill>
                  <a:srgbClr val="131313"/>
                </a:solidFill>
                <a:effectLst/>
                <a:latin typeface="GillSansRegular"/>
              </a:rPr>
              <a:t>Prediction</a:t>
            </a:r>
            <a:endParaRPr lang="fr-FR" sz="1600" i="0" u="none" strike="noStrike" dirty="0">
              <a:solidFill>
                <a:srgbClr val="131313"/>
              </a:solidFill>
              <a:effectLst/>
              <a:latin typeface="GillSansRegular"/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0D124B55-5935-D04D-CE19-C802E30306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9961" y="3941657"/>
            <a:ext cx="3801926" cy="1494601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CEDEC33-1F2C-85DF-FB8C-042D3C7C9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72" y="2514351"/>
            <a:ext cx="2989211" cy="2530053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A1E77933-2495-7BAA-63B5-96F62451D5C3}"/>
              </a:ext>
            </a:extLst>
          </p:cNvPr>
          <p:cNvSpPr txBox="1"/>
          <p:nvPr/>
        </p:nvSpPr>
        <p:spPr>
          <a:xfrm>
            <a:off x="242741" y="5494114"/>
            <a:ext cx="55555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sng" dirty="0">
                <a:effectLst/>
                <a:latin typeface="-apple-system"/>
                <a:hlinkClick r:id="rId7"/>
              </a:rPr>
              <a:t>https://doi.org/10.1101/2023.02.06.527280</a:t>
            </a:r>
            <a:endParaRPr lang="fr-FR" sz="1400" b="0" i="0" u="sng" dirty="0">
              <a:effectLst/>
              <a:latin typeface="-apple-system"/>
            </a:endParaRPr>
          </a:p>
          <a:p>
            <a:r>
              <a:rPr lang="en-GB" sz="1400" dirty="0">
                <a:hlinkClick r:id="rId8"/>
              </a:rPr>
              <a:t>https://github.com/weberlab-hhu/Helixer</a:t>
            </a:r>
            <a:r>
              <a:rPr lang="en-GB" sz="1400" dirty="0"/>
              <a:t> 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3B83210-93EA-88A6-0101-A2453CBAA5AC}"/>
              </a:ext>
            </a:extLst>
          </p:cNvPr>
          <p:cNvSpPr txBox="1"/>
          <p:nvPr/>
        </p:nvSpPr>
        <p:spPr>
          <a:xfrm>
            <a:off x="838199" y="1540491"/>
            <a:ext cx="43056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defRPr sz="1600" i="0" u="none" strike="noStrike">
                <a:solidFill>
                  <a:srgbClr val="131313"/>
                </a:solidFill>
                <a:effectLst/>
                <a:latin typeface="GillSansRegular"/>
              </a:defRPr>
            </a:lvl1pPr>
          </a:lstStyle>
          <a:p>
            <a:r>
              <a:rPr lang="fr-FR" dirty="0" err="1"/>
              <a:t>Helixer</a:t>
            </a:r>
            <a:r>
              <a:rPr lang="fr-FR" dirty="0"/>
              <a:t>–de novo </a:t>
            </a:r>
            <a:r>
              <a:rPr lang="fr-FR" dirty="0" err="1"/>
              <a:t>Prediction</a:t>
            </a:r>
            <a:r>
              <a:rPr lang="fr-FR" dirty="0"/>
              <a:t> of </a:t>
            </a:r>
            <a:r>
              <a:rPr lang="fr-FR" dirty="0" err="1"/>
              <a:t>Primary</a:t>
            </a:r>
            <a:r>
              <a:rPr lang="fr-FR" dirty="0"/>
              <a:t> </a:t>
            </a:r>
            <a:r>
              <a:rPr lang="fr-FR" dirty="0" err="1"/>
              <a:t>Eukaryotic</a:t>
            </a:r>
            <a:r>
              <a:rPr lang="fr-FR" dirty="0"/>
              <a:t> Gene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Combining</a:t>
            </a:r>
            <a:r>
              <a:rPr lang="fr-FR" dirty="0"/>
              <a:t> </a:t>
            </a:r>
            <a:r>
              <a:rPr lang="fr-FR" dirty="0" err="1"/>
              <a:t>Deep</a:t>
            </a:r>
            <a:r>
              <a:rPr lang="fr-FR" dirty="0"/>
              <a:t> Learning and a </a:t>
            </a:r>
            <a:r>
              <a:rPr lang="fr-FR" dirty="0" err="1"/>
              <a:t>Hidden</a:t>
            </a:r>
            <a:r>
              <a:rPr lang="fr-FR" dirty="0"/>
              <a:t> Markov Model</a:t>
            </a:r>
          </a:p>
        </p:txBody>
      </p:sp>
      <p:sp>
        <p:nvSpPr>
          <p:cNvPr id="32" name="Espace réservé du contenu 1">
            <a:extLst>
              <a:ext uri="{FF2B5EF4-FFF2-40B4-BE49-F238E27FC236}">
                <a16:creationId xmlns:a16="http://schemas.microsoft.com/office/drawing/2014/main" id="{F3FAF193-87AD-9334-1785-BB9B0B522B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Deterministic methods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603F8741-F342-15F9-A6FD-1F0C1A9513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0000" y="2099823"/>
            <a:ext cx="2721619" cy="210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95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4870D24-CEDA-6AF5-431E-42F2AC0144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4CD2888E-3690-7DBB-3D73-5594DD894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Deterministic methods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8EC34D4-284D-68CA-3F40-1CF2733B262F}"/>
              </a:ext>
            </a:extLst>
          </p:cNvPr>
          <p:cNvSpPr txBox="1"/>
          <p:nvPr/>
        </p:nvSpPr>
        <p:spPr>
          <a:xfrm>
            <a:off x="0" y="59490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Popular tools (prokaryote)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54EA41C-B3A7-3F0B-FCD6-F0D53852699E}"/>
              </a:ext>
            </a:extLst>
          </p:cNvPr>
          <p:cNvSpPr txBox="1"/>
          <p:nvPr/>
        </p:nvSpPr>
        <p:spPr>
          <a:xfrm>
            <a:off x="2547191" y="1136948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GeneLM</a:t>
            </a:r>
            <a:endParaRPr lang="en-GB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7949A5C-3719-C19E-B303-2FEF20DA2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191" y="1763155"/>
            <a:ext cx="4991033" cy="2908681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3891833-62C6-BD63-F6DC-D3017A79AE77}"/>
              </a:ext>
            </a:extLst>
          </p:cNvPr>
          <p:cNvSpPr txBox="1"/>
          <p:nvPr/>
        </p:nvSpPr>
        <p:spPr>
          <a:xfrm>
            <a:off x="2844557" y="5009089"/>
            <a:ext cx="1850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=&gt; needs training</a:t>
            </a:r>
          </a:p>
        </p:txBody>
      </p:sp>
    </p:spTree>
    <p:extLst>
      <p:ext uri="{BB962C8B-B14F-4D97-AF65-F5344CB8AC3E}">
        <p14:creationId xmlns:p14="http://schemas.microsoft.com/office/powerpoint/2010/main" val="911315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1F825DA-8B35-57AE-B9A3-D5379D0859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79E3A4-E49A-900F-D0E9-35FB217F1DC7}"/>
              </a:ext>
            </a:extLst>
          </p:cNvPr>
          <p:cNvSpPr txBox="1">
            <a:spLocks/>
          </p:cNvSpPr>
          <p:nvPr/>
        </p:nvSpPr>
        <p:spPr>
          <a:xfrm>
            <a:off x="2314281" y="623854"/>
            <a:ext cx="8229600" cy="157163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i="1" dirty="0"/>
              <a:t>Ab-initio</a:t>
            </a:r>
            <a:r>
              <a:rPr lang="en-US" sz="1800" dirty="0"/>
              <a:t> tools need of a models (also called profile) =&gt; Training</a:t>
            </a:r>
            <a:endParaRPr lang="en-US" sz="1800" dirty="0">
              <a:solidFill>
                <a:srgbClr val="000000"/>
              </a:solidFill>
            </a:endParaRPr>
          </a:p>
          <a:p>
            <a:pPr lvl="1"/>
            <a:r>
              <a:rPr lang="en-US" sz="1600" dirty="0">
                <a:solidFill>
                  <a:srgbClr val="000000"/>
                </a:solidFill>
              </a:rPr>
              <a:t>Few self-trained tools, </a:t>
            </a:r>
            <a:r>
              <a:rPr lang="en-US" sz="1600" u="sng" dirty="0">
                <a:solidFill>
                  <a:srgbClr val="000000"/>
                </a:solidFill>
              </a:rPr>
              <a:t>most need a separate training procedure</a:t>
            </a:r>
          </a:p>
          <a:p>
            <a:pPr lvl="1"/>
            <a:r>
              <a:rPr lang="en-US" sz="1600" dirty="0"/>
              <a:t>The quality of the gene-finder results hugely relies on the quality of the training!</a:t>
            </a:r>
          </a:p>
          <a:p>
            <a:pPr lvl="1"/>
            <a:r>
              <a:rPr lang="en-US" sz="1600" dirty="0"/>
              <a:t>Needs training for every genome / phylogenetic range (= different training sets)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u="sng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u="sng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u="sng" dirty="0">
              <a:solidFill>
                <a:srgbClr val="000000"/>
              </a:solidFill>
            </a:endParaRPr>
          </a:p>
        </p:txBody>
      </p:sp>
      <p:pic>
        <p:nvPicPr>
          <p:cNvPr id="6" name="Platshållare för innehåll 3" descr="Skärmavbild 2012-10-09 kl. 12.11.39.png">
            <a:extLst>
              <a:ext uri="{FF2B5EF4-FFF2-40B4-BE49-F238E27FC236}">
                <a16:creationId xmlns:a16="http://schemas.microsoft.com/office/drawing/2014/main" id="{87ED1810-06F5-AA26-51D4-9A296D638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3" t="18269" r="2431" b="63718"/>
          <a:stretch>
            <a:fillRect/>
          </a:stretch>
        </p:blipFill>
        <p:spPr bwMode="auto">
          <a:xfrm>
            <a:off x="3128845" y="2973265"/>
            <a:ext cx="6958013" cy="88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5A1AEDB0-F775-C4AA-7656-17052CBCE162}"/>
              </a:ext>
            </a:extLst>
          </p:cNvPr>
          <p:cNvSpPr txBox="1"/>
          <p:nvPr/>
        </p:nvSpPr>
        <p:spPr>
          <a:xfrm>
            <a:off x="5802703" y="2603933"/>
            <a:ext cx="1772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fungal genome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3DEA9BD-9F79-9034-B0FE-5E7ADC77EC10}"/>
              </a:ext>
            </a:extLst>
          </p:cNvPr>
          <p:cNvSpPr txBox="1"/>
          <p:nvPr/>
        </p:nvSpPr>
        <p:spPr>
          <a:xfrm>
            <a:off x="2248293" y="3181572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Fungi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EECA828-9418-9116-D456-C5A1367B727A}"/>
              </a:ext>
            </a:extLst>
          </p:cNvPr>
          <p:cNvSpPr txBox="1"/>
          <p:nvPr/>
        </p:nvSpPr>
        <p:spPr>
          <a:xfrm>
            <a:off x="2248293" y="3455271"/>
            <a:ext cx="753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Plants</a:t>
            </a:r>
          </a:p>
        </p:txBody>
      </p:sp>
      <p:sp>
        <p:nvSpPr>
          <p:cNvPr id="10" name="Espace réservé du contenu 1">
            <a:extLst>
              <a:ext uri="{FF2B5EF4-FFF2-40B4-BE49-F238E27FC236}">
                <a16:creationId xmlns:a16="http://schemas.microsoft.com/office/drawing/2014/main" id="{53EA9BD4-01AD-BF94-C9F7-B1DA04915D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Training intrinsic / </a:t>
            </a:r>
            <a:r>
              <a:rPr lang="en-GB" i="1" dirty="0"/>
              <a:t>ab initio </a:t>
            </a:r>
            <a:r>
              <a:rPr lang="en-US" sz="2000" dirty="0"/>
              <a:t>gene-finders</a:t>
            </a:r>
            <a:endParaRPr lang="en-GB" i="1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1CFD51D-B68F-9BCE-E1A5-A4B17E99FDB4}"/>
              </a:ext>
            </a:extLst>
          </p:cNvPr>
          <p:cNvSpPr txBox="1"/>
          <p:nvPr/>
        </p:nvSpPr>
        <p:spPr>
          <a:xfrm>
            <a:off x="-107610" y="4975930"/>
            <a:ext cx="61038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2" indent="0">
              <a:buNone/>
            </a:pPr>
            <a:r>
              <a:rPr lang="en-US" dirty="0"/>
              <a:t>A sets of high quality genes (&gt;500)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dirty="0"/>
              <a:t>=&gt; These ”known” genes are usually inferred from aligned transcripts or proteins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B6658B8-D531-0126-0AB2-9CC3ED30046A}"/>
              </a:ext>
            </a:extLst>
          </p:cNvPr>
          <p:cNvSpPr txBox="1"/>
          <p:nvPr/>
        </p:nvSpPr>
        <p:spPr>
          <a:xfrm>
            <a:off x="5361493" y="4077101"/>
            <a:ext cx="1001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u="sng" dirty="0">
                <a:solidFill>
                  <a:srgbClr val="000000"/>
                </a:solidFill>
              </a:rPr>
              <a:t>Training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8CA3261-6F20-BAAE-F95D-A0BB547C35AF}"/>
              </a:ext>
            </a:extLst>
          </p:cNvPr>
          <p:cNvSpPr txBox="1"/>
          <p:nvPr/>
        </p:nvSpPr>
        <p:spPr>
          <a:xfrm>
            <a:off x="7574727" y="4361477"/>
            <a:ext cx="1537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Deterministic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F6CC3A8-0919-651F-D134-B0BC59123BE1}"/>
              </a:ext>
            </a:extLst>
          </p:cNvPr>
          <p:cNvSpPr txBox="1"/>
          <p:nvPr/>
        </p:nvSpPr>
        <p:spPr>
          <a:xfrm>
            <a:off x="2314281" y="4446433"/>
            <a:ext cx="1537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Probabilistic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AE94E40-8D30-60FD-AE99-C8933E9F40C9}"/>
              </a:ext>
            </a:extLst>
          </p:cNvPr>
          <p:cNvSpPr txBox="1"/>
          <p:nvPr/>
        </p:nvSpPr>
        <p:spPr>
          <a:xfrm>
            <a:off x="6060165" y="4825849"/>
            <a:ext cx="6103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2" indent="0">
              <a:buNone/>
            </a:pPr>
            <a:r>
              <a:rPr lang="en-US" dirty="0"/>
              <a:t>A sets of high quality genomes (&gt;3)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dirty="0"/>
              <a:t>=&gt; S</a:t>
            </a:r>
            <a:r>
              <a:rPr lang="fr-FR" b="0" i="0" u="none" strike="noStrike" dirty="0" err="1">
                <a:effectLst/>
                <a:latin typeface="-apple-system"/>
              </a:rPr>
              <a:t>pecies</a:t>
            </a:r>
            <a:r>
              <a:rPr lang="fr-FR" b="0" i="0" u="none" strike="noStrike" dirty="0">
                <a:effectLst/>
                <a:latin typeface="-apple-system"/>
              </a:rPr>
              <a:t> </a:t>
            </a:r>
            <a:r>
              <a:rPr lang="fr-FR" b="0" i="0" u="none" strike="noStrike" dirty="0" err="1">
                <a:effectLst/>
                <a:latin typeface="-apple-system"/>
              </a:rPr>
              <a:t>that</a:t>
            </a:r>
            <a:r>
              <a:rPr lang="fr-FR" b="0" i="0" u="none" strike="noStrike" dirty="0">
                <a:effectLst/>
                <a:latin typeface="-apple-system"/>
              </a:rPr>
              <a:t> </a:t>
            </a:r>
            <a:r>
              <a:rPr lang="fr-FR" b="0" i="0" u="none" strike="noStrike" dirty="0" err="1">
                <a:effectLst/>
                <a:latin typeface="-apple-system"/>
              </a:rPr>
              <a:t>generalize</a:t>
            </a:r>
            <a:r>
              <a:rPr lang="fr-FR" b="0" i="0" u="none" strike="noStrike" dirty="0">
                <a:effectLst/>
                <a:latin typeface="-apple-system"/>
              </a:rPr>
              <a:t> </a:t>
            </a:r>
            <a:r>
              <a:rPr lang="fr-FR" b="0" i="0" u="none" strike="noStrike" dirty="0" err="1">
                <a:effectLst/>
                <a:latin typeface="-apple-system"/>
              </a:rPr>
              <a:t>well</a:t>
            </a:r>
            <a:r>
              <a:rPr lang="fr-FR" b="0" i="0" u="none" strike="noStrike" dirty="0">
                <a:effectLst/>
                <a:latin typeface="-apple-system"/>
              </a:rPr>
              <a:t> to </a:t>
            </a:r>
            <a:r>
              <a:rPr lang="fr-FR" b="0" i="0" u="none" strike="noStrike" dirty="0" err="1">
                <a:effectLst/>
                <a:latin typeface="-apple-system"/>
              </a:rPr>
              <a:t>your</a:t>
            </a:r>
            <a:r>
              <a:rPr lang="fr-FR" b="0" i="0" u="none" strike="noStrike" dirty="0">
                <a:effectLst/>
                <a:latin typeface="-apple-system"/>
              </a:rPr>
              <a:t> </a:t>
            </a:r>
            <a:r>
              <a:rPr lang="fr-FR" b="0" i="0" u="none" strike="noStrike" dirty="0" err="1">
                <a:effectLst/>
                <a:latin typeface="-apple-system"/>
              </a:rPr>
              <a:t>target</a:t>
            </a:r>
            <a:r>
              <a:rPr lang="fr-FR" b="0" i="0" u="none" strike="noStrike" dirty="0">
                <a:effectLst/>
                <a:latin typeface="-apple-system"/>
              </a:rPr>
              <a:t> </a:t>
            </a:r>
            <a:r>
              <a:rPr lang="fr-FR" b="0" i="0" u="none" strike="noStrike" dirty="0" err="1">
                <a:effectLst/>
                <a:latin typeface="-apple-system"/>
              </a:rPr>
              <a:t>species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670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1F825DA-8B35-57AE-B9A3-D5379D0859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C3C169D-2A35-AD2D-7E57-2B773B6A010F}"/>
              </a:ext>
            </a:extLst>
          </p:cNvPr>
          <p:cNvSpPr txBox="1"/>
          <p:nvPr/>
        </p:nvSpPr>
        <p:spPr>
          <a:xfrm>
            <a:off x="2851206" y="1574178"/>
            <a:ext cx="76852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Strengths :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Fast and easy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Annotate unknown genes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Sensitivity ok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Need no external evidence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r>
              <a:rPr lang="en-US" b="1" dirty="0"/>
              <a:t>Limits :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cs typeface="Calibri (body)"/>
              </a:rPr>
              <a:t>Split single gene into multiple predictions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cs typeface="Calibri (body)"/>
              </a:rPr>
              <a:t>Fused with neighboring genes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May be less accurate than homology-based methods (Exon boundaries)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Some tools need training</a:t>
            </a:r>
          </a:p>
          <a:p>
            <a:endParaRPr lang="en-US" b="1" dirty="0"/>
          </a:p>
        </p:txBody>
      </p:sp>
      <p:sp>
        <p:nvSpPr>
          <p:cNvPr id="13" name="Espace réservé du contenu 1">
            <a:extLst>
              <a:ext uri="{FF2B5EF4-FFF2-40B4-BE49-F238E27FC236}">
                <a16:creationId xmlns:a16="http://schemas.microsoft.com/office/drawing/2014/main" id="{9160D80A-82F5-0482-1979-225BBF0C40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Intrinsic / </a:t>
            </a:r>
            <a:r>
              <a:rPr lang="en-GB" i="1" dirty="0"/>
              <a:t>ab initio</a:t>
            </a:r>
          </a:p>
        </p:txBody>
      </p:sp>
    </p:spTree>
    <p:extLst>
      <p:ext uri="{BB962C8B-B14F-4D97-AF65-F5344CB8AC3E}">
        <p14:creationId xmlns:p14="http://schemas.microsoft.com/office/powerpoint/2010/main" val="1169943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FB68D1-6116-5C50-413E-5680C71A5E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027A6-AA9B-54AE-FD81-EB0830132941}"/>
              </a:ext>
            </a:extLst>
          </p:cNvPr>
          <p:cNvSpPr/>
          <p:nvPr/>
        </p:nvSpPr>
        <p:spPr>
          <a:xfrm>
            <a:off x="0" y="162873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1" dirty="0"/>
              <a:t>Hybrid approaches</a:t>
            </a:r>
            <a:endParaRPr lang="en-US" sz="3600" b="1" i="1" dirty="0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C21E0B-6487-3A5F-582A-9C6911D17E21}"/>
              </a:ext>
            </a:extLst>
          </p:cNvPr>
          <p:cNvSpPr/>
          <p:nvPr/>
        </p:nvSpPr>
        <p:spPr>
          <a:xfrm>
            <a:off x="0" y="487532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i="1" dirty="0"/>
              <a:t>Can predict locus without extrinsic information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Improve prediction when extrinsic information available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8E789B3-1B93-9934-C112-2C44B57D566B}"/>
              </a:ext>
            </a:extLst>
          </p:cNvPr>
          <p:cNvSpPr txBox="1"/>
          <p:nvPr/>
        </p:nvSpPr>
        <p:spPr>
          <a:xfrm>
            <a:off x="3242821" y="2964978"/>
            <a:ext cx="65044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/>
              <a:t>Evidence-drivable gene predictors</a:t>
            </a:r>
            <a:r>
              <a:rPr lang="en-US" sz="1800" dirty="0"/>
              <a:t> incorporate hints/extrinsic information in the form of alignments (transcript, protein, whole genome) to increase the accuracy of the gene prediction.</a:t>
            </a:r>
          </a:p>
        </p:txBody>
      </p:sp>
    </p:spTree>
    <p:extLst>
      <p:ext uri="{BB962C8B-B14F-4D97-AF65-F5344CB8AC3E}">
        <p14:creationId xmlns:p14="http://schemas.microsoft.com/office/powerpoint/2010/main" val="3647020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07BB7A7-85F8-FEBE-D035-5E2F9C3D50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E1FF4537-ED82-37BC-9171-2C5E675B35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Hybrid: Similarity based + </a:t>
            </a:r>
            <a:r>
              <a:rPr lang="en-GB" i="1" dirty="0"/>
              <a:t>ab initio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F75BD8-CFDD-2B62-751F-274F661B9976}"/>
              </a:ext>
            </a:extLst>
          </p:cNvPr>
          <p:cNvSpPr/>
          <p:nvPr/>
        </p:nvSpPr>
        <p:spPr>
          <a:xfrm>
            <a:off x="1524000" y="646111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			</a:t>
            </a:r>
            <a:endParaRPr lang="en-US" dirty="0"/>
          </a:p>
          <a:p>
            <a:r>
              <a:rPr lang="en-US" i="1" dirty="0"/>
              <a:t>Evidence-drivable gene predictors / Ab initio </a:t>
            </a:r>
            <a:r>
              <a:rPr lang="en-US" dirty="0"/>
              <a:t>evidence-based approaches incorporate hints (e.g. protein) alignments to increase the accuracy of the gene prediction.</a:t>
            </a:r>
          </a:p>
        </p:txBody>
      </p:sp>
      <p:pic>
        <p:nvPicPr>
          <p:cNvPr id="10" name="Picture 1" descr="Screen Shot 2018-02-28 at 21.03.35.png">
            <a:extLst>
              <a:ext uri="{FF2B5EF4-FFF2-40B4-BE49-F238E27FC236}">
                <a16:creationId xmlns:a16="http://schemas.microsoft.com/office/drawing/2014/main" id="{7E0CE3B7-BF2E-C910-5916-00CD2C5AC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852" y="2077465"/>
            <a:ext cx="6548667" cy="3719893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F570A96-F98A-8573-66A4-5DEA0DBA2FBA}"/>
              </a:ext>
            </a:extLst>
          </p:cNvPr>
          <p:cNvSpPr txBox="1">
            <a:spLocks/>
          </p:cNvSpPr>
          <p:nvPr/>
        </p:nvSpPr>
        <p:spPr>
          <a:xfrm>
            <a:off x="0" y="1949739"/>
            <a:ext cx="5391902" cy="41666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Can improve :</a:t>
            </a:r>
          </a:p>
          <a:p>
            <a:pPr lvl="1"/>
            <a:r>
              <a:rPr lang="en-US" dirty="0">
                <a:cs typeface="Calibri (body)"/>
              </a:rPr>
              <a:t>Split single gene into multiple predictions</a:t>
            </a:r>
          </a:p>
          <a:p>
            <a:pPr lvl="1"/>
            <a:r>
              <a:rPr lang="en-US" dirty="0">
                <a:cs typeface="Calibri (body)"/>
              </a:rPr>
              <a:t>Fused with neighboring genes</a:t>
            </a:r>
          </a:p>
          <a:p>
            <a:pPr lvl="1"/>
            <a:r>
              <a:rPr lang="en-US" dirty="0"/>
              <a:t>Exon boundaries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b="1" dirty="0"/>
              <a:t>Tools : </a:t>
            </a:r>
          </a:p>
          <a:p>
            <a:pPr lvl="1"/>
            <a:r>
              <a:rPr lang="fr-FR" dirty="0"/>
              <a:t>PGAP (NCBI) - </a:t>
            </a:r>
            <a:r>
              <a:rPr lang="fr-FR" dirty="0" err="1"/>
              <a:t>constrains</a:t>
            </a:r>
            <a:r>
              <a:rPr lang="fr-FR" dirty="0"/>
              <a:t> or influences </a:t>
            </a:r>
            <a:r>
              <a:rPr lang="fr-FR" dirty="0" err="1"/>
              <a:t>gene</a:t>
            </a:r>
            <a:r>
              <a:rPr lang="fr-FR" dirty="0"/>
              <a:t> </a:t>
            </a:r>
            <a:r>
              <a:rPr lang="fr-FR" dirty="0" err="1"/>
              <a:t>prediction</a:t>
            </a:r>
            <a:endParaRPr lang="fr-FR" dirty="0"/>
          </a:p>
          <a:p>
            <a:pPr lvl="1"/>
            <a:r>
              <a:rPr lang="en-US" dirty="0"/>
              <a:t>Bakta - </a:t>
            </a:r>
            <a:r>
              <a:rPr lang="fr-FR" dirty="0" err="1"/>
              <a:t>gene</a:t>
            </a:r>
            <a:r>
              <a:rPr lang="fr-FR" dirty="0"/>
              <a:t> </a:t>
            </a:r>
            <a:r>
              <a:rPr lang="fr-FR" dirty="0" err="1"/>
              <a:t>boundaries</a:t>
            </a:r>
            <a:r>
              <a:rPr lang="fr-FR" dirty="0"/>
              <a:t> </a:t>
            </a:r>
            <a:r>
              <a:rPr lang="fr-FR" dirty="0" err="1"/>
              <a:t>refinement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509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FB68D1-6116-5C50-413E-5680C71A5E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027A6-AA9B-54AE-FD81-EB0830132941}"/>
              </a:ext>
            </a:extLst>
          </p:cNvPr>
          <p:cNvSpPr/>
          <p:nvPr/>
        </p:nvSpPr>
        <p:spPr>
          <a:xfrm>
            <a:off x="0" y="162873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</a:rPr>
              <a:t>Chooser / Combiner</a:t>
            </a:r>
            <a:endParaRPr lang="en-US" sz="3600" b="1" i="1" dirty="0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C21E0B-6487-3A5F-582A-9C6911D17E21}"/>
              </a:ext>
            </a:extLst>
          </p:cNvPr>
          <p:cNvSpPr/>
          <p:nvPr/>
        </p:nvSpPr>
        <p:spPr>
          <a:xfrm>
            <a:off x="0" y="5268476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i="1" dirty="0"/>
              <a:t>Selection of gene models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Combining heterogeneous data into gene models</a:t>
            </a:r>
          </a:p>
        </p:txBody>
      </p:sp>
    </p:spTree>
    <p:extLst>
      <p:ext uri="{BB962C8B-B14F-4D97-AF65-F5344CB8AC3E}">
        <p14:creationId xmlns:p14="http://schemas.microsoft.com/office/powerpoint/2010/main" val="441426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3E125E8-0C23-5E0C-C7AD-6A919AAB588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dirty="0"/>
              <a:t>Chooser / combiner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8DFFDC2-270B-6CB8-F583-BAD3B838BC0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1F28A7-8F02-0B86-9050-FDB29CF99488}"/>
              </a:ext>
            </a:extLst>
          </p:cNvPr>
          <p:cNvSpPr/>
          <p:nvPr/>
        </p:nvSpPr>
        <p:spPr>
          <a:xfrm>
            <a:off x="1419798" y="671220"/>
            <a:ext cx="90149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Use battery of gene finders and evidence (transcript,  protein) alignments and: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C733C514-3396-722C-0A9A-ACD423F4C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356165"/>
              </p:ext>
            </p:extLst>
          </p:nvPr>
        </p:nvGraphicFramePr>
        <p:xfrm>
          <a:off x="1685270" y="2792303"/>
          <a:ext cx="8484026" cy="3035286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650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4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47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Consensus</a:t>
                      </a:r>
                      <a:r>
                        <a:rPr lang="en-US" sz="1400" baseline="0" dirty="0"/>
                        <a:t> based chooser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Evidence </a:t>
                      </a:r>
                      <a:r>
                        <a:rPr lang="en-US" sz="1400" baseline="0" dirty="0"/>
                        <a:t>based chooser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weight of different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0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GeMoMa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You can weight on presence in multiple genome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441988"/>
                  </a:ext>
                </a:extLst>
              </a:tr>
              <a:tr h="3530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JIGSAW</a:t>
                      </a:r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9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EVM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Evidencemodeler</a:t>
                      </a:r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User can set the expected evidence error rate manually or/and learn from a training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2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Evigan</a:t>
                      </a:r>
                      <a:r>
                        <a:rPr lang="en-US" sz="1400" b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Unsupervised learning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04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/>
                        <a:t>=&gt; </a:t>
                      </a:r>
                      <a:r>
                        <a:rPr lang="en-US" sz="1400" b="1" dirty="0" err="1"/>
                        <a:t>Ipred</a:t>
                      </a:r>
                      <a:r>
                        <a:rPr lang="en-US" sz="1400" b="1" dirty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dirty="0"/>
                        <a:t>Does not require any a priori knowledge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dirty="0"/>
                        <a:t>Can also combine</a:t>
                      </a:r>
                      <a:r>
                        <a:rPr lang="en-US" sz="1200" baseline="0" dirty="0"/>
                        <a:t> only evidences to create a gene model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7C8D5648-B978-4C05-A136-2B9C15EEE446}"/>
              </a:ext>
            </a:extLst>
          </p:cNvPr>
          <p:cNvSpPr txBox="1"/>
          <p:nvPr/>
        </p:nvSpPr>
        <p:spPr>
          <a:xfrm>
            <a:off x="1419798" y="1317551"/>
            <a:ext cx="98688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cs typeface="Arial" charset="0"/>
              </a:rPr>
              <a:t>Chooser:  </a:t>
            </a:r>
            <a:r>
              <a:rPr lang="fr-FR" sz="1800" dirty="0"/>
              <a:t>Selects </a:t>
            </a:r>
            <a:r>
              <a:rPr lang="fr-FR" sz="1800" dirty="0" err="1"/>
              <a:t>among</a:t>
            </a:r>
            <a:r>
              <a:rPr lang="fr-FR" sz="1800" dirty="0"/>
              <a:t> </a:t>
            </a:r>
            <a:r>
              <a:rPr lang="fr-FR" sz="1800" dirty="0" err="1"/>
              <a:t>existing</a:t>
            </a:r>
            <a:r>
              <a:rPr lang="fr-FR" sz="1800" dirty="0"/>
              <a:t> </a:t>
            </a:r>
            <a:r>
              <a:rPr lang="fr-FR" sz="1800" dirty="0" err="1"/>
              <a:t>predictions</a:t>
            </a:r>
            <a:r>
              <a:rPr lang="fr-FR" sz="1800" dirty="0"/>
              <a:t> </a:t>
            </a:r>
            <a:r>
              <a:rPr lang="fr-FR" sz="1800" dirty="0" err="1"/>
              <a:t>according</a:t>
            </a:r>
            <a:r>
              <a:rPr lang="fr-FR" sz="1800" dirty="0"/>
              <a:t> to </a:t>
            </a:r>
            <a:r>
              <a:rPr lang="fr-FR" sz="1800" dirty="0" err="1"/>
              <a:t>evidence</a:t>
            </a:r>
            <a:r>
              <a:rPr lang="fr-FR" sz="1800" dirty="0"/>
              <a:t> or confidence.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r>
              <a:rPr lang="fr-FR" dirty="0">
                <a:solidFill>
                  <a:schemeClr val="accent2"/>
                </a:solidFill>
                <a:cs typeface="Arial" charset="0"/>
              </a:rPr>
              <a:t>Combiner: </a:t>
            </a:r>
            <a:r>
              <a:rPr lang="fr-FR" sz="1800" dirty="0" err="1"/>
              <a:t>Constructs</a:t>
            </a:r>
            <a:r>
              <a:rPr lang="fr-FR" sz="1800" dirty="0"/>
              <a:t> consensus </a:t>
            </a:r>
            <a:r>
              <a:rPr lang="fr-FR" sz="1800" dirty="0" err="1"/>
              <a:t>gene</a:t>
            </a:r>
            <a:r>
              <a:rPr lang="fr-FR" sz="1800" dirty="0"/>
              <a:t> </a:t>
            </a:r>
            <a:r>
              <a:rPr lang="fr-FR" sz="1800" dirty="0" err="1"/>
              <a:t>models</a:t>
            </a:r>
            <a:r>
              <a:rPr lang="fr-FR" sz="1800" dirty="0"/>
              <a:t> by </a:t>
            </a:r>
            <a:r>
              <a:rPr lang="fr-FR" sz="1800" dirty="0" err="1"/>
              <a:t>integrating</a:t>
            </a:r>
            <a:r>
              <a:rPr lang="fr-FR" sz="1800" dirty="0"/>
              <a:t> </a:t>
            </a:r>
            <a:r>
              <a:rPr lang="fr-FR" sz="1800" dirty="0" err="1"/>
              <a:t>evidence</a:t>
            </a:r>
            <a:r>
              <a:rPr lang="fr-FR" sz="1800" dirty="0"/>
              <a:t> </a:t>
            </a:r>
            <a:r>
              <a:rPr lang="fr-FR" sz="1800" dirty="0" err="1"/>
              <a:t>from</a:t>
            </a:r>
            <a:r>
              <a:rPr lang="fr-FR" sz="1800" dirty="0"/>
              <a:t> </a:t>
            </a:r>
            <a:r>
              <a:rPr lang="fr-FR" sz="1800" dirty="0" err="1"/>
              <a:t>different</a:t>
            </a:r>
            <a:r>
              <a:rPr lang="fr-FR" sz="1800" dirty="0"/>
              <a:t> sources.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54194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FB68D1-6116-5C50-413E-5680C71A5E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027A6-AA9B-54AE-FD81-EB0830132941}"/>
              </a:ext>
            </a:extLst>
          </p:cNvPr>
          <p:cNvSpPr/>
          <p:nvPr/>
        </p:nvSpPr>
        <p:spPr>
          <a:xfrm>
            <a:off x="0" y="16287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Pipelines</a:t>
            </a:r>
          </a:p>
          <a:p>
            <a:pPr algn="ctr"/>
            <a:r>
              <a:rPr lang="en-US" sz="2400" dirty="0"/>
              <a:t>(The ultimate step)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CCCECB-00D6-BCD7-08F5-7B014F13F980}"/>
              </a:ext>
            </a:extLst>
          </p:cNvPr>
          <p:cNvSpPr/>
          <p:nvPr/>
        </p:nvSpPr>
        <p:spPr>
          <a:xfrm>
            <a:off x="0" y="4121267"/>
            <a:ext cx="91440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i="1" dirty="0"/>
              <a:t>Align evidence (proteins)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Annotation of other features (Repeat, tRNA, </a:t>
            </a:r>
            <a:r>
              <a:rPr lang="en-US" sz="2000" i="1" dirty="0" err="1"/>
              <a:t>etc</a:t>
            </a:r>
            <a:r>
              <a:rPr lang="en-US" sz="2000" i="1" dirty="0"/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Add functions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And more</a:t>
            </a:r>
            <a:r>
              <a:rPr lang="mr-IN" sz="2000" i="1" dirty="0"/>
              <a:t>…</a:t>
            </a:r>
            <a:endParaRPr lang="en-US" sz="2000" i="1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018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A41D5A9-63B4-9BD0-841D-31585DDE6F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2BC7012E-4ABF-645F-D972-A8223169F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884467"/>
              </p:ext>
            </p:extLst>
          </p:nvPr>
        </p:nvGraphicFramePr>
        <p:xfrm>
          <a:off x="1128572" y="743173"/>
          <a:ext cx="10334674" cy="4649209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997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9004">
                  <a:extLst>
                    <a:ext uri="{9D8B030D-6E8A-4147-A177-3AD203B41FA5}">
                      <a16:colId xmlns:a16="http://schemas.microsoft.com/office/drawing/2014/main" val="200144732"/>
                    </a:ext>
                  </a:extLst>
                </a:gridCol>
                <a:gridCol w="117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9970">
                  <a:extLst>
                    <a:ext uri="{9D8B030D-6E8A-4147-A177-3AD203B41FA5}">
                      <a16:colId xmlns:a16="http://schemas.microsoft.com/office/drawing/2014/main" val="3004257340"/>
                    </a:ext>
                  </a:extLst>
                </a:gridCol>
                <a:gridCol w="3003134">
                  <a:extLst>
                    <a:ext uri="{9D8B030D-6E8A-4147-A177-3AD203B41FA5}">
                      <a16:colId xmlns:a16="http://schemas.microsoft.com/office/drawing/2014/main" val="652416527"/>
                    </a:ext>
                  </a:extLst>
                </a:gridCol>
              </a:tblGrid>
              <a:tr h="3515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/>
                        <a:t>Ab </a:t>
                      </a:r>
                      <a:r>
                        <a:rPr lang="en-US" sz="1400" i="1" dirty="0" err="1"/>
                        <a:t>inito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Other annotated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41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tRNA, rRNA, ncRNA, pseudogenes, CRISPR, mobile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I</a:t>
                      </a:r>
                      <a:r>
                        <a:rPr lang="fr-FR" sz="1400" dirty="0" err="1"/>
                        <a:t>ntegrates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protein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alignments</a:t>
                      </a:r>
                      <a:r>
                        <a:rPr lang="fr-FR" sz="1400" dirty="0"/>
                        <a:t>, </a:t>
                      </a:r>
                      <a:r>
                        <a:rPr lang="fr-FR" sz="1400" dirty="0" err="1"/>
                        <a:t>protein-family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HMMs</a:t>
                      </a:r>
                      <a:r>
                        <a:rPr lang="fr-FR" sz="1400" dirty="0"/>
                        <a:t> and GeneMarkS-2+ for structural and </a:t>
                      </a:r>
                      <a:r>
                        <a:rPr lang="fr-FR" sz="1400" dirty="0" err="1"/>
                        <a:t>functional</a:t>
                      </a:r>
                      <a:r>
                        <a:rPr lang="fr-FR" sz="1400" dirty="0"/>
                        <a:t> annotation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77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Prokka</a:t>
                      </a:r>
                      <a:endParaRPr 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tRNA, </a:t>
                      </a:r>
                      <a:r>
                        <a:rPr lang="en-US" sz="1400" dirty="0" err="1"/>
                        <a:t>tmRNA</a:t>
                      </a:r>
                      <a:r>
                        <a:rPr lang="en-US" sz="1400" dirty="0"/>
                        <a:t>, rRNA, ncRNA, CRISPR; signal peptides when supported by the relevant 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1400" dirty="0"/>
                        <a:t>Uses </a:t>
                      </a:r>
                      <a:r>
                        <a:rPr lang="fr-FR" sz="1400" dirty="0" err="1"/>
                        <a:t>Pyrodigal</a:t>
                      </a:r>
                      <a:r>
                        <a:rPr lang="fr-FR" sz="1400" dirty="0"/>
                        <a:t> for CDS </a:t>
                      </a:r>
                      <a:r>
                        <a:rPr lang="fr-FR" sz="1400" dirty="0" err="1"/>
                        <a:t>prediction</a:t>
                      </a:r>
                      <a:r>
                        <a:rPr lang="fr-FR" sz="1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/>
                        <a:t>Bakta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tRNA, </a:t>
                      </a:r>
                      <a:r>
                        <a:rPr lang="en-US" sz="1400" dirty="0" err="1"/>
                        <a:t>tmRNA</a:t>
                      </a:r>
                      <a:r>
                        <a:rPr lang="en-US" sz="1400" dirty="0"/>
                        <a:t>, rRNA, ncRNA, regulatory regions, CRISPR, pseudogenes, replication origins, </a:t>
                      </a:r>
                      <a:r>
                        <a:rPr lang="en-US" sz="1400" dirty="0" err="1"/>
                        <a:t>sORFs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1400" dirty="0"/>
                        <a:t>Uses </a:t>
                      </a:r>
                      <a:r>
                        <a:rPr lang="fr-FR" sz="1400" dirty="0" err="1"/>
                        <a:t>Prodigal</a:t>
                      </a:r>
                      <a:r>
                        <a:rPr lang="fr-FR" sz="1400" dirty="0"/>
                        <a:t> for CDS </a:t>
                      </a:r>
                      <a:r>
                        <a:rPr lang="fr-FR" sz="1400" dirty="0" err="1"/>
                        <a:t>prediction</a:t>
                      </a:r>
                      <a:r>
                        <a:rPr lang="fr-FR" sz="1400" dirty="0"/>
                        <a:t>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err="1"/>
                        <a:t>Huge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database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used</a:t>
                      </a:r>
                      <a:r>
                        <a:rPr lang="fr-FR" sz="1400" dirty="0"/>
                        <a:t>.</a:t>
                      </a:r>
                      <a:endParaRPr lang="en-US" sz="14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DFAST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RNA genes and other genomic features, depending on the modules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8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RAST / </a:t>
                      </a:r>
                      <a:r>
                        <a:rPr lang="fr-FR" sz="1400" b="1" dirty="0" err="1"/>
                        <a:t>RASTtk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RNA features, metabolic functions and other features, depending on the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481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BV-BRC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tRNA, rRNA, repeat regions, prophages, antimicrobial resistance genes, virulence factors, protein families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CDS </a:t>
                      </a:r>
                      <a:r>
                        <a:rPr lang="fr-FR" sz="1400" dirty="0" err="1"/>
                        <a:t>prediction</a:t>
                      </a:r>
                      <a:r>
                        <a:rPr lang="fr-FR" sz="1400" dirty="0"/>
                        <a:t> uses </a:t>
                      </a:r>
                      <a:r>
                        <a:rPr lang="fr-FR" sz="1400" dirty="0" err="1"/>
                        <a:t>Prodigal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followed</a:t>
                      </a:r>
                      <a:r>
                        <a:rPr lang="fr-FR" sz="1400" dirty="0"/>
                        <a:t> by </a:t>
                      </a:r>
                      <a:r>
                        <a:rPr lang="fr-FR" sz="1400" dirty="0" err="1"/>
                        <a:t>Glimmer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085958"/>
                  </a:ext>
                </a:extLst>
              </a:tr>
            </a:tbl>
          </a:graphicData>
        </a:graphic>
      </p:graphicFrame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250D4A55-DEE3-6E40-0CB3-234884D92A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15126817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6D94D-7AA5-2B3C-A6EE-862067C58A1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9E24F68-DB8C-4590-8CA9-5AB178F701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9" r="5513"/>
          <a:stretch/>
        </p:blipFill>
        <p:spPr>
          <a:xfrm>
            <a:off x="2644000" y="240631"/>
            <a:ext cx="6903995" cy="52057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154CB8-EF6E-DC1B-97D5-375C388BB404}"/>
              </a:ext>
            </a:extLst>
          </p:cNvPr>
          <p:cNvSpPr/>
          <p:nvPr/>
        </p:nvSpPr>
        <p:spPr>
          <a:xfrm>
            <a:off x="2644001" y="4468170"/>
            <a:ext cx="69039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chemeClr val="bg1"/>
                </a:solidFill>
              </a:rPr>
              <a:t>Thank you for your attention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5124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64740</TotalTime>
  <Words>1977</Words>
  <Application>Microsoft Macintosh PowerPoint</Application>
  <PresentationFormat>Grand écran</PresentationFormat>
  <Paragraphs>421</Paragraphs>
  <Slides>29</Slides>
  <Notes>9</Notes>
  <HiddenSlides>2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43" baseType="lpstr">
      <vt:lpstr>-apple-system</vt:lpstr>
      <vt:lpstr>Arial</vt:lpstr>
      <vt:lpstr>Calibri</vt:lpstr>
      <vt:lpstr>Calibri (body)</vt:lpstr>
      <vt:lpstr>Cambria</vt:lpstr>
      <vt:lpstr>Gill Sans MT</vt:lpstr>
      <vt:lpstr>GillSansRegular</vt:lpstr>
      <vt:lpstr>Helvetica</vt:lpstr>
      <vt:lpstr>Lucida Sans Unicode</vt:lpstr>
      <vt:lpstr>Merriweather</vt:lpstr>
      <vt:lpstr>Roboto</vt:lpstr>
      <vt:lpstr>Symbol</vt:lpstr>
      <vt:lpstr>Wingdings</vt:lpstr>
      <vt:lpstr>Galerie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Bils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Jacques Dainat Ph.D.</dc:title>
  <dc:creator>Jacques Dainat</dc:creator>
  <cp:lastModifiedBy>Jacques Dainat</cp:lastModifiedBy>
  <cp:revision>474</cp:revision>
  <cp:lastPrinted>2023-09-15T12:14:39Z</cp:lastPrinted>
  <dcterms:created xsi:type="dcterms:W3CDTF">2018-11-21T09:52:36Z</dcterms:created>
  <dcterms:modified xsi:type="dcterms:W3CDTF">2026-10-19T09:11:30Z</dcterms:modified>
</cp:coreProperties>
</file>