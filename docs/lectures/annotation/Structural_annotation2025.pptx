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6" r:id="rId1"/>
  </p:sldMasterIdLst>
  <p:notesMasterIdLst>
    <p:notesMasterId r:id="rId59"/>
  </p:notesMasterIdLst>
  <p:handoutMasterIdLst>
    <p:handoutMasterId r:id="rId60"/>
  </p:handoutMasterIdLst>
  <p:sldIdLst>
    <p:sldId id="279" r:id="rId2"/>
    <p:sldId id="376" r:id="rId3"/>
    <p:sldId id="396" r:id="rId4"/>
    <p:sldId id="399" r:id="rId5"/>
    <p:sldId id="397" r:id="rId6"/>
    <p:sldId id="398" r:id="rId7"/>
    <p:sldId id="400" r:id="rId8"/>
    <p:sldId id="401" r:id="rId9"/>
    <p:sldId id="420" r:id="rId10"/>
    <p:sldId id="546" r:id="rId11"/>
    <p:sldId id="573" r:id="rId12"/>
    <p:sldId id="421" r:id="rId13"/>
    <p:sldId id="432" r:id="rId14"/>
    <p:sldId id="428" r:id="rId15"/>
    <p:sldId id="422" r:id="rId16"/>
    <p:sldId id="547" r:id="rId17"/>
    <p:sldId id="572" r:id="rId18"/>
    <p:sldId id="553" r:id="rId19"/>
    <p:sldId id="423" r:id="rId20"/>
    <p:sldId id="424" r:id="rId21"/>
    <p:sldId id="427" r:id="rId22"/>
    <p:sldId id="426" r:id="rId23"/>
    <p:sldId id="431" r:id="rId24"/>
    <p:sldId id="575" r:id="rId25"/>
    <p:sldId id="571" r:id="rId26"/>
    <p:sldId id="433" r:id="rId27"/>
    <p:sldId id="434" r:id="rId28"/>
    <p:sldId id="435" r:id="rId29"/>
    <p:sldId id="436" r:id="rId30"/>
    <p:sldId id="549" r:id="rId31"/>
    <p:sldId id="438" r:id="rId32"/>
    <p:sldId id="548" r:id="rId33"/>
    <p:sldId id="437" r:id="rId34"/>
    <p:sldId id="440" r:id="rId35"/>
    <p:sldId id="570" r:id="rId36"/>
    <p:sldId id="537" r:id="rId37"/>
    <p:sldId id="551" r:id="rId38"/>
    <p:sldId id="552" r:id="rId39"/>
    <p:sldId id="554" r:id="rId40"/>
    <p:sldId id="555" r:id="rId41"/>
    <p:sldId id="557" r:id="rId42"/>
    <p:sldId id="569" r:id="rId43"/>
    <p:sldId id="535" r:id="rId44"/>
    <p:sldId id="558" r:id="rId45"/>
    <p:sldId id="559" r:id="rId46"/>
    <p:sldId id="560" r:id="rId47"/>
    <p:sldId id="561" r:id="rId48"/>
    <p:sldId id="562" r:id="rId49"/>
    <p:sldId id="568" r:id="rId50"/>
    <p:sldId id="536" r:id="rId51"/>
    <p:sldId id="566" r:id="rId52"/>
    <p:sldId id="534" r:id="rId53"/>
    <p:sldId id="567" r:id="rId54"/>
    <p:sldId id="564" r:id="rId55"/>
    <p:sldId id="565" r:id="rId56"/>
    <p:sldId id="310" r:id="rId57"/>
    <p:sldId id="550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92A1"/>
    <a:srgbClr val="1D4872"/>
    <a:srgbClr val="FF9300"/>
    <a:srgbClr val="E1DED9"/>
    <a:srgbClr val="E5E2DE"/>
    <a:srgbClr val="E6E4E0"/>
    <a:srgbClr val="E0E0E0"/>
    <a:srgbClr val="0270C0"/>
    <a:srgbClr val="589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59"/>
    <p:restoredTop sz="90508" autoAdjust="0"/>
  </p:normalViewPr>
  <p:slideViewPr>
    <p:cSldViewPr snapToGrid="0" snapToObjects="1">
      <p:cViewPr varScale="1">
        <p:scale>
          <a:sx n="143" d="100"/>
          <a:sy n="143" d="100"/>
        </p:scale>
        <p:origin x="224" y="2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412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EB0726B-68AD-DDAB-A67B-992F369E5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3C3575-040A-50B1-36EA-15DE126107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93CDE-F4A9-1449-8906-9C685798F4D7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4FA33C-2485-B4EC-A361-86AC2D3FAB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8E0D0F-9233-FC3D-B5FF-0FB9AF03E9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173D1-22A5-1B4A-B3DF-E78F17583EB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2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141F-58C7-A14B-B7C4-4167B0731CCF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1648F-5206-084C-80CE-B104653B017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7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cbi.nlm.nih.gov/pubmed/?term=Zickmann%20F%5Bauth%5D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dx.doi.org/10.1186/s12864-015-1315-9" TargetMode="External"/><Relationship Id="rId4" Type="http://schemas.openxmlformats.org/officeDocument/2006/relationships/hyperlink" Target="http://www.ncbi.nlm.nih.gov/pubmed/?term=Renard%20BY%5Bauth%5D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Question: Avez-vous une idée de comment procéder?</a:t>
            </a:r>
          </a:p>
          <a:p>
            <a:r>
              <a:rPr lang="fr-FR" dirty="0"/>
              <a:t>Je ne vais malheureusement pas aborder la thématique de comment coder de manière reproductible en 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 of </a:t>
            </a:r>
            <a:r>
              <a:rPr lang="en-GB" dirty="0" err="1"/>
              <a:t>probabilitics</a:t>
            </a:r>
            <a:r>
              <a:rPr lang="en-GB" dirty="0"/>
              <a:t> methods:</a:t>
            </a:r>
          </a:p>
          <a:p>
            <a:r>
              <a:rPr lang="en-GB" dirty="0"/>
              <a:t>- Likelihood methods</a:t>
            </a:r>
          </a:p>
          <a:p>
            <a:r>
              <a:rPr lang="en-GB" dirty="0"/>
              <a:t>- Bayesian methods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71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DNA-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based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mapping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tools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help to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address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this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challenge, but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they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are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only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able to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transfer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annotation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between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closely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related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species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.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Here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we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introduce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LiftOn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, a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homology-based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software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tool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that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integrates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DNA and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protein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alignments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to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enhance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the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accuracy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of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genome-scale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annotation and to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allow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mapping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between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relatively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distant </a:t>
            </a:r>
            <a:r>
              <a:rPr lang="fr-FR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species</a:t>
            </a:r>
            <a:r>
              <a:rPr lang="fr-FR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.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21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Tiberius 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HMM </a:t>
            </a:r>
            <a:r>
              <a:rPr lang="fr-FR" b="0" i="0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is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 </a:t>
            </a:r>
            <a:r>
              <a:rPr lang="fr-FR" b="0" i="0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used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 </a:t>
            </a:r>
            <a:r>
              <a:rPr lang="fr-FR" b="0" i="0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during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 </a:t>
            </a:r>
            <a:r>
              <a:rPr lang="fr-FR" b="0" i="1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both</a:t>
            </a:r>
            <a:r>
              <a:rPr lang="fr-FR" b="0" i="0" u="none" strike="noStrike" dirty="0">
                <a:solidFill>
                  <a:srgbClr val="2A2A2A"/>
                </a:solidFill>
                <a:effectLst/>
                <a:latin typeface="Merriweather" pitchFamily="2" charset="77"/>
              </a:rPr>
              <a:t> training and </a:t>
            </a:r>
            <a:r>
              <a:rPr lang="fr-FR" b="0" i="0" u="none" strike="noStrike" dirty="0" err="1">
                <a:solidFill>
                  <a:srgbClr val="2A2A2A"/>
                </a:solidFill>
                <a:effectLst/>
                <a:latin typeface="Merriweather" pitchFamily="2" charset="77"/>
              </a:rPr>
              <a:t>inference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67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30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64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45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EVM</a:t>
            </a:r>
            <a:r>
              <a:rPr lang="en-US" baseline="0" dirty="0"/>
              <a:t> choose the post-processed gene model that is most consistent with the evidences</a:t>
            </a:r>
          </a:p>
          <a:p>
            <a:r>
              <a:rPr lang="en-US" dirty="0"/>
              <a:t>~ GAZE :</a:t>
            </a:r>
            <a:r>
              <a:rPr lang="en-US" baseline="0" dirty="0"/>
              <a:t> GAZE (Howe et al. 2002), pro- vides a general framework to assemble an optimal set of gene structures given a user-supplied feature set, scoring scheme,</a:t>
            </a:r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 invalidUrl="http://www.ncbi.nlm.nih.gov/pubmed/?term=Zickmann F[auth]"/>
              </a:rPr>
              <a:t>Ipred</a:t>
            </a:r>
            <a:r>
              <a:rPr lang="en-US" u="sng" dirty="0">
                <a:hlinkClick r:id="rId3" invalidUrl="http://www.ncbi.nlm.nih.gov/pubmed/?term=Zickmann F[auth]"/>
              </a:rPr>
              <a:t>: Franziska Zickmann and </a:t>
            </a:r>
            <a:r>
              <a:rPr lang="en-US" u="sng" dirty="0">
                <a:hlinkClick r:id="rId4" invalidUrl="http://www.ncbi.nlm.nih.gov/pubmed/?term=Renard BY[auth]"/>
              </a:rPr>
              <a:t>Bernhard Y Renard</a:t>
            </a:r>
            <a:r>
              <a:rPr lang="en-US" u="sng" dirty="0"/>
              <a:t> </a:t>
            </a:r>
            <a:r>
              <a:rPr lang="hu-HU" u="sng" dirty="0"/>
              <a:t>BMC </a:t>
            </a:r>
            <a:r>
              <a:rPr lang="hu-HU" u="sng" dirty="0" err="1"/>
              <a:t>Genomics</a:t>
            </a:r>
            <a:r>
              <a:rPr lang="hu-HU" u="sng" dirty="0"/>
              <a:t>. 2015; 16(1): 134.</a:t>
            </a:r>
            <a:r>
              <a:rPr lang="en-US" dirty="0" err="1"/>
              <a:t>doi</a:t>
            </a:r>
            <a:r>
              <a:rPr lang="en-US" dirty="0"/>
              <a:t>:  </a:t>
            </a:r>
            <a:r>
              <a:rPr lang="en-US" u="sng" dirty="0">
                <a:hlinkClick r:id="rId5"/>
              </a:rPr>
              <a:t>10.1186/s12864-015-1315-9</a:t>
            </a:r>
            <a:endParaRPr lang="en-US" dirty="0"/>
          </a:p>
          <a:p>
            <a:r>
              <a:rPr lang="en-US" dirty="0"/>
              <a:t>EVIGAN</a:t>
            </a:r>
            <a:r>
              <a:rPr lang="en-US" baseline="0" dirty="0"/>
              <a:t> is the </a:t>
            </a:r>
            <a:r>
              <a:rPr lang="en-US" baseline="0" dirty="0" err="1"/>
              <a:t>scuccessor</a:t>
            </a:r>
            <a:r>
              <a:rPr lang="en-US" baseline="0" dirty="0"/>
              <a:t> of GLEAN</a:t>
            </a:r>
          </a:p>
          <a:p>
            <a:r>
              <a:rPr lang="en-US" baseline="0" dirty="0"/>
              <a:t>* Are pipelines that contain chooser</a:t>
            </a:r>
            <a:endParaRPr lang="en-US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96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23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1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0E0D2-EBEA-4B4D-B471-D9E93B2D0A5F}" type="datetime1">
              <a:rPr lang="fr-FR" smtClean="0"/>
              <a:t>19/09/2025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B1A7-E63F-C945-BA0F-073149B16916}" type="datetime1">
              <a:rPr lang="fr-FR" smtClean="0"/>
              <a:t>19/09/2025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7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498B-52B4-D248-AC7D-6C0430F78E61}" type="datetime1">
              <a:rPr lang="fr-FR" smtClean="0"/>
              <a:t>19/09/2025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44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46C6-6131-3E46-855C-3DC38D8E7B01}" type="datetime1">
              <a:rPr lang="fr-FR" smtClean="0"/>
              <a:t>19/09/2025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2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B3D0-D467-2B41-9678-48D794215140}" type="datetime1">
              <a:rPr lang="fr-FR" smtClean="0"/>
              <a:t>19/09/2025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07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BEDC-7666-004E-BE91-E87BFD6169DB}" type="datetime1">
              <a:rPr lang="fr-FR" smtClean="0"/>
              <a:t>19/09/2025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45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3A66-96D5-924E-A36F-D0E492D74F3A}" type="datetime1">
              <a:rPr lang="fr-FR" smtClean="0"/>
              <a:t>19/09/2025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523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0F2B-8FFA-8A41-B7B8-A9CC2655472A}" type="datetime1">
              <a:rPr lang="fr-FR" smtClean="0"/>
              <a:t>19/09/2025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09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607F8C7-317E-3A42-B629-4A50B731A1AC}" type="datetime1">
              <a:rPr lang="fr-FR" smtClean="0"/>
              <a:t>19/09/2025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66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9802-2785-FE4D-A07F-6610B026E8FB}" type="datetime1">
              <a:rPr lang="fr-FR" smtClean="0"/>
              <a:t>19/09/2025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1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1AC4-02B8-A545-9B5B-0C3EE09FD627}" type="datetime1">
              <a:rPr lang="fr-FR" smtClean="0"/>
              <a:t>19/09/2025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303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C84F53A-35AA-A583-F69F-86369A24DEF0}"/>
              </a:ext>
            </a:extLst>
          </p:cNvPr>
          <p:cNvCxnSpPr/>
          <p:nvPr userDrawn="1"/>
        </p:nvCxnSpPr>
        <p:spPr>
          <a:xfrm>
            <a:off x="459517" y="444040"/>
            <a:ext cx="11224332" cy="0"/>
          </a:xfrm>
          <a:prstGeom prst="line">
            <a:avLst/>
          </a:prstGeom>
          <a:ln w="9525" cmpd="sng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BFD074D-2582-B065-C767-BCAB89AD7D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12192000" cy="444500"/>
          </a:xfrm>
        </p:spPr>
        <p:txBody>
          <a:bodyPr/>
          <a:lstStyle>
            <a:lvl1pPr marL="0" indent="0" algn="ctr">
              <a:buNone/>
              <a:defRPr b="0" cap="none" spc="0">
                <a:ln w="0"/>
                <a:solidFill>
                  <a:srgbClr val="02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  <a:lvl2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2pPr>
            <a:lvl3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3pPr>
            <a:lvl4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4pPr>
            <a:lvl5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5pPr>
          </a:lstStyle>
          <a:p>
            <a:pPr lvl="0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374BB62F-3963-2B70-AEA5-B10FCFC49E8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17244" y="6413052"/>
            <a:ext cx="1421889" cy="309201"/>
          </a:xfrm>
        </p:spPr>
        <p:txBody>
          <a:bodyPr/>
          <a:lstStyle/>
          <a:p>
            <a:fld id="{D7D8D820-F334-8742-8AC7-66EEDAB2EAC2}" type="datetime1">
              <a:rPr lang="fr-FR" smtClean="0"/>
              <a:t>19/09/2025</a:t>
            </a:fld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E5310E98-F573-2FB9-D8FA-5D89B44521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73896" y="6413960"/>
            <a:ext cx="537867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FEA4EDD-33BF-CA1E-119C-F66477D6E2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3807" y="6413961"/>
            <a:ext cx="854119" cy="309659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2E207B9E-14FB-E537-1518-E74527A54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074" y="6251046"/>
            <a:ext cx="1636749" cy="48416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0519749-FB4A-3542-E28D-042AF44C12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1857632" y="6248270"/>
            <a:ext cx="634193" cy="4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3A66-96D5-924E-A36F-D0E492D74F3A}" type="datetime1">
              <a:rPr lang="fr-FR" smtClean="0"/>
              <a:t>19/09/2025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5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ke34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4.jpeg"/><Relationship Id="rId15" Type="http://schemas.openxmlformats.org/officeDocument/2006/relationships/image" Target="../media/image11.sv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hyperlink" Target="https://freepngimg.com/png/80213-text-symbol-sign-black-arroba-white" TargetMode="External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eberlab-hhu/Helixer" TargetMode="External"/><Relationship Id="rId3" Type="http://schemas.openxmlformats.org/officeDocument/2006/relationships/hyperlink" Target="https://academic.oup.com/bioinformatics/article/40/12/btae685/7903281" TargetMode="External"/><Relationship Id="rId7" Type="http://schemas.openxmlformats.org/officeDocument/2006/relationships/hyperlink" Target="https://doi.org/10.1101/2023.02.06.52728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github.com/Gaius-Augustus/Tiberius" TargetMode="External"/><Relationship Id="rId9" Type="http://schemas.openxmlformats.org/officeDocument/2006/relationships/image" Target="../media/image4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xtgenusfs/funannotate" TargetMode="External"/><Relationship Id="rId3" Type="http://schemas.openxmlformats.org/officeDocument/2006/relationships/hyperlink" Target="https://github.com/PASApipeline/PASApipeline/wiki" TargetMode="External"/><Relationship Id="rId7" Type="http://schemas.openxmlformats.org/officeDocument/2006/relationships/hyperlink" Target="https://github.com/Ensembl/ensembl-analysi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ComparativeGenomicsToolkit/Comparative-Annotation-Toolkit" TargetMode="External"/><Relationship Id="rId5" Type="http://schemas.openxmlformats.org/officeDocument/2006/relationships/hyperlink" Target="https://github.com/ncbi/egapx?tab=readme-ov-file" TargetMode="External"/><Relationship Id="rId10" Type="http://schemas.openxmlformats.org/officeDocument/2006/relationships/hyperlink" Target="https://gitlab.com/PlantGenomicsLab/easel" TargetMode="External"/><Relationship Id="rId4" Type="http://schemas.openxmlformats.org/officeDocument/2006/relationships/hyperlink" Target="https://github.com/Yandell-Lab/maker" TargetMode="External"/><Relationship Id="rId9" Type="http://schemas.openxmlformats.org/officeDocument/2006/relationships/hyperlink" Target="https://github.com/Gaius-Augustus/BRAKER?tab=readme-ov-file#braker-with-rna-seq-and-protein-data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CD2EBC-5076-D24A-AEF9-B6A8AC11F049}"/>
              </a:ext>
            </a:extLst>
          </p:cNvPr>
          <p:cNvSpPr txBox="1"/>
          <p:nvPr/>
        </p:nvSpPr>
        <p:spPr>
          <a:xfrm>
            <a:off x="2800350" y="52705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 fontScale="25000" lnSpcReduction="20000"/>
          </a:bodyPr>
          <a:lstStyle/>
          <a:p>
            <a:pPr algn="l"/>
            <a:endParaRPr lang="en-GB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BEC24E-07D5-F740-A842-2F3820E97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42" y="237602"/>
            <a:ext cx="3287795" cy="97254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05B4075-878E-6653-889D-DC4137FDB9DC}"/>
              </a:ext>
            </a:extLst>
          </p:cNvPr>
          <p:cNvSpPr txBox="1"/>
          <p:nvPr/>
        </p:nvSpPr>
        <p:spPr>
          <a:xfrm>
            <a:off x="6524264" y="30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097A4089-15D0-0182-66C4-7A466A68AED9}"/>
              </a:ext>
            </a:extLst>
          </p:cNvPr>
          <p:cNvSpPr txBox="1">
            <a:spLocks/>
          </p:cNvSpPr>
          <p:nvPr/>
        </p:nvSpPr>
        <p:spPr>
          <a:xfrm>
            <a:off x="0" y="1979221"/>
            <a:ext cx="12192000" cy="225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Methods in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genome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annotation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B056A61-CFD9-6140-5038-4884A1FBF7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3742895" y="237601"/>
            <a:ext cx="1266665" cy="97254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A210819-9122-4D1F-58B8-CC249783DB6C}"/>
              </a:ext>
            </a:extLst>
          </p:cNvPr>
          <p:cNvSpPr txBox="1"/>
          <p:nvPr/>
        </p:nvSpPr>
        <p:spPr>
          <a:xfrm>
            <a:off x="0" y="618144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22/09/2025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887C6DF-E142-F3B1-5D40-CD1824E487CA}"/>
              </a:ext>
            </a:extLst>
          </p:cNvPr>
          <p:cNvSpPr txBox="1"/>
          <p:nvPr/>
        </p:nvSpPr>
        <p:spPr>
          <a:xfrm>
            <a:off x="9929698" y="655509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Jacques Dainat Ph.D.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ED1E1B3-8F78-27EA-E2F1-CF1D91EC8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513" y="6181445"/>
            <a:ext cx="642254" cy="642254"/>
          </a:xfrm>
          <a:prstGeom prst="ellipse">
            <a:avLst/>
          </a:prstGeom>
        </p:spPr>
      </p:pic>
      <p:pic>
        <p:nvPicPr>
          <p:cNvPr id="21" name="Picture 29">
            <a:hlinkClick r:id="rId6"/>
            <a:extLst>
              <a:ext uri="{FF2B5EF4-FFF2-40B4-BE49-F238E27FC236}">
                <a16:creationId xmlns:a16="http://schemas.microsoft.com/office/drawing/2014/main" id="{89EBB4B5-A8DC-AE03-1BD7-D0DF48AA5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2068" y="6532274"/>
            <a:ext cx="332120" cy="3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2A78C47-4245-D420-57CD-8BD9ED4B1A04}"/>
              </a:ext>
            </a:extLst>
          </p:cNvPr>
          <p:cNvSpPr txBox="1"/>
          <p:nvPr/>
        </p:nvSpPr>
        <p:spPr>
          <a:xfrm>
            <a:off x="3424123" y="6532274"/>
            <a:ext cx="2150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@</a:t>
            </a:r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Jacquesdainat.bsky.social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AC803A2-D6B6-07EC-6C5E-9A07D0B4B01C}"/>
              </a:ext>
            </a:extLst>
          </p:cNvPr>
          <p:cNvSpPr txBox="1"/>
          <p:nvPr/>
        </p:nvSpPr>
        <p:spPr>
          <a:xfrm>
            <a:off x="2367039" y="656181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Juke34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0F70352-0DEF-6161-4152-81AC1DFB55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362" y="6547249"/>
            <a:ext cx="276999" cy="276999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BCB7F09D-196E-B450-7AF1-9A9D0103DAAC}"/>
              </a:ext>
            </a:extLst>
          </p:cNvPr>
          <p:cNvSpPr txBox="1"/>
          <p:nvPr/>
        </p:nvSpPr>
        <p:spPr>
          <a:xfrm>
            <a:off x="287842" y="6548538"/>
            <a:ext cx="1743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Jacques.dainat@ird.fr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21230A3-709D-3E2B-F994-C2FACF1A01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281" y="6471179"/>
            <a:ext cx="370989" cy="37098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E0AF94A-E95B-00AF-19FC-268F3DCD5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75" y="5210371"/>
            <a:ext cx="1068960" cy="1021213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AD93107-6B79-6CB3-E21C-383A6827D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93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915" b="96413" l="2200" r="97600">
                        <a14:foregroundMark x1="36400" y1="35426" x2="36400" y2="35426"/>
                        <a14:foregroundMark x1="42800" y1="36099" x2="42800" y2="36099"/>
                        <a14:foregroundMark x1="56400" y1="32960" x2="56400" y2="32960"/>
                        <a14:foregroundMark x1="68800" y1="28251" x2="68800" y2="28251"/>
                        <a14:foregroundMark x1="83400" y1="10762" x2="83400" y2="10762"/>
                        <a14:foregroundMark x1="92000" y1="21076" x2="92000" y2="21076"/>
                        <a14:foregroundMark x1="96000" y1="19955" x2="96000" y2="19955"/>
                        <a14:foregroundMark x1="92400" y1="36547" x2="92400" y2="36547"/>
                        <a14:foregroundMark x1="97600" y1="64126" x2="97600" y2="64126"/>
                        <a14:foregroundMark x1="88800" y1="61659" x2="88800" y2="61659"/>
                        <a14:foregroundMark x1="79800" y1="68161" x2="79800" y2="68161"/>
                        <a14:foregroundMark x1="64000" y1="80717" x2="64000" y2="80717"/>
                        <a14:foregroundMark x1="42200" y1="68834" x2="42200" y2="68834"/>
                        <a14:foregroundMark x1="16600" y1="67489" x2="16600" y2="67489"/>
                        <a14:foregroundMark x1="7200" y1="61211" x2="7200" y2="61211"/>
                        <a14:foregroundMark x1="2200" y1="63004" x2="2200" y2="63004"/>
                        <a14:foregroundMark x1="7600" y1="47085" x2="7600" y2="47085"/>
                        <a14:foregroundMark x1="3000" y1="30493" x2="3000" y2="30493"/>
                        <a14:foregroundMark x1="10600" y1="16592" x2="10600" y2="16592"/>
                        <a14:foregroundMark x1="19600" y1="8969" x2="19600" y2="8969"/>
                        <a14:foregroundMark x1="17400" y1="4933" x2="17400" y2="4933"/>
                        <a14:foregroundMark x1="32800" y1="2915" x2="32800" y2="2915"/>
                        <a14:foregroundMark x1="53600" y1="6502" x2="53600" y2="6502"/>
                        <a14:foregroundMark x1="63200" y1="10090" x2="63200" y2="10090"/>
                        <a14:foregroundMark x1="18000" y1="82287" x2="18000" y2="82287"/>
                        <a14:foregroundMark x1="27400" y1="95067" x2="27400" y2="95067"/>
                        <a14:foregroundMark x1="53000" y1="96413" x2="53000" y2="96413"/>
                        <a14:foregroundMark x1="64600" y1="95964" x2="64600" y2="95964"/>
                        <a14:foregroundMark x1="79200" y1="92377" x2="79200" y2="92377"/>
                        <a14:foregroundMark x1="87200" y1="84081" x2="87200" y2="84081"/>
                        <a14:foregroundMark x1="34400" y1="3139" x2="34400" y2="3139"/>
                        <a14:foregroundMark x1="69800" y1="32287" x2="69800" y2="32287"/>
                        <a14:foregroundMark x1="69600" y1="32511" x2="69600" y2="32511"/>
                        <a14:foregroundMark x1="69600" y1="32063" x2="69600" y2="32063"/>
                        <a14:foregroundMark x1="69800" y1="32511" x2="69800" y2="32511"/>
                        <a14:foregroundMark x1="69800" y1="32511" x2="69800" y2="32511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600" y1="31839" x2="69600" y2="31839"/>
                        <a14:foregroundMark x1="69600" y1="32287" x2="69600" y2="32287"/>
                        <a14:foregroundMark x1="69800" y1="32511" x2="70000" y2="32960"/>
                        <a14:foregroundMark x1="70000" y1="33408" x2="68800" y2="32960"/>
                        <a14:foregroundMark x1="39400" y1="89910" x2="39400" y2="89910"/>
                        <a14:foregroundMark x1="39600" y1="89910" x2="39600" y2="89910"/>
                        <a14:foregroundMark x1="39600" y1="90135" x2="39600" y2="90135"/>
                        <a14:foregroundMark x1="39600" y1="90135" x2="39600" y2="90135"/>
                        <a14:foregroundMark x1="39600" y1="89686" x2="39600" y2="89686"/>
                        <a14:foregroundMark x1="39600" y1="89686" x2="39200" y2="89686"/>
                        <a14:foregroundMark x1="39600" y1="90135" x2="39600" y2="90135"/>
                        <a14:backgroundMark x1="40000" y1="89910" x2="40000" y2="89910"/>
                        <a14:backgroundMark x1="63200" y1="96413" x2="63200" y2="96413"/>
                        <a14:backgroundMark x1="63800" y1="96188" x2="63800" y2="96188"/>
                        <a14:backgroundMark x1="64200" y1="96188" x2="64200" y2="96188"/>
                        <a14:backgroundMark x1="64000" y1="95740" x2="64000" y2="95740"/>
                        <a14:backgroundMark x1="64000" y1="95740" x2="64000" y2="95740"/>
                        <a14:backgroundMark x1="64000" y1="95964" x2="64000" y2="95964"/>
                        <a14:backgroundMark x1="64200" y1="95964" x2="64200" y2="95964"/>
                        <a14:backgroundMark x1="64200" y1="96413" x2="64200" y2="96413"/>
                        <a14:backgroundMark x1="42600" y1="71525" x2="42600" y2="71525"/>
                        <a14:backgroundMark x1="42800" y1="71076" x2="42800" y2="71076"/>
                        <a14:backgroundMark x1="61400" y1="67937" x2="61400" y2="67937"/>
                        <a14:backgroundMark x1="70000" y1="32063" x2="70000" y2="32063"/>
                        <a14:backgroundMark x1="17000" y1="5381" x2="17000" y2="5381"/>
                        <a14:backgroundMark x1="17600" y1="5381" x2="17600" y2="5381"/>
                        <a14:backgroundMark x1="17000" y1="5157" x2="17000" y2="5157"/>
                        <a14:backgroundMark x1="17000" y1="4933" x2="17000" y2="4933"/>
                        <a14:backgroundMark x1="17000" y1="5157" x2="17000" y2="5157"/>
                        <a14:backgroundMark x1="17000" y1="5157" x2="17000" y2="5157"/>
                        <a14:backgroundMark x1="17200" y1="5157" x2="17200" y2="5157"/>
                        <a14:backgroundMark x1="17200" y1="5157" x2="17200" y2="5157"/>
                        <a14:backgroundMark x1="17200" y1="4933" x2="17200" y2="4933"/>
                        <a14:backgroundMark x1="17400" y1="5157" x2="17400" y2="5157"/>
                        <a14:backgroundMark x1="17400" y1="4933" x2="17400" y2="4933"/>
                        <a14:backgroundMark x1="17400" y1="5157" x2="17400" y2="5157"/>
                        <a14:backgroundMark x1="32400" y1="3363" x2="32400" y2="3363"/>
                        <a14:backgroundMark x1="32400" y1="2691" x2="32400" y2="2691"/>
                        <a14:backgroundMark x1="32400" y1="3587" x2="32400" y2="3587"/>
                        <a14:backgroundMark x1="32400" y1="3363" x2="32400" y2="3363"/>
                        <a14:backgroundMark x1="32400" y1="3587" x2="32400" y2="3587"/>
                        <a14:backgroundMark x1="32200" y1="3363" x2="32200" y2="3363"/>
                        <a14:backgroundMark x1="32200" y1="3363" x2="32200" y2="3363"/>
                        <a14:backgroundMark x1="32400" y1="3587" x2="32400" y2="3587"/>
                        <a14:backgroundMark x1="32400" y1="3587" x2="32400" y2="3587"/>
                        <a14:backgroundMark x1="32400" y1="3363" x2="32400" y2="3363"/>
                        <a14:backgroundMark x1="32400" y1="3363" x2="32400" y2="3363"/>
                        <a14:backgroundMark x1="32400" y1="3363" x2="32400" y2="3363"/>
                        <a14:backgroundMark x1="32600" y1="3363" x2="32600" y2="3363"/>
                        <a14:backgroundMark x1="32600" y1="3139" x2="32600" y2="31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362" y="5259565"/>
            <a:ext cx="785191" cy="700391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FAA25AA1-832A-8914-E46D-93A0F742099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8884" y="5430451"/>
            <a:ext cx="992125" cy="52950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6B86C17-C874-9546-64BA-73A4E494DE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72214" y="5292444"/>
            <a:ext cx="959549" cy="7235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09AB94C-A4AE-FE05-418C-A4452751B1F2}"/>
              </a:ext>
            </a:extLst>
          </p:cNvPr>
          <p:cNvSpPr txBox="1"/>
          <p:nvPr/>
        </p:nvSpPr>
        <p:spPr>
          <a:xfrm>
            <a:off x="5726821" y="3633784"/>
            <a:ext cx="5872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with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 focus on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eukaryotes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protein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coding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genes</a:t>
            </a:r>
            <a:endParaRPr lang="fr-FR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0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Calibri" charset="0"/>
                <a:ea typeface="MS PGothic" charset="0"/>
              </a:rPr>
              <a:t>What is annotation ?</a:t>
            </a:r>
            <a:endParaRPr lang="en-US" sz="1600" dirty="0">
              <a:latin typeface="Calibri" charset="0"/>
              <a:ea typeface="MS PGothic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73511-CFAF-7A28-39A4-EEBEC0D878CE}"/>
              </a:ext>
            </a:extLst>
          </p:cNvPr>
          <p:cNvSpPr/>
          <p:nvPr/>
        </p:nvSpPr>
        <p:spPr>
          <a:xfrm>
            <a:off x="945214" y="1983108"/>
            <a:ext cx="44978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u="sng" dirty="0"/>
              <a:t>Structural annotation:</a:t>
            </a:r>
            <a:endParaRPr lang="en-US" sz="2400" dirty="0"/>
          </a:p>
          <a:p>
            <a:pPr algn="ctr"/>
            <a:endParaRPr lang="sv-SE" sz="2000" dirty="0">
              <a:latin typeface="Calibri" charset="0"/>
              <a:ea typeface="MS PGothic" charset="0"/>
            </a:endParaRPr>
          </a:p>
          <a:p>
            <a:pPr algn="ctr"/>
            <a:r>
              <a:rPr lang="sv-SE" sz="2000" dirty="0" err="1">
                <a:latin typeface="Calibri" charset="0"/>
                <a:ea typeface="MS PGothic" charset="0"/>
              </a:rPr>
              <a:t>Find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out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where</a:t>
            </a:r>
            <a:r>
              <a:rPr lang="sv-SE" sz="2000" dirty="0">
                <a:latin typeface="Calibri" charset="0"/>
                <a:ea typeface="MS PGothic" charset="0"/>
              </a:rPr>
              <a:t> the regions </a:t>
            </a:r>
            <a:r>
              <a:rPr lang="sv-SE" sz="2000" dirty="0" err="1">
                <a:latin typeface="Calibri" charset="0"/>
                <a:ea typeface="MS PGothic" charset="0"/>
              </a:rPr>
              <a:t>of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interest</a:t>
            </a:r>
            <a:r>
              <a:rPr lang="sv-SE" sz="2000" dirty="0">
                <a:latin typeface="Calibri" charset="0"/>
                <a:ea typeface="MS PGothic" charset="0"/>
              </a:rPr>
              <a:t> (</a:t>
            </a:r>
            <a:r>
              <a:rPr lang="sv-SE" sz="2000" dirty="0" err="1">
                <a:latin typeface="Calibri" charset="0"/>
                <a:ea typeface="MS PGothic" charset="0"/>
              </a:rPr>
              <a:t>usually</a:t>
            </a:r>
            <a:r>
              <a:rPr lang="sv-SE" sz="2000" dirty="0">
                <a:latin typeface="Calibri" charset="0"/>
                <a:ea typeface="MS PGothic" charset="0"/>
              </a:rPr>
              <a:t> genes) </a:t>
            </a:r>
            <a:r>
              <a:rPr lang="sv-SE" sz="2000" dirty="0" err="1">
                <a:latin typeface="Calibri" charset="0"/>
                <a:ea typeface="MS PGothic" charset="0"/>
              </a:rPr>
              <a:t>are</a:t>
            </a:r>
            <a:r>
              <a:rPr lang="sv-SE" sz="2000" dirty="0">
                <a:latin typeface="Calibri" charset="0"/>
                <a:ea typeface="MS PGothic" charset="0"/>
              </a:rPr>
              <a:t> in the </a:t>
            </a:r>
            <a:r>
              <a:rPr lang="sv-SE" sz="2000" dirty="0" err="1">
                <a:latin typeface="Calibri" charset="0"/>
                <a:ea typeface="MS PGothic" charset="0"/>
              </a:rPr>
              <a:t>sequence</a:t>
            </a:r>
            <a:r>
              <a:rPr lang="sv-SE" sz="2000" dirty="0">
                <a:latin typeface="Calibri" charset="0"/>
                <a:ea typeface="MS PGothic" charset="0"/>
              </a:rPr>
              <a:t> data and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they</a:t>
            </a:r>
            <a:r>
              <a:rPr lang="sv-SE" sz="2000" dirty="0">
                <a:latin typeface="Calibri" charset="0"/>
                <a:ea typeface="MS PGothic" charset="0"/>
              </a:rPr>
              <a:t> look like. </a:t>
            </a:r>
          </a:p>
          <a:p>
            <a:pPr algn="ctr"/>
            <a:r>
              <a:rPr lang="sv-SE" sz="2000" dirty="0">
                <a:latin typeface="Calibri" charset="0"/>
                <a:ea typeface="MS PGothic" charset="0"/>
              </a:rPr>
              <a:t>=&gt; </a:t>
            </a:r>
            <a:r>
              <a:rPr lang="sv-SE" sz="2000" b="1" dirty="0"/>
              <a:t>Gene </a:t>
            </a:r>
            <a:r>
              <a:rPr lang="sv-SE" sz="2000" b="1" dirty="0" err="1"/>
              <a:t>prediction</a:t>
            </a:r>
            <a:r>
              <a:rPr lang="sv-SE" sz="2000" b="1" dirty="0"/>
              <a:t> </a:t>
            </a:r>
            <a:r>
              <a:rPr lang="sv-SE" sz="2000" dirty="0"/>
              <a:t>/ </a:t>
            </a:r>
            <a:r>
              <a:rPr lang="sv-SE" sz="2000" b="1" dirty="0"/>
              <a:t>Gene </a:t>
            </a:r>
            <a:r>
              <a:rPr lang="sv-SE" sz="2000" b="1" dirty="0" err="1"/>
              <a:t>Finding</a:t>
            </a:r>
            <a:endParaRPr lang="sv-SE" sz="2000" dirty="0"/>
          </a:p>
          <a:p>
            <a:pPr algn="ctr"/>
            <a:endParaRPr lang="sv-SE" sz="2000" dirty="0">
              <a:latin typeface="Calibri" charset="0"/>
              <a:ea typeface="MS PGothic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3583C-D851-32FA-61FD-14F6B4E8A6F8}"/>
              </a:ext>
            </a:extLst>
          </p:cNvPr>
          <p:cNvSpPr/>
          <p:nvPr/>
        </p:nvSpPr>
        <p:spPr>
          <a:xfrm>
            <a:off x="6956781" y="1979107"/>
            <a:ext cx="36569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functional annotation:</a:t>
            </a:r>
          </a:p>
          <a:p>
            <a:pPr algn="ctr"/>
            <a:endParaRPr lang="sv-SE" sz="2000" dirty="0">
              <a:latin typeface="Calibri" charset="0"/>
              <a:ea typeface="MS PGothic" charset="0"/>
            </a:endParaRPr>
          </a:p>
          <a:p>
            <a:pPr algn="ctr"/>
            <a:r>
              <a:rPr lang="sv-SE" sz="2000" dirty="0" err="1">
                <a:latin typeface="Calibri" charset="0"/>
                <a:ea typeface="MS PGothic" charset="0"/>
              </a:rPr>
              <a:t>Find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out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the regions do.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do </a:t>
            </a:r>
            <a:r>
              <a:rPr lang="sv-SE" sz="2000" dirty="0" err="1">
                <a:latin typeface="Calibri" charset="0"/>
                <a:ea typeface="MS PGothic" charset="0"/>
              </a:rPr>
              <a:t>they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code</a:t>
            </a:r>
            <a:r>
              <a:rPr lang="sv-SE" sz="2000" dirty="0">
                <a:latin typeface="Calibri" charset="0"/>
                <a:ea typeface="MS PGothic" charset="0"/>
              </a:rPr>
              <a:t> for?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196C3-F62B-C11A-7245-47F2007B8EEF}"/>
              </a:ext>
            </a:extLst>
          </p:cNvPr>
          <p:cNvSpPr/>
          <p:nvPr/>
        </p:nvSpPr>
        <p:spPr>
          <a:xfrm>
            <a:off x="5992451" y="2203333"/>
            <a:ext cx="520670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VS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1ED22261-23DF-161E-6D81-5C5C5C23A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849" y="4255973"/>
            <a:ext cx="1854057" cy="820420"/>
          </a:xfrm>
          <a:prstGeom prst="rect">
            <a:avLst/>
          </a:prstGeom>
        </p:spPr>
      </p:pic>
      <p:pic>
        <p:nvPicPr>
          <p:cNvPr id="9" name="Picture 2" descr="http://0.tqn.com/d/biology/1/0/2/b/protein_structure.jpg">
            <a:extLst>
              <a:ext uri="{FF2B5EF4-FFF2-40B4-BE49-F238E27FC236}">
                <a16:creationId xmlns:a16="http://schemas.microsoft.com/office/drawing/2014/main" id="{8328DF74-352F-6FEB-4775-2D21D62CC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281" y="3493899"/>
            <a:ext cx="1606123" cy="23445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35C07F3-C8DD-70BD-E9E4-EE20F1B0C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827" y="4320076"/>
            <a:ext cx="3513893" cy="137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6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972D2D4-754B-EAE8-B6AC-99293B6FE9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Annotation tools</a:t>
            </a:r>
            <a:endParaRPr lang="en-US" sz="20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A14DE4E-9F93-D673-0299-B4253D927C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BA3C9F97-1FD2-B4F9-6E65-5F7EAB36A4C5}"/>
              </a:ext>
            </a:extLst>
          </p:cNvPr>
          <p:cNvCxnSpPr>
            <a:cxnSpLocks/>
          </p:cNvCxnSpPr>
          <p:nvPr/>
        </p:nvCxnSpPr>
        <p:spPr>
          <a:xfrm>
            <a:off x="1192721" y="2279159"/>
            <a:ext cx="9431737" cy="0"/>
          </a:xfrm>
          <a:prstGeom prst="straightConnector1">
            <a:avLst/>
          </a:prstGeom>
          <a:ln w="762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3CF967C-EB2A-46E0-0EFF-8E4DBA5246F4}"/>
              </a:ext>
            </a:extLst>
          </p:cNvPr>
          <p:cNvSpPr/>
          <p:nvPr/>
        </p:nvSpPr>
        <p:spPr>
          <a:xfrm>
            <a:off x="1094192" y="1678995"/>
            <a:ext cx="2866740" cy="1200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First annotation tools</a:t>
            </a:r>
          </a:p>
          <a:p>
            <a:endParaRPr lang="en-US" sz="2400" dirty="0"/>
          </a:p>
          <a:p>
            <a:r>
              <a:rPr lang="en-US" sz="2400" dirty="0"/>
              <a:t>90’s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5A6C7-2C87-7617-1BE1-DCE29F7F26F3}"/>
              </a:ext>
            </a:extLst>
          </p:cNvPr>
          <p:cNvSpPr/>
          <p:nvPr/>
        </p:nvSpPr>
        <p:spPr>
          <a:xfrm>
            <a:off x="6614662" y="1776445"/>
            <a:ext cx="36573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&gt;100 annotation tools*</a:t>
            </a:r>
          </a:p>
          <a:p>
            <a:pPr algn="r"/>
            <a:endParaRPr lang="en-US" sz="2400" dirty="0"/>
          </a:p>
          <a:p>
            <a:pPr algn="r"/>
            <a:r>
              <a:rPr lang="en-US" sz="2400" dirty="0"/>
              <a:t>Nowadays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A925BC-7045-19D0-BF71-93531A3FDD16}"/>
              </a:ext>
            </a:extLst>
          </p:cNvPr>
          <p:cNvSpPr/>
          <p:nvPr/>
        </p:nvSpPr>
        <p:spPr>
          <a:xfrm>
            <a:off x="1137733" y="4594047"/>
            <a:ext cx="9143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/>
                </a:solidFill>
              </a:rPr>
              <a:t>GFF</a:t>
            </a:r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ED3D5F-ADC3-6874-B602-E28A972BAAEF}"/>
              </a:ext>
            </a:extLst>
          </p:cNvPr>
          <p:cNvSpPr/>
          <p:nvPr/>
        </p:nvSpPr>
        <p:spPr>
          <a:xfrm>
            <a:off x="1524000" y="3847054"/>
            <a:ext cx="9143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Structural annotation + functional annotation + </a:t>
            </a:r>
            <a:r>
              <a:rPr lang="mr-IN" sz="2400" dirty="0"/>
              <a:t>…</a:t>
            </a:r>
            <a:r>
              <a:rPr lang="en-US" sz="2400" dirty="0"/>
              <a:t> </a:t>
            </a:r>
          </a:p>
        </p:txBody>
      </p:sp>
      <p:sp>
        <p:nvSpPr>
          <p:cNvPr id="13" name="Bent Arrow 17">
            <a:extLst>
              <a:ext uri="{FF2B5EF4-FFF2-40B4-BE49-F238E27FC236}">
                <a16:creationId xmlns:a16="http://schemas.microsoft.com/office/drawing/2014/main" id="{C11918D1-481C-A536-8D29-162293759868}"/>
              </a:ext>
            </a:extLst>
          </p:cNvPr>
          <p:cNvSpPr/>
          <p:nvPr/>
        </p:nvSpPr>
        <p:spPr>
          <a:xfrm rot="10800000">
            <a:off x="6802073" y="4336397"/>
            <a:ext cx="698870" cy="608493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4" name="Bent Arrow 18">
            <a:extLst>
              <a:ext uri="{FF2B5EF4-FFF2-40B4-BE49-F238E27FC236}">
                <a16:creationId xmlns:a16="http://schemas.microsoft.com/office/drawing/2014/main" id="{A2842272-9303-FA1D-2D46-C16A8AA32A4E}"/>
              </a:ext>
            </a:extLst>
          </p:cNvPr>
          <p:cNvSpPr/>
          <p:nvPr/>
        </p:nvSpPr>
        <p:spPr>
          <a:xfrm rot="10800000" flipH="1">
            <a:off x="4148343" y="4308719"/>
            <a:ext cx="698870" cy="608493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D8C6CF3-05EF-4B0F-D3A0-1DF62ED7DB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" t="6767" r="11544" b="7576"/>
          <a:stretch/>
        </p:blipFill>
        <p:spPr>
          <a:xfrm>
            <a:off x="8120154" y="1229879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6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32545ED-7B85-C265-AC93-1BA92603C2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Experimental vs </a:t>
            </a:r>
            <a:r>
              <a:rPr lang="en-GB" dirty="0" err="1"/>
              <a:t>Preditive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C2B2FCA-5309-AE89-F35C-484B2EEED8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A86E5AC-F173-9DDD-154D-72C871925E6C}"/>
              </a:ext>
            </a:extLst>
          </p:cNvPr>
          <p:cNvSpPr txBox="1">
            <a:spLocks/>
          </p:cNvSpPr>
          <p:nvPr/>
        </p:nvSpPr>
        <p:spPr>
          <a:xfrm>
            <a:off x="2155371" y="1661070"/>
            <a:ext cx="4040188" cy="3951288"/>
          </a:xfrm>
          <a:prstGeom prst="rect">
            <a:avLst/>
          </a:prstGeom>
          <a:ln w="12700">
            <a:solidFill>
              <a:srgbClr val="FF9300"/>
            </a:solidFill>
          </a:ln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Isolate and clone cognate transcripts (as cDNA) sequence them and compare cDNA with genomic DNA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=&gt; It’s the ONLY secure method but: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Cloning is time consuming. </a:t>
            </a:r>
          </a:p>
          <a:p>
            <a:r>
              <a:rPr lang="en-US" dirty="0"/>
              <a:t>Lowly expressed genes are difficult to detect. </a:t>
            </a:r>
          </a:p>
          <a:p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37993D4-2F9C-32C2-9077-71848ADBEEB7}"/>
              </a:ext>
            </a:extLst>
          </p:cNvPr>
          <p:cNvSpPr txBox="1">
            <a:spLocks/>
          </p:cNvSpPr>
          <p:nvPr/>
        </p:nvSpPr>
        <p:spPr>
          <a:xfrm>
            <a:off x="7693024" y="1032422"/>
            <a:ext cx="1599021" cy="639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Predictive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AD7232D-6292-6090-554C-9438C6416250}"/>
              </a:ext>
            </a:extLst>
          </p:cNvPr>
          <p:cNvSpPr txBox="1">
            <a:spLocks/>
          </p:cNvSpPr>
          <p:nvPr/>
        </p:nvSpPr>
        <p:spPr>
          <a:xfrm>
            <a:off x="6343196" y="1661070"/>
            <a:ext cx="4041775" cy="395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Intrinsic (Machine Learning)</a:t>
            </a:r>
          </a:p>
          <a:p>
            <a:pPr marL="0" indent="0">
              <a:buNone/>
            </a:pPr>
            <a:r>
              <a:rPr lang="en-US" sz="1400" dirty="0"/>
              <a:t>Use only the DNA sequence itself to predict genes based on statistical models of gene structure</a:t>
            </a:r>
          </a:p>
          <a:p>
            <a:r>
              <a:rPr lang="en-US" dirty="0"/>
              <a:t>Extrinsic</a:t>
            </a:r>
          </a:p>
          <a:p>
            <a:pPr marL="0" indent="0">
              <a:buNone/>
            </a:pPr>
            <a:r>
              <a:rPr lang="fr-FR" sz="1400" dirty="0"/>
              <a:t>Use </a:t>
            </a:r>
            <a:r>
              <a:rPr lang="fr-FR" sz="1400" b="1" dirty="0" err="1"/>
              <a:t>external</a:t>
            </a:r>
            <a:r>
              <a:rPr lang="fr-FR" sz="1400" b="1" dirty="0"/>
              <a:t> </a:t>
            </a:r>
            <a:r>
              <a:rPr lang="fr-FR" sz="1400" b="1" dirty="0" err="1"/>
              <a:t>biological</a:t>
            </a:r>
            <a:r>
              <a:rPr lang="fr-FR" sz="1400" b="1" dirty="0"/>
              <a:t> </a:t>
            </a:r>
            <a:r>
              <a:rPr lang="fr-FR" sz="1400" b="1" dirty="0" err="1"/>
              <a:t>evidence</a:t>
            </a:r>
            <a:r>
              <a:rPr lang="fr-FR" sz="1400" dirty="0"/>
              <a:t>, like RNA-Seq, </a:t>
            </a:r>
            <a:r>
              <a:rPr lang="fr-FR" sz="1400" dirty="0" err="1"/>
              <a:t>ESTs</a:t>
            </a:r>
            <a:r>
              <a:rPr lang="fr-FR" sz="1400" dirty="0"/>
              <a:t>, </a:t>
            </a:r>
            <a:r>
              <a:rPr lang="fr-FR" sz="1400" dirty="0" err="1"/>
              <a:t>protein</a:t>
            </a:r>
            <a:r>
              <a:rPr lang="fr-FR" sz="1400" dirty="0"/>
              <a:t> </a:t>
            </a:r>
            <a:r>
              <a:rPr lang="fr-FR" sz="1400" dirty="0" err="1"/>
              <a:t>alignments</a:t>
            </a:r>
            <a:r>
              <a:rPr lang="fr-FR" sz="1400" dirty="0"/>
              <a:t>, or </a:t>
            </a:r>
            <a:r>
              <a:rPr lang="fr-FR" sz="1400" dirty="0" err="1"/>
              <a:t>known</a:t>
            </a:r>
            <a:r>
              <a:rPr lang="fr-FR" sz="1400" dirty="0"/>
              <a:t> </a:t>
            </a:r>
            <a:r>
              <a:rPr lang="fr-FR" sz="1400" dirty="0" err="1"/>
              <a:t>homologs</a:t>
            </a:r>
            <a:r>
              <a:rPr lang="fr-FR" sz="1400" dirty="0"/>
              <a:t>, to guide annotation</a:t>
            </a:r>
            <a:endParaRPr lang="en-US" dirty="0"/>
          </a:p>
          <a:p>
            <a:r>
              <a:rPr lang="en-US" dirty="0"/>
              <a:t>Hybrid</a:t>
            </a:r>
          </a:p>
          <a:p>
            <a:pPr marL="0" indent="0">
              <a:buNone/>
            </a:pPr>
            <a:r>
              <a:rPr lang="fr-FR" sz="1400" dirty="0"/>
              <a:t>Modern </a:t>
            </a:r>
            <a:r>
              <a:rPr lang="fr-FR" sz="1400" dirty="0" err="1"/>
              <a:t>methods</a:t>
            </a:r>
            <a:r>
              <a:rPr lang="fr-FR" sz="1400" dirty="0"/>
              <a:t> </a:t>
            </a:r>
            <a:r>
              <a:rPr lang="fr-FR" sz="1400" dirty="0" err="1"/>
              <a:t>often</a:t>
            </a:r>
            <a:r>
              <a:rPr lang="fr-FR" sz="1400" dirty="0"/>
              <a:t> </a:t>
            </a:r>
            <a:r>
              <a:rPr lang="fr-FR" sz="1400" dirty="0" err="1"/>
              <a:t>integrate</a:t>
            </a:r>
            <a:r>
              <a:rPr lang="fr-FR" sz="1400" dirty="0"/>
              <a:t> </a:t>
            </a:r>
            <a:r>
              <a:rPr lang="fr-FR" sz="1400" dirty="0" err="1"/>
              <a:t>intrinsic</a:t>
            </a:r>
            <a:r>
              <a:rPr lang="fr-FR" sz="1400" dirty="0"/>
              <a:t> and </a:t>
            </a:r>
            <a:r>
              <a:rPr lang="fr-FR" sz="1400" dirty="0" err="1"/>
              <a:t>extrinsic</a:t>
            </a:r>
            <a:r>
              <a:rPr lang="fr-FR" sz="1400" dirty="0"/>
              <a:t> </a:t>
            </a:r>
            <a:r>
              <a:rPr lang="fr-FR" sz="1400" dirty="0" err="1"/>
              <a:t>signals</a:t>
            </a:r>
            <a:r>
              <a:rPr lang="fr-FR" sz="1400" dirty="0"/>
              <a:t>, </a:t>
            </a:r>
            <a:r>
              <a:rPr lang="fr-FR" sz="1400" dirty="0" err="1"/>
              <a:t>blurring</a:t>
            </a:r>
            <a:r>
              <a:rPr lang="fr-FR" sz="1400" dirty="0"/>
              <a:t> the line…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2F6D2D-C88C-1AF2-F681-EA027F507324}"/>
              </a:ext>
            </a:extLst>
          </p:cNvPr>
          <p:cNvSpPr/>
          <p:nvPr/>
        </p:nvSpPr>
        <p:spPr>
          <a:xfrm>
            <a:off x="6343196" y="1661070"/>
            <a:ext cx="4041775" cy="3951288"/>
          </a:xfrm>
          <a:prstGeom prst="rect">
            <a:avLst/>
          </a:prstGeom>
          <a:noFill/>
          <a:ln w="7620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2E3E4C0-5B5E-25B5-0434-7310DD4D8CB0}"/>
              </a:ext>
            </a:extLst>
          </p:cNvPr>
          <p:cNvSpPr txBox="1">
            <a:spLocks/>
          </p:cNvSpPr>
          <p:nvPr/>
        </p:nvSpPr>
        <p:spPr>
          <a:xfrm>
            <a:off x="10254894" y="6071818"/>
            <a:ext cx="587277" cy="27237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3B0580-DF84-9446-904E-939BF4084F75}" type="slidenum">
              <a:rPr lang="en-US" smtClean="0"/>
              <a:pPr/>
              <a:t>4</a:t>
            </a:fld>
            <a:r>
              <a:rPr lang="en-US"/>
              <a:t>/70</a:t>
            </a:r>
            <a:endParaRPr lang="en-US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232E724-69FE-5745-A4D1-614AA0D1C2B6}"/>
              </a:ext>
            </a:extLst>
          </p:cNvPr>
          <p:cNvSpPr txBox="1"/>
          <p:nvPr/>
        </p:nvSpPr>
        <p:spPr>
          <a:xfrm>
            <a:off x="2944291" y="1059915"/>
            <a:ext cx="24623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Experimental</a:t>
            </a:r>
          </a:p>
          <a:p>
            <a:r>
              <a:rPr lang="en-US" sz="1400" dirty="0"/>
              <a:t>(ESTs, cDNAs, RNA-seq)</a:t>
            </a:r>
            <a:endParaRPr lang="en-US" sz="1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284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B4E804B-F488-5DE1-FAE3-A055B640CA8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different approaches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8A37211-2D7A-9EF7-6860-DAA87A27FA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641E8-41FB-787A-DDA4-DFB27921BF79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444500"/>
            <a:ext cx="11578955" cy="56732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Similarity-based methods :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>
                <a:solidFill>
                  <a:srgbClr val="000000"/>
                </a:solidFill>
              </a:rPr>
              <a:t>These use similarity to annotated sequences like proteins and transcripts</a:t>
            </a:r>
          </a:p>
          <a:p>
            <a:pPr>
              <a:lnSpc>
                <a:spcPct val="100000"/>
              </a:lnSpc>
            </a:pPr>
            <a:r>
              <a:rPr lang="en-US" i="1" dirty="0">
                <a:solidFill>
                  <a:schemeClr val="accent2"/>
                </a:solidFill>
              </a:rPr>
              <a:t>Ab initio </a:t>
            </a:r>
            <a:r>
              <a:rPr lang="en-US" dirty="0">
                <a:solidFill>
                  <a:schemeClr val="accent2"/>
                </a:solidFill>
              </a:rPr>
              <a:t>prediction :</a:t>
            </a:r>
            <a:r>
              <a:rPr lang="en-US" dirty="0">
                <a:solidFill>
                  <a:schemeClr val="accent2"/>
                </a:solidFill>
                <a:cs typeface="Arial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cs typeface="Arial" charset="0"/>
              </a:rPr>
              <a:t>	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2"/>
                </a:solidFill>
                <a:cs typeface="Arial" charset="0"/>
              </a:rPr>
              <a:t>	</a:t>
            </a:r>
            <a:r>
              <a:rPr lang="en-US" sz="1800" dirty="0"/>
              <a:t>Machine learning based methods (probabilistic: Likelihood, Bayesian | deterministic: </a:t>
            </a:r>
            <a:r>
              <a:rPr lang="en-US" sz="1600" dirty="0"/>
              <a:t>Neural networks)</a:t>
            </a: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Hybrid approaches :</a:t>
            </a:r>
            <a:r>
              <a:rPr lang="en-US" dirty="0">
                <a:solidFill>
                  <a:schemeClr val="accent2"/>
                </a:solidFill>
                <a:cs typeface="Arial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cs typeface="Arial" charset="0"/>
              </a:rPr>
              <a:t>	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i="1" dirty="0">
                <a:solidFill>
                  <a:schemeClr val="accent2"/>
                </a:solidFill>
                <a:cs typeface="Arial" charset="0"/>
              </a:rPr>
              <a:t>	</a:t>
            </a:r>
            <a:r>
              <a:rPr lang="en-US" i="1" dirty="0"/>
              <a:t>Ab initio </a:t>
            </a:r>
            <a:r>
              <a:rPr lang="en-US" dirty="0"/>
              <a:t>tools with the ability to integrate external evidence/hints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Comparative (homology) based gene finders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>
                <a:solidFill>
                  <a:srgbClr val="000000"/>
                </a:solidFill>
              </a:rPr>
              <a:t>These align genomic sequences from different species and use the alignments to guide the gene predictions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Chooser, combiner approaches :</a:t>
            </a:r>
            <a:r>
              <a:rPr lang="en-US" dirty="0">
                <a:solidFill>
                  <a:schemeClr val="accent2"/>
                </a:solidFill>
                <a:cs typeface="Arial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2"/>
                </a:solidFill>
                <a:cs typeface="Arial" charset="0"/>
              </a:rPr>
              <a:t>	</a:t>
            </a:r>
            <a:r>
              <a:rPr lang="en-US" sz="1800" dirty="0"/>
              <a:t>These combine gene predictions of other gene finders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2"/>
                </a:solidFill>
              </a:rPr>
              <a:t>Pipelines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/>
              <a:t>These combine multiple approaches, can annotate other types of features, work on functional annotation, etc.</a:t>
            </a:r>
          </a:p>
        </p:txBody>
      </p:sp>
    </p:spTree>
    <p:extLst>
      <p:ext uri="{BB962C8B-B14F-4D97-AF65-F5344CB8AC3E}">
        <p14:creationId xmlns:p14="http://schemas.microsoft.com/office/powerpoint/2010/main" val="246370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8D031FF-174C-03ED-1BAC-9228C56B8F2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Types data used vs methods - the main lines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5CEC794-2E97-1A83-9930-4698078AAC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21861" y="6548341"/>
            <a:ext cx="854119" cy="309659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BD231-21FE-0772-2B38-786CE2081154}"/>
              </a:ext>
            </a:extLst>
          </p:cNvPr>
          <p:cNvSpPr txBox="1">
            <a:spLocks/>
          </p:cNvSpPr>
          <p:nvPr/>
        </p:nvSpPr>
        <p:spPr bwMode="auto">
          <a:xfrm>
            <a:off x="4723789" y="1308134"/>
            <a:ext cx="2329084" cy="67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alibri" charset="0"/>
                <a:ea typeface="MS PGothic" charset="0"/>
              </a:rPr>
              <a:t>Known amino acid sequences from other organisms</a:t>
            </a:r>
          </a:p>
          <a:p>
            <a:endParaRPr lang="en-US" sz="1600" dirty="0">
              <a:latin typeface="Calibri" charset="0"/>
              <a:ea typeface="MS PGothic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456B94-E7B7-0603-0299-EFAA052FF6F5}"/>
              </a:ext>
            </a:extLst>
          </p:cNvPr>
          <p:cNvSpPr txBox="1">
            <a:spLocks/>
          </p:cNvSpPr>
          <p:nvPr/>
        </p:nvSpPr>
        <p:spPr bwMode="auto">
          <a:xfrm>
            <a:off x="2127460" y="1391728"/>
            <a:ext cx="2480411" cy="58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74B3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charset="0"/>
                <a:ea typeface="MS PGothic" charset="0"/>
              </a:rPr>
              <a:t>Assembled from RNA-</a:t>
            </a:r>
            <a:r>
              <a:rPr lang="en-US" sz="1400" dirty="0" err="1">
                <a:solidFill>
                  <a:schemeClr val="tx1"/>
                </a:solidFill>
                <a:latin typeface="Calibri" charset="0"/>
                <a:ea typeface="MS PGothic" charset="0"/>
              </a:rPr>
              <a:t>seq</a:t>
            </a:r>
            <a:r>
              <a:rPr lang="en-US" sz="1400" dirty="0">
                <a:solidFill>
                  <a:schemeClr val="tx1"/>
                </a:solidFill>
                <a:latin typeface="Calibri" charset="0"/>
                <a:ea typeface="MS PGothic" charset="0"/>
              </a:rPr>
              <a:t> or downloaded ESTs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F0AF719-E764-A32F-C879-CD7078F00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0995" y="911193"/>
            <a:ext cx="10492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000" dirty="0"/>
              <a:t>Proteins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AEBEB926-8089-B05C-4083-2AC1AB8FA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031" y="974203"/>
            <a:ext cx="13346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000" dirty="0"/>
              <a:t>Transcripts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7950303A-0B8B-5CBD-4947-2FFE1B53A55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276" y="1931272"/>
            <a:ext cx="1767972" cy="1849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9FE6AC5A-16B7-D077-067F-CD3CE5CDF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0912" y="958125"/>
            <a:ext cx="13324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000"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nb-NO" dirty="0"/>
              <a:t>ML </a:t>
            </a:r>
            <a:r>
              <a:rPr lang="nb-NO" dirty="0" err="1"/>
              <a:t>models</a:t>
            </a:r>
            <a:endParaRPr lang="en-US" dirty="0"/>
          </a:p>
        </p:txBody>
      </p:sp>
      <p:pic>
        <p:nvPicPr>
          <p:cNvPr id="13" name="Picture 2" descr="Transcription+The+new+mRNA+molecule+is+formed+by+incorporating+nucleotides+that+are+complementary+to+the+template+strand..jpg">
            <a:extLst>
              <a:ext uri="{FF2B5EF4-FFF2-40B4-BE49-F238E27FC236}">
                <a16:creationId xmlns:a16="http://schemas.microsoft.com/office/drawing/2014/main" id="{EB9A0BAB-3E1E-9385-48B2-F39806981A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4" t="29979" r="4536"/>
          <a:stretch/>
        </p:blipFill>
        <p:spPr>
          <a:xfrm>
            <a:off x="2193192" y="2116849"/>
            <a:ext cx="2075179" cy="1327211"/>
          </a:xfrm>
          <a:prstGeom prst="rect">
            <a:avLst/>
          </a:prstGeom>
        </p:spPr>
      </p:pic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B9722DBC-6B9D-FF07-7F31-AC3E99784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936263"/>
              </p:ext>
            </p:extLst>
          </p:nvPr>
        </p:nvGraphicFramePr>
        <p:xfrm>
          <a:off x="116022" y="3823818"/>
          <a:ext cx="11959955" cy="21945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09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9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34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9618">
                  <a:extLst>
                    <a:ext uri="{9D8B030D-6E8A-4147-A177-3AD203B41FA5}">
                      <a16:colId xmlns:a16="http://schemas.microsoft.com/office/drawing/2014/main" val="600584175"/>
                    </a:ext>
                  </a:extLst>
                </a:gridCol>
              </a:tblGrid>
              <a:tr h="31644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44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Comparative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44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Pure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</a:t>
                      </a:r>
                      <a:r>
                        <a:rPr lang="en-US" dirty="0" err="1"/>
                        <a:t>b</a:t>
                      </a:r>
                      <a:r>
                        <a:rPr lang="en-US" dirty="0"/>
                        <a:t> initio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443">
                <a:tc>
                  <a:txBody>
                    <a:bodyPr/>
                    <a:lstStyle/>
                    <a:p>
                      <a:r>
                        <a:rPr lang="en-US" dirty="0"/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44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Chooser/combiner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6" name="Straight Connector 19">
            <a:extLst>
              <a:ext uri="{FF2B5EF4-FFF2-40B4-BE49-F238E27FC236}">
                <a16:creationId xmlns:a16="http://schemas.microsoft.com/office/drawing/2014/main" id="{6074D67E-5FE9-0B99-5CE0-4772EB16DF33}"/>
              </a:ext>
            </a:extLst>
          </p:cNvPr>
          <p:cNvCxnSpPr/>
          <p:nvPr/>
        </p:nvCxnSpPr>
        <p:spPr>
          <a:xfrm>
            <a:off x="4505540" y="1086911"/>
            <a:ext cx="0" cy="2732154"/>
          </a:xfrm>
          <a:prstGeom prst="line">
            <a:avLst/>
          </a:prstGeom>
          <a:ln w="12700">
            <a:solidFill>
              <a:srgbClr val="6892A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25">
            <a:extLst>
              <a:ext uri="{FF2B5EF4-FFF2-40B4-BE49-F238E27FC236}">
                <a16:creationId xmlns:a16="http://schemas.microsoft.com/office/drawing/2014/main" id="{74173552-D8EA-E1CB-7212-3BDFDB0E63BE}"/>
              </a:ext>
            </a:extLst>
          </p:cNvPr>
          <p:cNvSpPr txBox="1"/>
          <p:nvPr/>
        </p:nvSpPr>
        <p:spPr>
          <a:xfrm>
            <a:off x="41012" y="1904758"/>
            <a:ext cx="229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Annotation approach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9836F8E-6DF2-C48A-F5C5-DF06B1394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0539" y="1713023"/>
            <a:ext cx="1290131" cy="60664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32F0475-CAD2-1B05-A40F-A88B13DEFBA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2412" t="16710" r="4047" b="14622"/>
          <a:stretch/>
        </p:blipFill>
        <p:spPr>
          <a:xfrm>
            <a:off x="10319726" y="2945305"/>
            <a:ext cx="1290621" cy="710586"/>
          </a:xfrm>
          <a:prstGeom prst="rect">
            <a:avLst/>
          </a:prstGeom>
        </p:spPr>
      </p:pic>
      <p:sp>
        <p:nvSpPr>
          <p:cNvPr id="27" name="TextBox 4">
            <a:extLst>
              <a:ext uri="{FF2B5EF4-FFF2-40B4-BE49-F238E27FC236}">
                <a16:creationId xmlns:a16="http://schemas.microsoft.com/office/drawing/2014/main" id="{FB3BBC7B-CD29-A8D0-FBA4-B3315D15D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717" y="952148"/>
            <a:ext cx="11785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000"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nb-NO" dirty="0" err="1"/>
              <a:t>Genomes</a:t>
            </a:r>
            <a:endParaRPr lang="en-US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0CD513A-55B5-821C-4B01-640F04ECA51F}"/>
              </a:ext>
            </a:extLst>
          </p:cNvPr>
          <p:cNvSpPr txBox="1"/>
          <p:nvPr/>
        </p:nvSpPr>
        <p:spPr>
          <a:xfrm>
            <a:off x="7298299" y="1358235"/>
            <a:ext cx="24804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Calibri" charset="0"/>
                <a:ea typeface="MS PGothic" charset="0"/>
              </a:rPr>
              <a:t>Genome from close related species</a:t>
            </a:r>
          </a:p>
        </p:txBody>
      </p:sp>
      <p:cxnSp>
        <p:nvCxnSpPr>
          <p:cNvPr id="32" name="Straight Connector 19">
            <a:extLst>
              <a:ext uri="{FF2B5EF4-FFF2-40B4-BE49-F238E27FC236}">
                <a16:creationId xmlns:a16="http://schemas.microsoft.com/office/drawing/2014/main" id="{0D9A0DB3-D4D2-7F14-EC93-E33591B39332}"/>
              </a:ext>
            </a:extLst>
          </p:cNvPr>
          <p:cNvCxnSpPr/>
          <p:nvPr/>
        </p:nvCxnSpPr>
        <p:spPr>
          <a:xfrm>
            <a:off x="7078923" y="1086911"/>
            <a:ext cx="0" cy="2732154"/>
          </a:xfrm>
          <a:prstGeom prst="line">
            <a:avLst/>
          </a:prstGeom>
          <a:ln w="12700">
            <a:solidFill>
              <a:srgbClr val="6892A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19">
            <a:extLst>
              <a:ext uri="{FF2B5EF4-FFF2-40B4-BE49-F238E27FC236}">
                <a16:creationId xmlns:a16="http://schemas.microsoft.com/office/drawing/2014/main" id="{239F5E44-9292-1D58-5A8E-9F2B0D98EEF2}"/>
              </a:ext>
            </a:extLst>
          </p:cNvPr>
          <p:cNvCxnSpPr>
            <a:cxnSpLocks/>
          </p:cNvCxnSpPr>
          <p:nvPr/>
        </p:nvCxnSpPr>
        <p:spPr>
          <a:xfrm>
            <a:off x="9591346" y="599225"/>
            <a:ext cx="0" cy="5419153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" descr="wga.jpg">
            <a:extLst>
              <a:ext uri="{FF2B5EF4-FFF2-40B4-BE49-F238E27FC236}">
                <a16:creationId xmlns:a16="http://schemas.microsoft.com/office/drawing/2014/main" id="{CC9A9EE4-5C48-78C4-7B31-B26510870DD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9" t="6297" r="37421" b="17395"/>
          <a:stretch/>
        </p:blipFill>
        <p:spPr>
          <a:xfrm>
            <a:off x="8089704" y="1866540"/>
            <a:ext cx="706578" cy="179215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7C7B1EA-3DEA-A7AD-C6EC-DD11BBB81602}"/>
              </a:ext>
            </a:extLst>
          </p:cNvPr>
          <p:cNvSpPr/>
          <p:nvPr/>
        </p:nvSpPr>
        <p:spPr>
          <a:xfrm>
            <a:off x="9984176" y="528830"/>
            <a:ext cx="1162498" cy="430439"/>
          </a:xfrm>
          <a:prstGeom prst="rect">
            <a:avLst/>
          </a:prstGeom>
        </p:spPr>
        <p:txBody>
          <a:bodyPr/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20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Intrinsic</a:t>
            </a:r>
            <a:endParaRPr 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E88555-D655-F00E-5C09-F922D369DC48}"/>
              </a:ext>
            </a:extLst>
          </p:cNvPr>
          <p:cNvSpPr/>
          <p:nvPr/>
        </p:nvSpPr>
        <p:spPr>
          <a:xfrm>
            <a:off x="5393015" y="487500"/>
            <a:ext cx="1303562" cy="430439"/>
          </a:xfrm>
          <a:prstGeom prst="rect">
            <a:avLst/>
          </a:prstGeom>
        </p:spPr>
        <p:txBody>
          <a:bodyPr/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Extrinsic </a:t>
            </a:r>
          </a:p>
        </p:txBody>
      </p:sp>
      <p:cxnSp>
        <p:nvCxnSpPr>
          <p:cNvPr id="38" name="Straight Connector 19">
            <a:extLst>
              <a:ext uri="{FF2B5EF4-FFF2-40B4-BE49-F238E27FC236}">
                <a16:creationId xmlns:a16="http://schemas.microsoft.com/office/drawing/2014/main" id="{B2874562-AE6F-0CBE-8389-4ACE5C694A98}"/>
              </a:ext>
            </a:extLst>
          </p:cNvPr>
          <p:cNvCxnSpPr>
            <a:cxnSpLocks/>
          </p:cNvCxnSpPr>
          <p:nvPr/>
        </p:nvCxnSpPr>
        <p:spPr>
          <a:xfrm>
            <a:off x="2125677" y="964022"/>
            <a:ext cx="9969858" cy="1018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19">
            <a:extLst>
              <a:ext uri="{FF2B5EF4-FFF2-40B4-BE49-F238E27FC236}">
                <a16:creationId xmlns:a16="http://schemas.microsoft.com/office/drawing/2014/main" id="{FCB139B1-442B-630E-9035-9B5E4F6DC1D1}"/>
              </a:ext>
            </a:extLst>
          </p:cNvPr>
          <p:cNvCxnSpPr>
            <a:cxnSpLocks/>
          </p:cNvCxnSpPr>
          <p:nvPr/>
        </p:nvCxnSpPr>
        <p:spPr>
          <a:xfrm>
            <a:off x="2125677" y="599224"/>
            <a:ext cx="0" cy="5419153"/>
          </a:xfrm>
          <a:prstGeom prst="line">
            <a:avLst/>
          </a:prstGeom>
          <a:ln w="381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10A95481-0A35-8C26-D955-F62A62E13CD2}"/>
              </a:ext>
            </a:extLst>
          </p:cNvPr>
          <p:cNvSpPr txBox="1"/>
          <p:nvPr/>
        </p:nvSpPr>
        <p:spPr>
          <a:xfrm>
            <a:off x="9711595" y="2465818"/>
            <a:ext cx="2335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400">
                <a:latin typeface="Calibri" charset="0"/>
                <a:ea typeface="MS PGothic" charset="0"/>
              </a:defRPr>
            </a:lvl1pPr>
          </a:lstStyle>
          <a:p>
            <a:r>
              <a:rPr lang="en-US" dirty="0"/>
              <a:t>deterministic (CNN, RNN </a:t>
            </a:r>
            <a:r>
              <a:rPr lang="en-US" dirty="0" err="1"/>
              <a:t>i.e</a:t>
            </a:r>
            <a:r>
              <a:rPr lang="en-US" dirty="0"/>
              <a:t> deep learning )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4F49124-7C6E-47A5-9750-6E855B038432}"/>
              </a:ext>
            </a:extLst>
          </p:cNvPr>
          <p:cNvSpPr txBox="1"/>
          <p:nvPr/>
        </p:nvSpPr>
        <p:spPr>
          <a:xfrm>
            <a:off x="9778705" y="1368622"/>
            <a:ext cx="2325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400">
                <a:latin typeface="Calibri" charset="0"/>
                <a:ea typeface="MS PGothic" charset="0"/>
              </a:defRPr>
            </a:lvl1pPr>
          </a:lstStyle>
          <a:p>
            <a:r>
              <a:rPr lang="en-US" dirty="0"/>
              <a:t>probabilistic (HMM, GHMM)</a:t>
            </a:r>
          </a:p>
        </p:txBody>
      </p:sp>
    </p:spTree>
    <p:extLst>
      <p:ext uri="{BB962C8B-B14F-4D97-AF65-F5344CB8AC3E}">
        <p14:creationId xmlns:p14="http://schemas.microsoft.com/office/powerpoint/2010/main" val="218486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1045029" y="1628737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Extrinsic approaches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Similarity-based methods </a:t>
            </a:r>
            <a:endParaRPr lang="en-US" sz="3600" b="1" dirty="0">
              <a:solidFill>
                <a:srgbClr val="00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8A37187-0515-D0DF-19D9-A3D8B91FCB80}"/>
              </a:ext>
            </a:extLst>
          </p:cNvPr>
          <p:cNvSpPr txBox="1"/>
          <p:nvPr/>
        </p:nvSpPr>
        <p:spPr>
          <a:xfrm>
            <a:off x="2347274" y="3704434"/>
            <a:ext cx="6801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These use similarity to annotated sequences like </a:t>
            </a:r>
            <a:r>
              <a:rPr lang="en-US" sz="2000" dirty="0">
                <a:solidFill>
                  <a:srgbClr val="000000"/>
                </a:solidFill>
              </a:rPr>
              <a:t>	</a:t>
            </a:r>
          </a:p>
          <a:p>
            <a:pPr lvl="6"/>
            <a:r>
              <a:rPr lang="en-US" sz="2400" dirty="0">
                <a:solidFill>
                  <a:srgbClr val="000000"/>
                </a:solidFill>
              </a:rPr>
              <a:t>Proteins</a:t>
            </a:r>
          </a:p>
          <a:p>
            <a:pPr lvl="6"/>
            <a:r>
              <a:rPr lang="en-US" sz="2400" dirty="0">
                <a:solidFill>
                  <a:srgbClr val="000000"/>
                </a:solidFill>
              </a:rPr>
              <a:t>Transcripts</a:t>
            </a:r>
          </a:p>
          <a:p>
            <a:pPr lvl="6"/>
            <a:r>
              <a:rPr lang="en-US" sz="2400" dirty="0">
                <a:solidFill>
                  <a:srgbClr val="000000"/>
                </a:solidFill>
              </a:rPr>
              <a:t>ESTs</a:t>
            </a:r>
          </a:p>
        </p:txBody>
      </p:sp>
    </p:spTree>
    <p:extLst>
      <p:ext uri="{BB962C8B-B14F-4D97-AF65-F5344CB8AC3E}">
        <p14:creationId xmlns:p14="http://schemas.microsoft.com/office/powerpoint/2010/main" val="53113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713EC4C-8AE0-8F58-D2BC-A087ECBE99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Similarity-based method: Protein data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E4CBD26-832B-B36E-1308-1118BDFAD5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9929B9-739D-B3FA-C421-8CDA3501BC57}"/>
              </a:ext>
            </a:extLst>
          </p:cNvPr>
          <p:cNvSpPr txBox="1">
            <a:spLocks/>
          </p:cNvSpPr>
          <p:nvPr/>
        </p:nvSpPr>
        <p:spPr>
          <a:xfrm>
            <a:off x="2326317" y="1230608"/>
            <a:ext cx="7392450" cy="34471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Conserved in sequence =&gt; conserved annotation with little noise</a:t>
            </a:r>
          </a:p>
        </p:txBody>
      </p:sp>
      <p:pic>
        <p:nvPicPr>
          <p:cNvPr id="5" name="Picture 6" descr="Screen Shot 2018-02-28 at 17.17.00.png">
            <a:extLst>
              <a:ext uri="{FF2B5EF4-FFF2-40B4-BE49-F238E27FC236}">
                <a16:creationId xmlns:a16="http://schemas.microsoft.com/office/drawing/2014/main" id="{3D91C3D8-42A8-AE5F-E0B5-3571161F0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589" y="1813719"/>
            <a:ext cx="9144000" cy="408388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3AC561A-DE6B-C458-3CDF-0B3D7E3F5AC4}"/>
              </a:ext>
            </a:extLst>
          </p:cNvPr>
          <p:cNvSpPr txBox="1"/>
          <p:nvPr/>
        </p:nvSpPr>
        <p:spPr>
          <a:xfrm>
            <a:off x="97971" y="594343"/>
            <a:ext cx="6100354" cy="34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80000"/>
              </a:lnSpc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Protein sequences are aligned to the genome</a:t>
            </a:r>
          </a:p>
        </p:txBody>
      </p:sp>
    </p:spTree>
    <p:extLst>
      <p:ext uri="{BB962C8B-B14F-4D97-AF65-F5344CB8AC3E}">
        <p14:creationId xmlns:p14="http://schemas.microsoft.com/office/powerpoint/2010/main" val="286425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8850E4-4324-11BB-D0E3-C775AEC9B09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Similarity-based method: Protein data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FD3C988-384C-41EE-35F8-DD112886CC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6F9F70-CB5E-3D0E-C8BC-A2DB0B1CF380}"/>
              </a:ext>
            </a:extLst>
          </p:cNvPr>
          <p:cNvSpPr txBox="1">
            <a:spLocks/>
          </p:cNvSpPr>
          <p:nvPr/>
        </p:nvSpPr>
        <p:spPr>
          <a:xfrm>
            <a:off x="538899" y="600411"/>
            <a:ext cx="6983691" cy="22629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Limits :</a:t>
            </a:r>
          </a:p>
          <a:p>
            <a:pPr lvl="2">
              <a:lnSpc>
                <a:spcPct val="80000"/>
              </a:lnSpc>
            </a:pPr>
            <a:r>
              <a:rPr lang="en-US" sz="2000" dirty="0"/>
              <a:t>Related to pre-existing data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Proteins from model organisms often used =&gt; bias?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Proteins can be incomplete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Protein can be wrong (</a:t>
            </a:r>
            <a:r>
              <a:rPr lang="en-US" sz="2000" dirty="0"/>
              <a:t>PE</a:t>
            </a: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No UTR</a:t>
            </a:r>
          </a:p>
          <a:p>
            <a:pPr lvl="2">
              <a:lnSpc>
                <a:spcPct val="80000"/>
              </a:lnSpc>
            </a:pPr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07C093-FD88-F1E4-293E-EBD896E2B508}"/>
              </a:ext>
            </a:extLst>
          </p:cNvPr>
          <p:cNvSpPr txBox="1">
            <a:spLocks/>
          </p:cNvSpPr>
          <p:nvPr/>
        </p:nvSpPr>
        <p:spPr>
          <a:xfrm>
            <a:off x="0" y="3206749"/>
            <a:ext cx="3761295" cy="4445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/>
              <a:buChar char="•"/>
            </a:pPr>
            <a:r>
              <a:rPr lang="en-US" dirty="0"/>
              <a:t>Rough approximation (fast?)</a:t>
            </a:r>
          </a:p>
          <a:p>
            <a:pPr marL="1371600" lvl="3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9D33A-7091-16B9-AC7C-E4BB0D617E3A}"/>
              </a:ext>
            </a:extLst>
          </p:cNvPr>
          <p:cNvSpPr/>
          <p:nvPr/>
        </p:nvSpPr>
        <p:spPr>
          <a:xfrm>
            <a:off x="3298596" y="3206749"/>
            <a:ext cx="4159184" cy="444500"/>
          </a:xfrm>
          <a:prstGeom prst="rect">
            <a:avLst/>
          </a:prstGeom>
        </p:spPr>
        <p:txBody>
          <a:bodyPr/>
          <a:lstStyle/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dirty="0"/>
              <a:t>Splice-site aware alignment (slow?)</a:t>
            </a:r>
            <a:endParaRPr lang="en-US" sz="1400" dirty="0"/>
          </a:p>
          <a:p>
            <a:pPr lvl="3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</a:pPr>
            <a:endParaRPr lang="en-US" sz="14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91085E72-F112-2F71-C548-9342A0B87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400451"/>
              </p:ext>
            </p:extLst>
          </p:nvPr>
        </p:nvGraphicFramePr>
        <p:xfrm>
          <a:off x="836073" y="3882984"/>
          <a:ext cx="2089150" cy="13411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08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Pmatch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tblastn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PSimScan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1FF3EC95-7637-96E4-3AA8-2C5F626EB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215532"/>
              </p:ext>
            </p:extLst>
          </p:nvPr>
        </p:nvGraphicFramePr>
        <p:xfrm>
          <a:off x="3864605" y="3878122"/>
          <a:ext cx="2089150" cy="17475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08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5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059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Exonerate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79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Genewise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GenomeThreader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Miniprot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47763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77DEFF2-DC69-A897-C417-2E1E8262F8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9714436" y="4152757"/>
            <a:ext cx="2343490" cy="1498600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D4C1FFA6-FEAA-8B50-DE96-30497AC092DE}"/>
              </a:ext>
            </a:extLst>
          </p:cNvPr>
          <p:cNvGrpSpPr/>
          <p:nvPr/>
        </p:nvGrpSpPr>
        <p:grpSpPr>
          <a:xfrm>
            <a:off x="6208448" y="4152757"/>
            <a:ext cx="3398509" cy="1456065"/>
            <a:chOff x="1435624" y="2992890"/>
            <a:chExt cx="3398509" cy="1456065"/>
          </a:xfrm>
        </p:grpSpPr>
        <p:pic>
          <p:nvPicPr>
            <p:cNvPr id="12" name="Picture 10" descr="Screen Shot 2016-04-14 at 16.07.34.png">
              <a:extLst>
                <a:ext uri="{FF2B5EF4-FFF2-40B4-BE49-F238E27FC236}">
                  <a16:creationId xmlns:a16="http://schemas.microsoft.com/office/drawing/2014/main" id="{67BB05EF-2BCA-A27B-C61D-5DA6A3AB92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2644"/>
            <a:stretch/>
          </p:blipFill>
          <p:spPr>
            <a:xfrm>
              <a:off x="1435624" y="2992890"/>
              <a:ext cx="3390900" cy="532735"/>
            </a:xfrm>
            <a:prstGeom prst="rect">
              <a:avLst/>
            </a:prstGeom>
          </p:spPr>
        </p:pic>
        <p:pic>
          <p:nvPicPr>
            <p:cNvPr id="13" name="Picture 10" descr="Screen Shot 2016-04-14 at 16.07.34.png">
              <a:extLst>
                <a:ext uri="{FF2B5EF4-FFF2-40B4-BE49-F238E27FC236}">
                  <a16:creationId xmlns:a16="http://schemas.microsoft.com/office/drawing/2014/main" id="{00F92AF1-C1D0-0901-9223-CCBB38792C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459" b="3460"/>
            <a:stretch/>
          </p:blipFill>
          <p:spPr>
            <a:xfrm>
              <a:off x="1443233" y="3525625"/>
              <a:ext cx="3390900" cy="923330"/>
            </a:xfrm>
            <a:prstGeom prst="rect">
              <a:avLst/>
            </a:prstGeom>
          </p:spPr>
        </p:pic>
      </p:grpSp>
      <p:sp>
        <p:nvSpPr>
          <p:cNvPr id="14" name="Rectangle 4">
            <a:extLst>
              <a:ext uri="{FF2B5EF4-FFF2-40B4-BE49-F238E27FC236}">
                <a16:creationId xmlns:a16="http://schemas.microsoft.com/office/drawing/2014/main" id="{019E0EA6-E29A-C61D-EAA3-C4536D6AA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973" y="5651357"/>
            <a:ext cx="21947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rgbClr val="5B616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800" b="0" i="0" u="none" strike="noStrike" cap="none" normalizeH="0" baseline="0" dirty="0" err="1">
                <a:ln>
                  <a:noFill/>
                </a:ln>
                <a:solidFill>
                  <a:srgbClr val="0071BC"/>
                </a:solidFill>
                <a:effectLst/>
                <a:latin typeface="Arial" panose="020B0604020202020204" pitchFamily="34" charset="0"/>
              </a:rPr>
              <a:t>Nucleic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rgbClr val="0071BC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800" b="0" i="0" u="none" strike="noStrike" cap="none" normalizeH="0" baseline="0" dirty="0" err="1">
                <a:ln>
                  <a:noFill/>
                </a:ln>
                <a:solidFill>
                  <a:srgbClr val="0071BC"/>
                </a:solidFill>
                <a:effectLst/>
                <a:latin typeface="Arial" panose="020B0604020202020204" pitchFamily="34" charset="0"/>
              </a:rPr>
              <a:t>Acids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rgbClr val="0071BC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800" b="0" i="0" u="none" strike="noStrike" cap="none" normalizeH="0" baseline="0" dirty="0" err="1">
                <a:ln>
                  <a:noFill/>
                </a:ln>
                <a:solidFill>
                  <a:srgbClr val="0071BC"/>
                </a:solidFill>
                <a:effectLst/>
                <a:latin typeface="Arial" panose="020B0604020202020204" pitchFamily="34" charset="0"/>
              </a:rPr>
              <a:t>Res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rgbClr val="0071BC"/>
                </a:solidFill>
                <a:effectLst/>
                <a:latin typeface="Arial" panose="020B0604020202020204" pitchFamily="34" charset="0"/>
              </a:rPr>
              <a:t>. 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2012 </a:t>
            </a:r>
            <a:r>
              <a:rPr kumimoji="0" lang="fr-FR" altLang="fr-F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1;40(20):e161.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fr-FR" altLang="fr-FR" sz="800" b="0" i="0" u="none" strike="noStrike" cap="none" normalizeH="0" baseline="0" dirty="0" err="1">
                <a:ln>
                  <a:noFill/>
                </a:ln>
                <a:solidFill>
                  <a:srgbClr val="5B616B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rgbClr val="5B616B"/>
                </a:solidFill>
                <a:effectLst/>
                <a:latin typeface="Arial" panose="020B0604020202020204" pitchFamily="34" charset="0"/>
              </a:rPr>
              <a:t>: 10.1093/</a:t>
            </a:r>
            <a:r>
              <a:rPr kumimoji="0" lang="fr-FR" altLang="fr-FR" sz="800" b="0" i="0" u="none" strike="noStrike" cap="none" normalizeH="0" baseline="0" dirty="0" err="1">
                <a:ln>
                  <a:noFill/>
                </a:ln>
                <a:solidFill>
                  <a:srgbClr val="5B616B"/>
                </a:solidFill>
                <a:effectLst/>
                <a:latin typeface="Arial" panose="020B0604020202020204" pitchFamily="34" charset="0"/>
              </a:rPr>
              <a:t>nar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rgbClr val="5B616B"/>
                </a:solidFill>
                <a:effectLst/>
                <a:latin typeface="Arial" panose="020B0604020202020204" pitchFamily="34" charset="0"/>
              </a:rPr>
              <a:t>/gks708.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rgbClr val="5B616B"/>
                </a:solidFill>
                <a:effectLst/>
                <a:latin typeface="Arial" panose="020B0604020202020204" pitchFamily="34" charset="0"/>
              </a:rPr>
              <a:t>Epub 2012 </a:t>
            </a:r>
            <a:r>
              <a:rPr kumimoji="0" lang="fr-FR" altLang="fr-FR" sz="800" b="0" i="0" u="none" strike="noStrike" cap="none" normalizeH="0" baseline="0" dirty="0" err="1">
                <a:ln>
                  <a:noFill/>
                </a:ln>
                <a:solidFill>
                  <a:srgbClr val="5B616B"/>
                </a:solidFill>
                <a:effectLst/>
                <a:latin typeface="Arial" panose="020B0604020202020204" pitchFamily="34" charset="0"/>
              </a:rPr>
              <a:t>Jul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rgbClr val="5B616B"/>
                </a:solidFill>
                <a:effectLst/>
                <a:latin typeface="Arial" panose="020B0604020202020204" pitchFamily="34" charset="0"/>
              </a:rPr>
              <a:t> 30.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613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4599AB-33B1-9A6F-E6FB-F125D440C4BF}"/>
              </a:ext>
            </a:extLst>
          </p:cNvPr>
          <p:cNvSpPr txBox="1"/>
          <p:nvPr/>
        </p:nvSpPr>
        <p:spPr>
          <a:xfrm>
            <a:off x="0" y="59490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5C2A01-FA1C-6D15-5DC1-87865F78B860}"/>
              </a:ext>
            </a:extLst>
          </p:cNvPr>
          <p:cNvSpPr txBox="1"/>
          <p:nvPr/>
        </p:nvSpPr>
        <p:spPr>
          <a:xfrm>
            <a:off x="5233661" y="1570539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Exonerate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B1841ED-C758-EAAD-BD80-2980D7F122D0}"/>
              </a:ext>
            </a:extLst>
          </p:cNvPr>
          <p:cNvSpPr txBox="1"/>
          <p:nvPr/>
        </p:nvSpPr>
        <p:spPr>
          <a:xfrm>
            <a:off x="8499514" y="3011966"/>
            <a:ext cx="108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&lt;=&gt;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83CCAF2-D622-754A-5E65-E3CF7DAE0506}"/>
              </a:ext>
            </a:extLst>
          </p:cNvPr>
          <p:cNvSpPr txBox="1"/>
          <p:nvPr/>
        </p:nvSpPr>
        <p:spPr>
          <a:xfrm>
            <a:off x="9369861" y="1570539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MAKER3</a:t>
            </a:r>
          </a:p>
        </p:txBody>
      </p:sp>
      <p:sp>
        <p:nvSpPr>
          <p:cNvPr id="19" name="Espace réservé du contenu 1">
            <a:extLst>
              <a:ext uri="{FF2B5EF4-FFF2-40B4-BE49-F238E27FC236}">
                <a16:creationId xmlns:a16="http://schemas.microsoft.com/office/drawing/2014/main" id="{298B7B15-A6B6-DE20-FA98-587C1EB1A8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Similarity-based method: Protein data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822A826-2FF8-BD54-A1FB-A878646E7DEC}"/>
              </a:ext>
            </a:extLst>
          </p:cNvPr>
          <p:cNvSpPr txBox="1"/>
          <p:nvPr/>
        </p:nvSpPr>
        <p:spPr>
          <a:xfrm>
            <a:off x="9108121" y="2904245"/>
            <a:ext cx="2949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1D4872"/>
                </a:solidFill>
              </a:defRPr>
            </a:lvl1pPr>
          </a:lstStyle>
          <a:p>
            <a:r>
              <a:rPr lang="en-US" dirty="0"/>
              <a:t>BLASTX</a:t>
            </a:r>
          </a:p>
          <a:p>
            <a:r>
              <a:rPr lang="en-US" dirty="0" err="1"/>
              <a:t>GenomeThreader</a:t>
            </a:r>
            <a:r>
              <a:rPr lang="en-US" dirty="0"/>
              <a:t> or Exonerate</a:t>
            </a:r>
            <a:endParaRPr lang="en-GB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36B8EE02-69FA-40A8-89EA-CED19D06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861" y="2026887"/>
            <a:ext cx="860789" cy="74601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4864C9D-9639-254D-F9D2-02FBC7569194}"/>
              </a:ext>
            </a:extLst>
          </p:cNvPr>
          <p:cNvSpPr txBox="1"/>
          <p:nvPr/>
        </p:nvSpPr>
        <p:spPr>
          <a:xfrm>
            <a:off x="430684" y="1570078"/>
            <a:ext cx="1900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 err="1"/>
              <a:t>GenomeThreader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878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886056-5E92-FCBF-622B-7AE2D28A105F}"/>
              </a:ext>
            </a:extLst>
          </p:cNvPr>
          <p:cNvSpPr txBox="1"/>
          <p:nvPr/>
        </p:nvSpPr>
        <p:spPr>
          <a:xfrm>
            <a:off x="3044858" y="3241977"/>
            <a:ext cx="6108568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Exercise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49082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1E03336-C037-C2A7-3552-8BF7CB398D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Similarity-based method: Transcript data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688B339-9B8B-8B9D-468F-433F4E5370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3010AF-8774-964A-7CE5-3AA722B62B1C}"/>
              </a:ext>
            </a:extLst>
          </p:cNvPr>
          <p:cNvSpPr/>
          <p:nvPr/>
        </p:nvSpPr>
        <p:spPr>
          <a:xfrm>
            <a:off x="1717223" y="1336953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76DCE4-E09A-25FD-0D0C-D75D5B75D538}"/>
              </a:ext>
            </a:extLst>
          </p:cNvPr>
          <p:cNvSpPr/>
          <p:nvPr/>
        </p:nvSpPr>
        <p:spPr>
          <a:xfrm>
            <a:off x="3301547" y="1336953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600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C5A208-042A-DF4D-F2E6-F2DA00377675}"/>
              </a:ext>
            </a:extLst>
          </p:cNvPr>
          <p:cNvSpPr/>
          <p:nvPr/>
        </p:nvSpPr>
        <p:spPr>
          <a:xfrm>
            <a:off x="4381047" y="1336953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63BA97-0FA5-0DBD-40C0-58ABAD9D9810}"/>
              </a:ext>
            </a:extLst>
          </p:cNvPr>
          <p:cNvSpPr/>
          <p:nvPr/>
        </p:nvSpPr>
        <p:spPr>
          <a:xfrm>
            <a:off x="5460547" y="1336953"/>
            <a:ext cx="1081088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44D30D-50A1-5E8E-B3E2-A48EB545C7A8}"/>
              </a:ext>
            </a:extLst>
          </p:cNvPr>
          <p:cNvSpPr/>
          <p:nvPr/>
        </p:nvSpPr>
        <p:spPr>
          <a:xfrm>
            <a:off x="6541635" y="1336953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75F1C5-15D6-9FBC-3625-33D207C7F39D}"/>
              </a:ext>
            </a:extLst>
          </p:cNvPr>
          <p:cNvSpPr/>
          <p:nvPr/>
        </p:nvSpPr>
        <p:spPr>
          <a:xfrm>
            <a:off x="7621136" y="1336953"/>
            <a:ext cx="1081087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0E794F-4E98-B13B-ED63-AEF5C40AA1C4}"/>
              </a:ext>
            </a:extLst>
          </p:cNvPr>
          <p:cNvSpPr/>
          <p:nvPr/>
        </p:nvSpPr>
        <p:spPr>
          <a:xfrm>
            <a:off x="8702223" y="1336953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FFB2E38-2F82-0FC0-1D30-DCDDEE067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222" y="544791"/>
            <a:ext cx="75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/>
              <a:t>DNA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01634ADA-1F25-8436-83F9-524741329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423" y="976592"/>
            <a:ext cx="701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Intron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884A306D-06C2-42C7-6759-E6D83615A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8036" y="976592"/>
            <a:ext cx="7000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Intron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E558B256-48A4-EBB2-0BA9-C1750020B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036" y="976592"/>
            <a:ext cx="701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Intron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FF1D2CA-CCFC-70B5-B331-20128D14B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973" y="976592"/>
            <a:ext cx="5889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31FA726F-3CD2-A6F0-FDED-E74785736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8972" y="976592"/>
            <a:ext cx="590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2C79BB4C-ECB3-71DA-DABE-24E79FE5F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0460" y="976592"/>
            <a:ext cx="590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A761D70C-C096-5607-918F-D5DAE0580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5460" y="976592"/>
            <a:ext cx="590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38224F03-3B6D-856E-DECE-EAB4D1D98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222" y="1265517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1BC6E145-D67D-ACBC-BFE1-B42E9E0B3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1722" y="1265517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21" name="Straight Connector 25">
            <a:extLst>
              <a:ext uri="{FF2B5EF4-FFF2-40B4-BE49-F238E27FC236}">
                <a16:creationId xmlns:a16="http://schemas.microsoft.com/office/drawing/2014/main" id="{8F5C7648-E733-4941-4184-D930DDF18F24}"/>
              </a:ext>
            </a:extLst>
          </p:cNvPr>
          <p:cNvCxnSpPr/>
          <p:nvPr/>
        </p:nvCxnSpPr>
        <p:spPr>
          <a:xfrm>
            <a:off x="2520497" y="1336953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3">
            <a:extLst>
              <a:ext uri="{FF2B5EF4-FFF2-40B4-BE49-F238E27FC236}">
                <a16:creationId xmlns:a16="http://schemas.microsoft.com/office/drawing/2014/main" id="{0E3D005B-47D7-A61A-2414-74D9FA8CD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561" y="1552854"/>
            <a:ext cx="1030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ATG</a:t>
            </a:r>
          </a:p>
          <a:p>
            <a:pPr algn="ctr" eaLnBrk="1" hangingPunct="1"/>
            <a:r>
              <a:rPr lang="en-US" sz="1400"/>
              <a:t>Start codon</a:t>
            </a:r>
          </a:p>
        </p:txBody>
      </p:sp>
      <p:cxnSp>
        <p:nvCxnSpPr>
          <p:cNvPr id="23" name="Straight Connector 27">
            <a:extLst>
              <a:ext uri="{FF2B5EF4-FFF2-40B4-BE49-F238E27FC236}">
                <a16:creationId xmlns:a16="http://schemas.microsoft.com/office/drawing/2014/main" id="{E19F8986-D0BA-64C3-47BA-1219741E6476}"/>
              </a:ext>
            </a:extLst>
          </p:cNvPr>
          <p:cNvCxnSpPr/>
          <p:nvPr/>
        </p:nvCxnSpPr>
        <p:spPr>
          <a:xfrm>
            <a:off x="9403897" y="1336953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5">
            <a:extLst>
              <a:ext uri="{FF2B5EF4-FFF2-40B4-BE49-F238E27FC236}">
                <a16:creationId xmlns:a16="http://schemas.microsoft.com/office/drawing/2014/main" id="{A2169C7A-7541-8F51-2133-9274BFD88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660" y="1624292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TAG, TAA, TGA</a:t>
            </a:r>
          </a:p>
          <a:p>
            <a:pPr algn="ctr" eaLnBrk="1" hangingPunct="1"/>
            <a:r>
              <a:rPr lang="en-US" sz="1400"/>
              <a:t>Stop codon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3E45DA-EB73-A1D1-E176-53DF4F679BF2}"/>
              </a:ext>
            </a:extLst>
          </p:cNvPr>
          <p:cNvSpPr/>
          <p:nvPr/>
        </p:nvSpPr>
        <p:spPr>
          <a:xfrm>
            <a:off x="1717223" y="2902228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7BCA83-79BB-C81C-38EA-E28729988811}"/>
              </a:ext>
            </a:extLst>
          </p:cNvPr>
          <p:cNvSpPr/>
          <p:nvPr/>
        </p:nvSpPr>
        <p:spPr>
          <a:xfrm>
            <a:off x="3301547" y="2902228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600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E4C4AE-D223-9C65-6BEA-72D2D6E6F3DC}"/>
              </a:ext>
            </a:extLst>
          </p:cNvPr>
          <p:cNvSpPr/>
          <p:nvPr/>
        </p:nvSpPr>
        <p:spPr>
          <a:xfrm>
            <a:off x="4381047" y="2902228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B94A83-A87F-4088-1754-1D91EB823FA9}"/>
              </a:ext>
            </a:extLst>
          </p:cNvPr>
          <p:cNvSpPr/>
          <p:nvPr/>
        </p:nvSpPr>
        <p:spPr>
          <a:xfrm>
            <a:off x="5460547" y="2902228"/>
            <a:ext cx="1081088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2F805D-73BE-D8DD-BF6F-58793F11DF0D}"/>
              </a:ext>
            </a:extLst>
          </p:cNvPr>
          <p:cNvSpPr/>
          <p:nvPr/>
        </p:nvSpPr>
        <p:spPr>
          <a:xfrm>
            <a:off x="6541635" y="2902228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684F59-2970-8827-9AF5-C8EC7A03A9E5}"/>
              </a:ext>
            </a:extLst>
          </p:cNvPr>
          <p:cNvSpPr/>
          <p:nvPr/>
        </p:nvSpPr>
        <p:spPr>
          <a:xfrm>
            <a:off x="7621136" y="2902228"/>
            <a:ext cx="1081087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E45C9F-749A-8B1B-E275-CA0C54BA1D3F}"/>
              </a:ext>
            </a:extLst>
          </p:cNvPr>
          <p:cNvSpPr/>
          <p:nvPr/>
        </p:nvSpPr>
        <p:spPr>
          <a:xfrm>
            <a:off x="8702223" y="2902228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32" name="TextBox 36">
            <a:extLst>
              <a:ext uri="{FF2B5EF4-FFF2-40B4-BE49-F238E27FC236}">
                <a16:creationId xmlns:a16="http://schemas.microsoft.com/office/drawing/2014/main" id="{29236E01-1E25-739A-97B7-04F7DC438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222" y="2110066"/>
            <a:ext cx="1492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/>
              <a:t>Pre-mRNA</a:t>
            </a:r>
          </a:p>
        </p:txBody>
      </p:sp>
      <p:sp>
        <p:nvSpPr>
          <p:cNvPr id="33" name="TextBox 44">
            <a:extLst>
              <a:ext uri="{FF2B5EF4-FFF2-40B4-BE49-F238E27FC236}">
                <a16:creationId xmlns:a16="http://schemas.microsoft.com/office/drawing/2014/main" id="{D5CD5AE4-33A7-983A-590B-8B986B69F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222" y="2829204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sp>
        <p:nvSpPr>
          <p:cNvPr id="34" name="TextBox 45">
            <a:extLst>
              <a:ext uri="{FF2B5EF4-FFF2-40B4-BE49-F238E27FC236}">
                <a16:creationId xmlns:a16="http://schemas.microsoft.com/office/drawing/2014/main" id="{EEEFC8B0-088F-5B09-D8B3-5D03CE334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1722" y="2829204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35" name="Straight Connector 39">
            <a:extLst>
              <a:ext uri="{FF2B5EF4-FFF2-40B4-BE49-F238E27FC236}">
                <a16:creationId xmlns:a16="http://schemas.microsoft.com/office/drawing/2014/main" id="{3819F1B1-804B-BD11-A3FF-BB6870FF5D80}"/>
              </a:ext>
            </a:extLst>
          </p:cNvPr>
          <p:cNvCxnSpPr/>
          <p:nvPr/>
        </p:nvCxnSpPr>
        <p:spPr>
          <a:xfrm>
            <a:off x="2520497" y="2902228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47">
            <a:extLst>
              <a:ext uri="{FF2B5EF4-FFF2-40B4-BE49-F238E27FC236}">
                <a16:creationId xmlns:a16="http://schemas.microsoft.com/office/drawing/2014/main" id="{56751826-A608-0B63-FD2E-3C35EAC03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561" y="3118129"/>
            <a:ext cx="1030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ATG</a:t>
            </a:r>
          </a:p>
          <a:p>
            <a:pPr algn="ctr" eaLnBrk="1" hangingPunct="1"/>
            <a:r>
              <a:rPr lang="en-US" sz="1400"/>
              <a:t>Start codon</a:t>
            </a:r>
          </a:p>
        </p:txBody>
      </p:sp>
      <p:cxnSp>
        <p:nvCxnSpPr>
          <p:cNvPr id="37" name="Straight Connector 41">
            <a:extLst>
              <a:ext uri="{FF2B5EF4-FFF2-40B4-BE49-F238E27FC236}">
                <a16:creationId xmlns:a16="http://schemas.microsoft.com/office/drawing/2014/main" id="{A97808D2-E35B-F540-C47B-4BA043A5BDD5}"/>
              </a:ext>
            </a:extLst>
          </p:cNvPr>
          <p:cNvCxnSpPr/>
          <p:nvPr/>
        </p:nvCxnSpPr>
        <p:spPr>
          <a:xfrm>
            <a:off x="9403897" y="2902228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49">
            <a:extLst>
              <a:ext uri="{FF2B5EF4-FFF2-40B4-BE49-F238E27FC236}">
                <a16:creationId xmlns:a16="http://schemas.microsoft.com/office/drawing/2014/main" id="{5C9355E6-DF86-046E-FDE3-5992F275B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660" y="3189567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TAG, TAA, TGA</a:t>
            </a:r>
          </a:p>
          <a:p>
            <a:pPr algn="ctr" eaLnBrk="1" hangingPunct="1"/>
            <a:r>
              <a:rPr lang="en-US" sz="1400"/>
              <a:t>Stop codon </a:t>
            </a:r>
          </a:p>
        </p:txBody>
      </p:sp>
      <p:cxnSp>
        <p:nvCxnSpPr>
          <p:cNvPr id="39" name="Straight Arrow Connector 43">
            <a:extLst>
              <a:ext uri="{FF2B5EF4-FFF2-40B4-BE49-F238E27FC236}">
                <a16:creationId xmlns:a16="http://schemas.microsoft.com/office/drawing/2014/main" id="{087061B6-8D5E-9264-9A90-C1968B1A87C2}"/>
              </a:ext>
            </a:extLst>
          </p:cNvPr>
          <p:cNvCxnSpPr/>
          <p:nvPr/>
        </p:nvCxnSpPr>
        <p:spPr>
          <a:xfrm>
            <a:off x="5965372" y="1697317"/>
            <a:ext cx="0" cy="7191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50">
            <a:extLst>
              <a:ext uri="{FF2B5EF4-FFF2-40B4-BE49-F238E27FC236}">
                <a16:creationId xmlns:a16="http://schemas.microsoft.com/office/drawing/2014/main" id="{FCE22CB5-89FB-3FB8-2139-03A3E9858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6811" y="1841778"/>
            <a:ext cx="1285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Transcription</a:t>
            </a:r>
          </a:p>
        </p:txBody>
      </p:sp>
      <p:cxnSp>
        <p:nvCxnSpPr>
          <p:cNvPr id="41" name="Straight Arrow Connector 45">
            <a:extLst>
              <a:ext uri="{FF2B5EF4-FFF2-40B4-BE49-F238E27FC236}">
                <a16:creationId xmlns:a16="http://schemas.microsoft.com/office/drawing/2014/main" id="{6A72C087-76C1-1033-3367-0F086AB12832}"/>
              </a:ext>
            </a:extLst>
          </p:cNvPr>
          <p:cNvCxnSpPr/>
          <p:nvPr/>
        </p:nvCxnSpPr>
        <p:spPr>
          <a:xfrm>
            <a:off x="5965372" y="3353079"/>
            <a:ext cx="0" cy="720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55">
            <a:extLst>
              <a:ext uri="{FF2B5EF4-FFF2-40B4-BE49-F238E27FC236}">
                <a16:creationId xmlns:a16="http://schemas.microsoft.com/office/drawing/2014/main" id="{18794620-C7EF-603B-10E5-D5DAB33D9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8747" y="3497542"/>
            <a:ext cx="8191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Splicing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A58118-62D3-A711-2FC5-77D0776FA94D}"/>
              </a:ext>
            </a:extLst>
          </p:cNvPr>
          <p:cNvSpPr/>
          <p:nvPr/>
        </p:nvSpPr>
        <p:spPr>
          <a:xfrm>
            <a:off x="3301548" y="4289703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44" name="TextBox 62">
            <a:extLst>
              <a:ext uri="{FF2B5EF4-FFF2-40B4-BE49-F238E27FC236}">
                <a16:creationId xmlns:a16="http://schemas.microsoft.com/office/drawing/2014/main" id="{9E6982E3-C7CC-31B3-95EA-F59E819C7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547" y="4216679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45" name="Straight Connector 49">
            <a:extLst>
              <a:ext uri="{FF2B5EF4-FFF2-40B4-BE49-F238E27FC236}">
                <a16:creationId xmlns:a16="http://schemas.microsoft.com/office/drawing/2014/main" id="{3B6C418D-5449-EA66-B53F-F9D2C5C42170}"/>
              </a:ext>
            </a:extLst>
          </p:cNvPr>
          <p:cNvCxnSpPr/>
          <p:nvPr/>
        </p:nvCxnSpPr>
        <p:spPr>
          <a:xfrm>
            <a:off x="4104822" y="4289703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9380DE4-53CF-09F2-7A78-E59227D01C46}"/>
              </a:ext>
            </a:extLst>
          </p:cNvPr>
          <p:cNvSpPr/>
          <p:nvPr/>
        </p:nvSpPr>
        <p:spPr>
          <a:xfrm>
            <a:off x="4885872" y="4289703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C0110C2-57FE-D1FE-B19F-6987829D9032}"/>
              </a:ext>
            </a:extLst>
          </p:cNvPr>
          <p:cNvSpPr/>
          <p:nvPr/>
        </p:nvSpPr>
        <p:spPr>
          <a:xfrm>
            <a:off x="5965372" y="4289703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E1C8E64-FEFB-F24C-1443-99FEEB76C696}"/>
              </a:ext>
            </a:extLst>
          </p:cNvPr>
          <p:cNvSpPr/>
          <p:nvPr/>
        </p:nvSpPr>
        <p:spPr>
          <a:xfrm>
            <a:off x="7044873" y="4289703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E1A83537-1DE2-CAF8-5000-06CCD81F9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961" y="4216679"/>
            <a:ext cx="484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50" name="Straight Connector 54">
            <a:extLst>
              <a:ext uri="{FF2B5EF4-FFF2-40B4-BE49-F238E27FC236}">
                <a16:creationId xmlns:a16="http://schemas.microsoft.com/office/drawing/2014/main" id="{461D478D-ECFD-5455-6E94-610E73DC9B15}"/>
              </a:ext>
            </a:extLst>
          </p:cNvPr>
          <p:cNvCxnSpPr/>
          <p:nvPr/>
        </p:nvCxnSpPr>
        <p:spPr>
          <a:xfrm>
            <a:off x="7748135" y="4289703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70">
            <a:extLst>
              <a:ext uri="{FF2B5EF4-FFF2-40B4-BE49-F238E27FC236}">
                <a16:creationId xmlns:a16="http://schemas.microsoft.com/office/drawing/2014/main" id="{E7E24393-E5AD-D99E-FB63-59181E53A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898" y="4577042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TAG, TAA, TGA</a:t>
            </a:r>
          </a:p>
          <a:p>
            <a:pPr algn="ctr" eaLnBrk="1" hangingPunct="1"/>
            <a:r>
              <a:rPr lang="en-US" sz="1400"/>
              <a:t>Stop codon </a:t>
            </a:r>
          </a:p>
        </p:txBody>
      </p:sp>
      <p:cxnSp>
        <p:nvCxnSpPr>
          <p:cNvPr id="52" name="Straight Connector 56">
            <a:extLst>
              <a:ext uri="{FF2B5EF4-FFF2-40B4-BE49-F238E27FC236}">
                <a16:creationId xmlns:a16="http://schemas.microsoft.com/office/drawing/2014/main" id="{3B084045-8B4F-EA16-F796-B829A663A5AF}"/>
              </a:ext>
            </a:extLst>
          </p:cNvPr>
          <p:cNvCxnSpPr/>
          <p:nvPr/>
        </p:nvCxnSpPr>
        <p:spPr>
          <a:xfrm>
            <a:off x="3301548" y="3137179"/>
            <a:ext cx="1584325" cy="115252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7">
            <a:extLst>
              <a:ext uri="{FF2B5EF4-FFF2-40B4-BE49-F238E27FC236}">
                <a16:creationId xmlns:a16="http://schemas.microsoft.com/office/drawing/2014/main" id="{9E27DF77-7ABE-4742-7C6F-6A5497C89931}"/>
              </a:ext>
            </a:extLst>
          </p:cNvPr>
          <p:cNvCxnSpPr/>
          <p:nvPr/>
        </p:nvCxnSpPr>
        <p:spPr>
          <a:xfrm>
            <a:off x="4381048" y="3137179"/>
            <a:ext cx="504825" cy="115252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8">
            <a:extLst>
              <a:ext uri="{FF2B5EF4-FFF2-40B4-BE49-F238E27FC236}">
                <a16:creationId xmlns:a16="http://schemas.microsoft.com/office/drawing/2014/main" id="{6C3794D6-2D94-D230-BA07-1C2E72BEC995}"/>
              </a:ext>
            </a:extLst>
          </p:cNvPr>
          <p:cNvCxnSpPr/>
          <p:nvPr/>
        </p:nvCxnSpPr>
        <p:spPr>
          <a:xfrm>
            <a:off x="5460548" y="3137179"/>
            <a:ext cx="504825" cy="115252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9">
            <a:extLst>
              <a:ext uri="{FF2B5EF4-FFF2-40B4-BE49-F238E27FC236}">
                <a16:creationId xmlns:a16="http://schemas.microsoft.com/office/drawing/2014/main" id="{4DD580B0-BDAF-DBBF-4DAB-0D3DEBB88ACD}"/>
              </a:ext>
            </a:extLst>
          </p:cNvPr>
          <p:cNvCxnSpPr/>
          <p:nvPr/>
        </p:nvCxnSpPr>
        <p:spPr>
          <a:xfrm flipH="1">
            <a:off x="5965373" y="3137179"/>
            <a:ext cx="576263" cy="115252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60">
            <a:extLst>
              <a:ext uri="{FF2B5EF4-FFF2-40B4-BE49-F238E27FC236}">
                <a16:creationId xmlns:a16="http://schemas.microsoft.com/office/drawing/2014/main" id="{4AC286A3-185D-EEFF-0E3A-C5D4ABB30603}"/>
              </a:ext>
            </a:extLst>
          </p:cNvPr>
          <p:cNvCxnSpPr/>
          <p:nvPr/>
        </p:nvCxnSpPr>
        <p:spPr>
          <a:xfrm flipH="1">
            <a:off x="7044873" y="3137179"/>
            <a:ext cx="576263" cy="115252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61">
            <a:extLst>
              <a:ext uri="{FF2B5EF4-FFF2-40B4-BE49-F238E27FC236}">
                <a16:creationId xmlns:a16="http://schemas.microsoft.com/office/drawing/2014/main" id="{21F0F6A0-D8B5-B914-9AAF-0F25E6F515D5}"/>
              </a:ext>
            </a:extLst>
          </p:cNvPr>
          <p:cNvCxnSpPr/>
          <p:nvPr/>
        </p:nvCxnSpPr>
        <p:spPr>
          <a:xfrm flipH="1">
            <a:off x="7044872" y="3137179"/>
            <a:ext cx="1657350" cy="115252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85">
            <a:extLst>
              <a:ext uri="{FF2B5EF4-FFF2-40B4-BE49-F238E27FC236}">
                <a16:creationId xmlns:a16="http://schemas.microsoft.com/office/drawing/2014/main" id="{9588A896-9B24-A428-73D5-24556816C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886" y="4577042"/>
            <a:ext cx="1030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ATG</a:t>
            </a:r>
          </a:p>
          <a:p>
            <a:pPr algn="ctr" eaLnBrk="1" hangingPunct="1"/>
            <a:r>
              <a:rPr lang="en-US" sz="1400"/>
              <a:t>Start codon</a:t>
            </a:r>
          </a:p>
        </p:txBody>
      </p:sp>
      <p:sp>
        <p:nvSpPr>
          <p:cNvPr id="59" name="TextBox 83">
            <a:extLst>
              <a:ext uri="{FF2B5EF4-FFF2-40B4-BE49-F238E27FC236}">
                <a16:creationId xmlns:a16="http://schemas.microsoft.com/office/drawing/2014/main" id="{C9EC28F8-AAF6-F59C-53EF-083961803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8661" y="3713441"/>
            <a:ext cx="979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/>
              <a:t>mRNA</a:t>
            </a:r>
          </a:p>
        </p:txBody>
      </p:sp>
      <p:cxnSp>
        <p:nvCxnSpPr>
          <p:cNvPr id="60" name="Straight Arrow Connector 64">
            <a:extLst>
              <a:ext uri="{FF2B5EF4-FFF2-40B4-BE49-F238E27FC236}">
                <a16:creationId xmlns:a16="http://schemas.microsoft.com/office/drawing/2014/main" id="{C292A19B-7E7A-DE15-5942-7D295B5A1618}"/>
              </a:ext>
            </a:extLst>
          </p:cNvPr>
          <p:cNvCxnSpPr/>
          <p:nvPr/>
        </p:nvCxnSpPr>
        <p:spPr>
          <a:xfrm>
            <a:off x="5965372" y="4650067"/>
            <a:ext cx="0" cy="7191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84">
            <a:extLst>
              <a:ext uri="{FF2B5EF4-FFF2-40B4-BE49-F238E27FC236}">
                <a16:creationId xmlns:a16="http://schemas.microsoft.com/office/drawing/2014/main" id="{1D993F20-FF8C-341C-5CD1-4F5BED770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0547" y="5440642"/>
            <a:ext cx="11191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Translation</a:t>
            </a:r>
          </a:p>
        </p:txBody>
      </p:sp>
      <p:sp>
        <p:nvSpPr>
          <p:cNvPr id="62" name="TextBox 86">
            <a:extLst>
              <a:ext uri="{FF2B5EF4-FFF2-40B4-BE49-F238E27FC236}">
                <a16:creationId xmlns:a16="http://schemas.microsoft.com/office/drawing/2014/main" id="{50D35C42-7993-598C-4DEB-EBD0DCF38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523" y="1481417"/>
            <a:ext cx="390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GT</a:t>
            </a:r>
          </a:p>
        </p:txBody>
      </p:sp>
      <p:sp>
        <p:nvSpPr>
          <p:cNvPr id="63" name="TextBox 90">
            <a:extLst>
              <a:ext uri="{FF2B5EF4-FFF2-40B4-BE49-F238E27FC236}">
                <a16:creationId xmlns:a16="http://schemas.microsoft.com/office/drawing/2014/main" id="{D627332B-D10C-F7E9-9990-E723A96FB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9111" y="1481417"/>
            <a:ext cx="390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GT</a:t>
            </a:r>
          </a:p>
        </p:txBody>
      </p:sp>
      <p:sp>
        <p:nvSpPr>
          <p:cNvPr id="64" name="TextBox 91">
            <a:extLst>
              <a:ext uri="{FF2B5EF4-FFF2-40B4-BE49-F238E27FC236}">
                <a16:creationId xmlns:a16="http://schemas.microsoft.com/office/drawing/2014/main" id="{42454557-DDA2-CEF6-BC29-F1CF55933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697" y="1481417"/>
            <a:ext cx="388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GT</a:t>
            </a:r>
          </a:p>
        </p:txBody>
      </p:sp>
      <p:sp>
        <p:nvSpPr>
          <p:cNvPr id="65" name="TextBox 12293">
            <a:extLst>
              <a:ext uri="{FF2B5EF4-FFF2-40B4-BE49-F238E27FC236}">
                <a16:creationId xmlns:a16="http://schemas.microsoft.com/office/drawing/2014/main" id="{4C68DFEF-092F-0C39-72FC-1D6184697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3523" y="2849842"/>
            <a:ext cx="39211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AA</a:t>
            </a:r>
          </a:p>
        </p:txBody>
      </p:sp>
      <p:sp>
        <p:nvSpPr>
          <p:cNvPr id="66" name="TextBox 102">
            <a:extLst>
              <a:ext uri="{FF2B5EF4-FFF2-40B4-BE49-F238E27FC236}">
                <a16:creationId xmlns:a16="http://schemas.microsoft.com/office/drawing/2014/main" id="{A2DA5D77-753E-51A0-003B-7973482B7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1472" y="3065741"/>
            <a:ext cx="2159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AAAAA</a:t>
            </a:r>
          </a:p>
        </p:txBody>
      </p:sp>
      <p:sp>
        <p:nvSpPr>
          <p:cNvPr id="67" name="TextBox 104">
            <a:extLst>
              <a:ext uri="{FF2B5EF4-FFF2-40B4-BE49-F238E27FC236}">
                <a16:creationId xmlns:a16="http://schemas.microsoft.com/office/drawing/2014/main" id="{E8D87A73-AFEB-53D8-CA31-EB423DAF3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761" y="4216679"/>
            <a:ext cx="1120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AAAAAAAAA</a:t>
            </a:r>
          </a:p>
        </p:txBody>
      </p:sp>
      <p:sp>
        <p:nvSpPr>
          <p:cNvPr id="68" name="TextBox 106">
            <a:extLst>
              <a:ext uri="{FF2B5EF4-FFF2-40B4-BE49-F238E27FC236}">
                <a16:creationId xmlns:a16="http://schemas.microsoft.com/office/drawing/2014/main" id="{FCB17BCE-459C-D6EA-0FA4-9B47022A8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711" y="1481417"/>
            <a:ext cx="401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AG</a:t>
            </a:r>
          </a:p>
        </p:txBody>
      </p:sp>
      <p:sp>
        <p:nvSpPr>
          <p:cNvPr id="69" name="TextBox 107">
            <a:extLst>
              <a:ext uri="{FF2B5EF4-FFF2-40B4-BE49-F238E27FC236}">
                <a16:creationId xmlns:a16="http://schemas.microsoft.com/office/drawing/2014/main" id="{3F6617C9-BCB3-C213-D025-EAFFC16E3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2711" y="1460779"/>
            <a:ext cx="403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AG</a:t>
            </a:r>
          </a:p>
        </p:txBody>
      </p:sp>
      <p:sp>
        <p:nvSpPr>
          <p:cNvPr id="70" name="TextBox 108">
            <a:extLst>
              <a:ext uri="{FF2B5EF4-FFF2-40B4-BE49-F238E27FC236}">
                <a16:creationId xmlns:a16="http://schemas.microsoft.com/office/drawing/2014/main" id="{61C6AEAE-0EC6-001E-27F6-1BE95E0A3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297" y="1481417"/>
            <a:ext cx="401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AG</a:t>
            </a:r>
          </a:p>
        </p:txBody>
      </p:sp>
      <p:sp>
        <p:nvSpPr>
          <p:cNvPr id="71" name="Oval 75">
            <a:extLst>
              <a:ext uri="{FF2B5EF4-FFF2-40B4-BE49-F238E27FC236}">
                <a16:creationId xmlns:a16="http://schemas.microsoft.com/office/drawing/2014/main" id="{508D29AB-81BE-3674-C57B-961EC30A8ED4}"/>
              </a:ext>
            </a:extLst>
          </p:cNvPr>
          <p:cNvSpPr/>
          <p:nvPr/>
        </p:nvSpPr>
        <p:spPr>
          <a:xfrm>
            <a:off x="1248909" y="2568295"/>
            <a:ext cx="9497643" cy="849872"/>
          </a:xfrm>
          <a:prstGeom prst="ellipse">
            <a:avLst/>
          </a:prstGeom>
          <a:noFill/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dirty="0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72" name="Oval 75">
            <a:extLst>
              <a:ext uri="{FF2B5EF4-FFF2-40B4-BE49-F238E27FC236}">
                <a16:creationId xmlns:a16="http://schemas.microsoft.com/office/drawing/2014/main" id="{4640D0A9-2468-E5B3-1302-3A0BF3668B49}"/>
              </a:ext>
            </a:extLst>
          </p:cNvPr>
          <p:cNvSpPr/>
          <p:nvPr/>
        </p:nvSpPr>
        <p:spPr>
          <a:xfrm>
            <a:off x="2885623" y="4001572"/>
            <a:ext cx="6985000" cy="792163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dirty="0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8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0165A4D2-CD23-8934-DFD7-17D92234E38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799667" y="0"/>
            <a:ext cx="592666" cy="444500"/>
          </a:xfr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DF309A-4352-70E7-B889-BCF2746078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360C40-FEEE-0B2D-CE6B-65D7AE87CF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8625" y="1028207"/>
            <a:ext cx="6535918" cy="490193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5D43F47-9B5B-A2D4-E8CE-14D875BD400D}"/>
              </a:ext>
            </a:extLst>
          </p:cNvPr>
          <p:cNvSpPr txBox="1"/>
          <p:nvPr/>
        </p:nvSpPr>
        <p:spPr>
          <a:xfrm>
            <a:off x="5493644" y="1008001"/>
            <a:ext cx="1466475" cy="688824"/>
          </a:xfrm>
          <a:prstGeom prst="rect">
            <a:avLst/>
          </a:prstGeom>
        </p:spPr>
        <p:txBody>
          <a:bodyPr wrap="square" tIns="36000" bIns="36000" anchor="t" anchorCtr="0">
            <a:noAutofit/>
          </a:bodyPr>
          <a:lstStyle>
            <a:defPPr>
              <a:defRPr lang="en-US"/>
            </a:defPPr>
            <a:lvl1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defRPr sz="20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De novo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Assembly </a:t>
            </a:r>
            <a:endParaRPr lang="en-GB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06C2653-CD7B-8928-34DB-EE6474209D26}"/>
              </a:ext>
            </a:extLst>
          </p:cNvPr>
          <p:cNvSpPr txBox="1"/>
          <p:nvPr/>
        </p:nvSpPr>
        <p:spPr>
          <a:xfrm>
            <a:off x="258623" y="1035107"/>
            <a:ext cx="1466475" cy="688824"/>
          </a:xfrm>
          <a:prstGeom prst="rect">
            <a:avLst/>
          </a:prstGeom>
        </p:spPr>
        <p:txBody>
          <a:bodyPr wrap="square" tIns="36000" bIns="36000" anchor="t" anchorCtr="0">
            <a:noAutofit/>
          </a:bodyPr>
          <a:lstStyle>
            <a:defPPr>
              <a:defRPr lang="en-US"/>
            </a:defPPr>
            <a:lvl1pPr defTabSz="9144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defRPr sz="20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Guided</a:t>
            </a:r>
          </a:p>
          <a:p>
            <a:r>
              <a:rPr lang="en-US" dirty="0"/>
              <a:t>Assembly </a:t>
            </a:r>
            <a:endParaRPr lang="en-GB" dirty="0"/>
          </a:p>
        </p:txBody>
      </p:sp>
      <p:pic>
        <p:nvPicPr>
          <p:cNvPr id="9" name="Picture 4" descr="TrinityCompositeLogo.png">
            <a:extLst>
              <a:ext uri="{FF2B5EF4-FFF2-40B4-BE49-F238E27FC236}">
                <a16:creationId xmlns:a16="http://schemas.microsoft.com/office/drawing/2014/main" id="{1FDC6620-21FA-398C-9514-C56CAEAB0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721" y="2222469"/>
            <a:ext cx="654638" cy="431614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BEAAAC6-A2DE-378C-DDF5-C4E1A5892244}"/>
              </a:ext>
            </a:extLst>
          </p:cNvPr>
          <p:cNvSpPr txBox="1"/>
          <p:nvPr/>
        </p:nvSpPr>
        <p:spPr>
          <a:xfrm>
            <a:off x="0" y="5935591"/>
            <a:ext cx="29280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</a:t>
            </a:r>
            <a:r>
              <a:rPr lang="en-US" sz="800" dirty="0" err="1"/>
              <a:t>home.cc.umanitoba.ca</a:t>
            </a:r>
            <a:r>
              <a:rPr lang="en-US" sz="800" dirty="0"/>
              <a:t>/~</a:t>
            </a:r>
            <a:r>
              <a:rPr lang="en-US" sz="800" dirty="0" err="1"/>
              <a:t>frist</a:t>
            </a:r>
            <a:r>
              <a:rPr lang="en-US" sz="800" dirty="0"/>
              <a:t>/PLNT7690/lec12/lec12.3.html</a:t>
            </a:r>
            <a:endParaRPr lang="en-GB" sz="8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3C98B8-BA24-0EA1-F4F2-20D8BDEE5FC8}"/>
              </a:ext>
            </a:extLst>
          </p:cNvPr>
          <p:cNvSpPr txBox="1"/>
          <p:nvPr/>
        </p:nvSpPr>
        <p:spPr>
          <a:xfrm>
            <a:off x="258625" y="4591787"/>
            <a:ext cx="919726" cy="33855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 err="1"/>
              <a:t>Stringtie</a:t>
            </a:r>
            <a:endParaRPr lang="en-GB" sz="16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A3FDDC2-6E23-B2BD-FF57-04329640CEDF}"/>
              </a:ext>
            </a:extLst>
          </p:cNvPr>
          <p:cNvSpPr txBox="1"/>
          <p:nvPr/>
        </p:nvSpPr>
        <p:spPr>
          <a:xfrm>
            <a:off x="258626" y="2192418"/>
            <a:ext cx="1466480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Hisat2, Star, Bowtie2, bwa-mem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A3A92A-51F8-42CE-5143-D826552BA556}"/>
              </a:ext>
            </a:extLst>
          </p:cNvPr>
          <p:cNvSpPr/>
          <p:nvPr/>
        </p:nvSpPr>
        <p:spPr>
          <a:xfrm>
            <a:off x="2696948" y="486234"/>
            <a:ext cx="1799637" cy="43043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  <a:ea typeface="MS PGothic" charset="0"/>
              </a:rPr>
              <a:t>Short Reads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F49144-9F87-A0FA-DCCE-4DBABDD5C59B}"/>
              </a:ext>
            </a:extLst>
          </p:cNvPr>
          <p:cNvSpPr/>
          <p:nvPr/>
        </p:nvSpPr>
        <p:spPr>
          <a:xfrm>
            <a:off x="8458297" y="497190"/>
            <a:ext cx="1799637" cy="43043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  <a:ea typeface="MS PGothic" charset="0"/>
              </a:rPr>
              <a:t>Long Reads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9298907-A41B-5684-66AF-357C4BC207F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49" y="2876385"/>
            <a:ext cx="2090731" cy="65271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C37338E-9E7D-B876-1DE8-825B5F470F35}"/>
              </a:ext>
            </a:extLst>
          </p:cNvPr>
          <p:cNvSpPr/>
          <p:nvPr/>
        </p:nvSpPr>
        <p:spPr>
          <a:xfrm>
            <a:off x="4224440" y="3573070"/>
            <a:ext cx="2715922" cy="2418192"/>
          </a:xfrm>
          <a:prstGeom prst="rect">
            <a:avLst/>
          </a:prstGeom>
          <a:solidFill>
            <a:srgbClr val="E1DE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F4522F0C-5463-DA15-C5CB-CDB4BE840A7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8"/>
          <a:stretch/>
        </p:blipFill>
        <p:spPr>
          <a:xfrm>
            <a:off x="6226881" y="3978505"/>
            <a:ext cx="2241128" cy="1945621"/>
          </a:xfrm>
          <a:prstGeom prst="rect">
            <a:avLst/>
          </a:prstGeom>
        </p:spPr>
      </p:pic>
      <p:cxnSp>
        <p:nvCxnSpPr>
          <p:cNvPr id="22" name="Straight Connector 19">
            <a:extLst>
              <a:ext uri="{FF2B5EF4-FFF2-40B4-BE49-F238E27FC236}">
                <a16:creationId xmlns:a16="http://schemas.microsoft.com/office/drawing/2014/main" id="{7146FF64-3D3B-B6E0-D721-C675E1D4226F}"/>
              </a:ext>
            </a:extLst>
          </p:cNvPr>
          <p:cNvCxnSpPr>
            <a:cxnSpLocks/>
          </p:cNvCxnSpPr>
          <p:nvPr/>
        </p:nvCxnSpPr>
        <p:spPr>
          <a:xfrm>
            <a:off x="7305186" y="497190"/>
            <a:ext cx="0" cy="3042867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EF4AB605-4565-1133-8EF6-E23C90E7DA04}"/>
              </a:ext>
            </a:extLst>
          </p:cNvPr>
          <p:cNvCxnSpPr/>
          <p:nvPr/>
        </p:nvCxnSpPr>
        <p:spPr>
          <a:xfrm flipV="1">
            <a:off x="7305186" y="3438422"/>
            <a:ext cx="965304" cy="55853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BD11151E-7E01-8E1E-598F-FD9F3D812A99}"/>
              </a:ext>
            </a:extLst>
          </p:cNvPr>
          <p:cNvCxnSpPr>
            <a:cxnSpLocks/>
          </p:cNvCxnSpPr>
          <p:nvPr/>
        </p:nvCxnSpPr>
        <p:spPr>
          <a:xfrm flipH="1" flipV="1">
            <a:off x="6339882" y="3419967"/>
            <a:ext cx="965304" cy="55853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19">
            <a:extLst>
              <a:ext uri="{FF2B5EF4-FFF2-40B4-BE49-F238E27FC236}">
                <a16:creationId xmlns:a16="http://schemas.microsoft.com/office/drawing/2014/main" id="{39EBC977-E10E-6556-173B-422B7F163B8F}"/>
              </a:ext>
            </a:extLst>
          </p:cNvPr>
          <p:cNvCxnSpPr>
            <a:cxnSpLocks/>
          </p:cNvCxnSpPr>
          <p:nvPr/>
        </p:nvCxnSpPr>
        <p:spPr>
          <a:xfrm>
            <a:off x="4252720" y="2222469"/>
            <a:ext cx="0" cy="3631576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2235230-304B-7725-0DA7-A83B27D5451F}"/>
              </a:ext>
            </a:extLst>
          </p:cNvPr>
          <p:cNvSpPr txBox="1">
            <a:spLocks/>
          </p:cNvSpPr>
          <p:nvPr/>
        </p:nvSpPr>
        <p:spPr>
          <a:xfrm>
            <a:off x="10309206" y="4611556"/>
            <a:ext cx="1983778" cy="294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Rough approximation (fast?)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BF20E3-0C41-1E16-3433-6D1ABB5CDDAC}"/>
              </a:ext>
            </a:extLst>
          </p:cNvPr>
          <p:cNvSpPr/>
          <p:nvPr/>
        </p:nvSpPr>
        <p:spPr>
          <a:xfrm>
            <a:off x="8619663" y="4333947"/>
            <a:ext cx="2635688" cy="329064"/>
          </a:xfrm>
          <a:prstGeom prst="rect">
            <a:avLst/>
          </a:prstGeom>
        </p:spPr>
        <p:txBody>
          <a:bodyPr/>
          <a:lstStyle/>
          <a:p>
            <a:pPr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</a:pPr>
            <a:r>
              <a:rPr lang="en-US" sz="1200" dirty="0"/>
              <a:t>Splice-site aware alignment (slow?) </a:t>
            </a:r>
          </a:p>
        </p:txBody>
      </p: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EE37E9C1-246D-48A9-F58A-2FF241C69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913160"/>
              </p:ext>
            </p:extLst>
          </p:nvPr>
        </p:nvGraphicFramePr>
        <p:xfrm>
          <a:off x="10788638" y="4903574"/>
          <a:ext cx="1132523" cy="1126504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132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1626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DNA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62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Blastn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626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Vsearch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626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NSimScan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7">
            <a:extLst>
              <a:ext uri="{FF2B5EF4-FFF2-40B4-BE49-F238E27FC236}">
                <a16:creationId xmlns:a16="http://schemas.microsoft.com/office/drawing/2014/main" id="{1F101FAF-8CBE-8277-5628-D5032A964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799435"/>
              </p:ext>
            </p:extLst>
          </p:nvPr>
        </p:nvGraphicFramePr>
        <p:xfrm>
          <a:off x="8910736" y="4630410"/>
          <a:ext cx="1382629" cy="1399668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82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0025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DNA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Exonerate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25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/>
                        <a:t>Gmap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354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/>
                        <a:t>GenomeThreader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3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/>
                        <a:t>Minimap2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477639"/>
                  </a:ext>
                </a:extLst>
              </a:tr>
            </a:tbl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35BDF5B6-14CF-CBD1-A5EB-9194E5541052}"/>
              </a:ext>
            </a:extLst>
          </p:cNvPr>
          <p:cNvSpPr/>
          <p:nvPr/>
        </p:nvSpPr>
        <p:spPr>
          <a:xfrm>
            <a:off x="4535377" y="2899091"/>
            <a:ext cx="7605953" cy="3167748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051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2F41FF9-FBB0-1A80-8D44-AED98098B1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58A37AD-7149-89F8-BA98-6F405B1145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7135C2-7F8B-F4A0-56E3-5B78AE0D15F6}"/>
              </a:ext>
            </a:extLst>
          </p:cNvPr>
          <p:cNvSpPr txBox="1">
            <a:spLocks/>
          </p:cNvSpPr>
          <p:nvPr/>
        </p:nvSpPr>
        <p:spPr bwMode="auto">
          <a:xfrm>
            <a:off x="1640264" y="444500"/>
            <a:ext cx="9144000" cy="5762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rgbClr val="13652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0000"/>
                </a:solidFill>
                <a:latin typeface="Calibri" charset="0"/>
                <a:ea typeface="MS PGothic" charset="0"/>
              </a:rPr>
              <a:t>RNA-</a:t>
            </a:r>
            <a:r>
              <a:rPr lang="en-US" sz="2800" dirty="0" err="1">
                <a:solidFill>
                  <a:srgbClr val="000000"/>
                </a:solidFill>
                <a:latin typeface="Calibri" charset="0"/>
                <a:ea typeface="MS PGothic" charset="0"/>
              </a:rPr>
              <a:t>seq</a:t>
            </a:r>
            <a:r>
              <a:rPr lang="en-US" sz="2800" dirty="0">
                <a:solidFill>
                  <a:srgbClr val="000000"/>
                </a:solidFill>
                <a:latin typeface="Calibri" charset="0"/>
                <a:ea typeface="MS PGothic" charset="0"/>
              </a:rPr>
              <a:t> - Spliced reads</a:t>
            </a:r>
            <a:endParaRPr lang="en-US" sz="24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  <p:pic>
        <p:nvPicPr>
          <p:cNvPr id="5" name="Picture 7" descr="Screen Shot 2018-02-28 at 18.11.37.png">
            <a:extLst>
              <a:ext uri="{FF2B5EF4-FFF2-40B4-BE49-F238E27FC236}">
                <a16:creationId xmlns:a16="http://schemas.microsoft.com/office/drawing/2014/main" id="{FCD0C616-0551-FC1D-F02F-296D1FDAE4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88"/>
          <a:stretch/>
        </p:blipFill>
        <p:spPr>
          <a:xfrm>
            <a:off x="1640264" y="1020762"/>
            <a:ext cx="9144000" cy="119636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1D4B86A-5F26-4624-CA1D-21887B6FA9C3}"/>
              </a:ext>
            </a:extLst>
          </p:cNvPr>
          <p:cNvSpPr txBox="1">
            <a:spLocks/>
          </p:cNvSpPr>
          <p:nvPr/>
        </p:nvSpPr>
        <p:spPr bwMode="auto">
          <a:xfrm>
            <a:off x="1640264" y="2480059"/>
            <a:ext cx="9144000" cy="5762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rgbClr val="13652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0000"/>
                </a:solidFill>
                <a:latin typeface="Calibri" charset="0"/>
                <a:ea typeface="MS PGothic" charset="0"/>
              </a:rPr>
              <a:t>RNA-</a:t>
            </a:r>
            <a:r>
              <a:rPr lang="en-US" sz="2800" dirty="0" err="1">
                <a:solidFill>
                  <a:srgbClr val="000000"/>
                </a:solidFill>
                <a:latin typeface="Calibri" charset="0"/>
                <a:ea typeface="MS PGothic" charset="0"/>
              </a:rPr>
              <a:t>seq</a:t>
            </a:r>
            <a:r>
              <a:rPr lang="en-US" sz="2800" dirty="0">
                <a:solidFill>
                  <a:srgbClr val="000000"/>
                </a:solidFill>
                <a:latin typeface="Calibri" charset="0"/>
                <a:ea typeface="MS PGothic" charset="0"/>
              </a:rPr>
              <a:t> </a:t>
            </a:r>
            <a:r>
              <a:rPr lang="mr-IN" sz="2800" dirty="0">
                <a:solidFill>
                  <a:srgbClr val="000000"/>
                </a:solidFill>
                <a:latin typeface="Calibri" charset="0"/>
                <a:ea typeface="MS PGothic" charset="0"/>
              </a:rPr>
              <a:t>–</a:t>
            </a:r>
            <a:r>
              <a:rPr lang="en-US" sz="2800" dirty="0">
                <a:solidFill>
                  <a:srgbClr val="000000"/>
                </a:solidFill>
                <a:latin typeface="Calibri" charset="0"/>
                <a:ea typeface="MS PGothic" charset="0"/>
              </a:rPr>
              <a:t> pre-mRNA noise</a:t>
            </a:r>
            <a:endParaRPr lang="en-US" sz="24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  <p:pic>
        <p:nvPicPr>
          <p:cNvPr id="7" name="Picture 9" descr="Screen Shot 2018-02-28 at 18.19.30.png">
            <a:extLst>
              <a:ext uri="{FF2B5EF4-FFF2-40B4-BE49-F238E27FC236}">
                <a16:creationId xmlns:a16="http://schemas.microsoft.com/office/drawing/2014/main" id="{74B367A0-8CB8-AD7F-A7C8-E5F7C1E060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876"/>
          <a:stretch/>
        </p:blipFill>
        <p:spPr>
          <a:xfrm>
            <a:off x="3224337" y="3221837"/>
            <a:ext cx="5039951" cy="1906189"/>
          </a:xfrm>
          <a:prstGeom prst="rect">
            <a:avLst/>
          </a:prstGeom>
        </p:spPr>
      </p:pic>
      <p:pic>
        <p:nvPicPr>
          <p:cNvPr id="8" name="Picture 10" descr="Screen Shot 2018-02-28 at 18.19.30.png">
            <a:extLst>
              <a:ext uri="{FF2B5EF4-FFF2-40B4-BE49-F238E27FC236}">
                <a16:creationId xmlns:a16="http://schemas.microsoft.com/office/drawing/2014/main" id="{A8A2ED23-87C8-341C-5727-34964AA997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81"/>
          <a:stretch/>
        </p:blipFill>
        <p:spPr>
          <a:xfrm>
            <a:off x="3224337" y="5128026"/>
            <a:ext cx="5039951" cy="64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00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857DCDE-9520-A117-5445-8363A688A0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Similarity-based method: Transcript data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FE250B6-1A50-DF2D-8EFB-B83EA2AB23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2B2912-D120-922F-851A-A449D2E1FF27}"/>
              </a:ext>
            </a:extLst>
          </p:cNvPr>
          <p:cNvSpPr txBox="1">
            <a:spLocks/>
          </p:cNvSpPr>
          <p:nvPr/>
        </p:nvSpPr>
        <p:spPr>
          <a:xfrm>
            <a:off x="2262039" y="629166"/>
            <a:ext cx="9425235" cy="26329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Should always be included in an annotation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From the same organism as the genomic data =&gt; unbiased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Sample different tissues or life stages if possible</a:t>
            </a:r>
          </a:p>
          <a:p>
            <a:pPr lvl="2">
              <a:lnSpc>
                <a:spcPct val="80000"/>
              </a:lnSpc>
            </a:pPr>
            <a:endParaRPr lang="en-US" sz="24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A68ABC-13EC-C35B-7F1C-572BDE3FEB5C}"/>
              </a:ext>
            </a:extLst>
          </p:cNvPr>
          <p:cNvSpPr txBox="1">
            <a:spLocks/>
          </p:cNvSpPr>
          <p:nvPr/>
        </p:nvSpPr>
        <p:spPr>
          <a:xfrm>
            <a:off x="2341382" y="2867549"/>
            <a:ext cx="9266548" cy="32392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endParaRPr lang="en-US" b="1" dirty="0"/>
          </a:p>
          <a:p>
            <a:pPr marL="285750" lvl="1" indent="-285750">
              <a:buFont typeface="Wingdings" pitchFamily="2" charset="2"/>
              <a:buChar char="q"/>
            </a:pPr>
            <a:r>
              <a:rPr lang="en-US" dirty="0"/>
              <a:t>Hard to catch low expressed / peculiar expressed (stage of life, condition, etc.) / isoforms</a:t>
            </a:r>
          </a:p>
          <a:p>
            <a:pPr marL="285750" lvl="1" indent="-285750">
              <a:buFont typeface="Wingdings" pitchFamily="2" charset="2"/>
              <a:buChar char="q"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Can be very noisy (tissue/species dependent), can include pre-mRNA</a:t>
            </a:r>
            <a:endParaRPr lang="en-US" b="1" dirty="0"/>
          </a:p>
          <a:p>
            <a:pPr marL="342900" lvl="1" indent="-342900">
              <a:buFont typeface="Wingdings" pitchFamily="2" charset="2"/>
              <a:buChar char="q"/>
            </a:pPr>
            <a:r>
              <a:rPr lang="en-US" dirty="0"/>
              <a:t>short-reads: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 need to be assembled first</a:t>
            </a:r>
          </a:p>
          <a:p>
            <a:pPr lvl="1"/>
            <a:r>
              <a:rPr lang="en-US" dirty="0"/>
              <a:t>Transcriptome assembly errors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>
                <a:solidFill>
                  <a:srgbClr val="000000"/>
                </a:solidFill>
              </a:rPr>
              <a:t>Long-reads:</a:t>
            </a:r>
          </a:p>
          <a:p>
            <a:pPr lvl="1"/>
            <a:r>
              <a:rPr lang="en-US" dirty="0"/>
              <a:t> error rate / frameshift / indels</a:t>
            </a:r>
          </a:p>
          <a:p>
            <a:pPr lvl="1"/>
            <a:endParaRPr lang="en-US" dirty="0"/>
          </a:p>
          <a:p>
            <a:endParaRPr lang="en-US" sz="18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4A09151-0C7A-E280-448E-CA6D29EE9058}"/>
              </a:ext>
            </a:extLst>
          </p:cNvPr>
          <p:cNvSpPr txBox="1"/>
          <p:nvPr/>
        </p:nvSpPr>
        <p:spPr>
          <a:xfrm>
            <a:off x="1515356" y="2894561"/>
            <a:ext cx="1493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b="1" dirty="0"/>
              <a:t>Limits :</a:t>
            </a:r>
          </a:p>
        </p:txBody>
      </p:sp>
    </p:spTree>
    <p:extLst>
      <p:ext uri="{BB962C8B-B14F-4D97-AF65-F5344CB8AC3E}">
        <p14:creationId xmlns:p14="http://schemas.microsoft.com/office/powerpoint/2010/main" val="49785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4599AB-33B1-9A6F-E6FB-F125D440C4BF}"/>
              </a:ext>
            </a:extLst>
          </p:cNvPr>
          <p:cNvSpPr txBox="1"/>
          <p:nvPr/>
        </p:nvSpPr>
        <p:spPr>
          <a:xfrm>
            <a:off x="0" y="59490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5C2A01-FA1C-6D15-5DC1-87865F78B860}"/>
              </a:ext>
            </a:extLst>
          </p:cNvPr>
          <p:cNvSpPr txBox="1"/>
          <p:nvPr/>
        </p:nvSpPr>
        <p:spPr>
          <a:xfrm>
            <a:off x="5496612" y="1570078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PASA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8E8F421-1582-C49A-FA42-5859144B883E}"/>
              </a:ext>
            </a:extLst>
          </p:cNvPr>
          <p:cNvSpPr txBox="1"/>
          <p:nvPr/>
        </p:nvSpPr>
        <p:spPr>
          <a:xfrm>
            <a:off x="8681310" y="4284324"/>
            <a:ext cx="2949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1D4872"/>
                </a:solidFill>
              </a:defRPr>
            </a:lvl1pPr>
          </a:lstStyle>
          <a:p>
            <a:r>
              <a:rPr lang="en-US" dirty="0"/>
              <a:t>BLASTN</a:t>
            </a:r>
          </a:p>
          <a:p>
            <a:r>
              <a:rPr lang="en-US" dirty="0" err="1"/>
              <a:t>GenomeThreader</a:t>
            </a:r>
            <a:r>
              <a:rPr lang="en-US" dirty="0"/>
              <a:t> or Exonerate</a:t>
            </a:r>
            <a:endParaRPr lang="en-GB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B1841ED-C758-EAAD-BD80-2980D7F122D0}"/>
              </a:ext>
            </a:extLst>
          </p:cNvPr>
          <p:cNvSpPr txBox="1"/>
          <p:nvPr/>
        </p:nvSpPr>
        <p:spPr>
          <a:xfrm>
            <a:off x="7490029" y="4419907"/>
            <a:ext cx="75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&lt;=&gt;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83CCAF2-D622-754A-5E65-E3CF7DAE0506}"/>
              </a:ext>
            </a:extLst>
          </p:cNvPr>
          <p:cNvSpPr txBox="1"/>
          <p:nvPr/>
        </p:nvSpPr>
        <p:spPr>
          <a:xfrm>
            <a:off x="9369861" y="1570539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MAKER3</a:t>
            </a:r>
          </a:p>
        </p:txBody>
      </p:sp>
      <p:sp>
        <p:nvSpPr>
          <p:cNvPr id="19" name="Espace réservé du contenu 1">
            <a:extLst>
              <a:ext uri="{FF2B5EF4-FFF2-40B4-BE49-F238E27FC236}">
                <a16:creationId xmlns:a16="http://schemas.microsoft.com/office/drawing/2014/main" id="{298B7B15-A6B6-DE20-FA98-587C1EB1A8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Similarity-based method: Transcript data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23DE3AB-03DF-74E5-C36F-783ADF4553FA}"/>
              </a:ext>
            </a:extLst>
          </p:cNvPr>
          <p:cNvSpPr txBox="1"/>
          <p:nvPr/>
        </p:nvSpPr>
        <p:spPr>
          <a:xfrm>
            <a:off x="4793080" y="4419907"/>
            <a:ext cx="2236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u="none" strike="noStrike" dirty="0">
                <a:solidFill>
                  <a:srgbClr val="1D4872"/>
                </a:solidFill>
                <a:effectLst/>
                <a:latin typeface="-webkit-standard"/>
              </a:rPr>
              <a:t>GMAP and/or BLAT</a:t>
            </a:r>
            <a:endParaRPr lang="en-GB" dirty="0">
              <a:solidFill>
                <a:srgbClr val="1D4872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99CE663-9606-A9FB-3850-EE3FBB0B5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12" y="2861697"/>
            <a:ext cx="2840632" cy="67259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D96DF12-9923-B80D-5459-9FCC13FB3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222" y="2744665"/>
            <a:ext cx="1143000" cy="9906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9ED93D0-AA01-8667-CC1C-1DFB7E32C64F}"/>
              </a:ext>
            </a:extLst>
          </p:cNvPr>
          <p:cNvSpPr txBox="1"/>
          <p:nvPr/>
        </p:nvSpPr>
        <p:spPr>
          <a:xfrm>
            <a:off x="430684" y="1570078"/>
            <a:ext cx="2052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 err="1"/>
              <a:t>GenomeThreader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2932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886056-5E92-FCBF-622B-7AE2D28A105F}"/>
              </a:ext>
            </a:extLst>
          </p:cNvPr>
          <p:cNvSpPr txBox="1"/>
          <p:nvPr/>
        </p:nvSpPr>
        <p:spPr>
          <a:xfrm>
            <a:off x="3044858" y="3241977"/>
            <a:ext cx="6108568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Exercise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28942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1045029" y="1628737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Extrinsic approaches</a:t>
            </a:r>
          </a:p>
          <a:p>
            <a:pPr algn="ctr"/>
            <a:r>
              <a:rPr lang="en-US" sz="3600" dirty="0">
                <a:solidFill>
                  <a:srgbClr val="000000"/>
                </a:solidFill>
              </a:rPr>
              <a:t>Comparative methods </a:t>
            </a:r>
            <a:endParaRPr lang="en-US" sz="3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134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77FDF6A0-276F-80D4-A818-23347CC2A83B}"/>
              </a:ext>
            </a:extLst>
          </p:cNvPr>
          <p:cNvCxnSpPr/>
          <p:nvPr/>
        </p:nvCxnSpPr>
        <p:spPr>
          <a:xfrm>
            <a:off x="2027807" y="5583778"/>
            <a:ext cx="10030119" cy="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07CBF6A-6543-5E81-3246-038815A312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Similarity-based method: Transcript data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CBEE990-992D-B7EE-79B2-A14350F42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40C89-6E08-C97E-0423-0C0C133E5A13}"/>
              </a:ext>
            </a:extLst>
          </p:cNvPr>
          <p:cNvSpPr/>
          <p:nvPr/>
        </p:nvSpPr>
        <p:spPr>
          <a:xfrm>
            <a:off x="2352676" y="1236662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34FC7D-FA4E-5FB6-D858-67EA8091FBEC}"/>
              </a:ext>
            </a:extLst>
          </p:cNvPr>
          <p:cNvSpPr/>
          <p:nvPr/>
        </p:nvSpPr>
        <p:spPr>
          <a:xfrm>
            <a:off x="3937000" y="123666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600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FBB4EB-5AAF-1742-6058-BC0DB8E29240}"/>
              </a:ext>
            </a:extLst>
          </p:cNvPr>
          <p:cNvSpPr/>
          <p:nvPr/>
        </p:nvSpPr>
        <p:spPr>
          <a:xfrm>
            <a:off x="5016500" y="123666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106E8-A643-66E2-28E0-9A477532D48E}"/>
              </a:ext>
            </a:extLst>
          </p:cNvPr>
          <p:cNvSpPr/>
          <p:nvPr/>
        </p:nvSpPr>
        <p:spPr>
          <a:xfrm>
            <a:off x="6096000" y="1236662"/>
            <a:ext cx="1081088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8872E6-184B-8B95-B2AE-B6DFD6863EE6}"/>
              </a:ext>
            </a:extLst>
          </p:cNvPr>
          <p:cNvSpPr/>
          <p:nvPr/>
        </p:nvSpPr>
        <p:spPr>
          <a:xfrm>
            <a:off x="7177088" y="123666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A2F5D-4723-BC36-84DB-AFBEBC1800F3}"/>
              </a:ext>
            </a:extLst>
          </p:cNvPr>
          <p:cNvSpPr/>
          <p:nvPr/>
        </p:nvSpPr>
        <p:spPr>
          <a:xfrm>
            <a:off x="8256589" y="1236662"/>
            <a:ext cx="1081087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06C882-7F5D-44AC-FD06-1119D0656B5F}"/>
              </a:ext>
            </a:extLst>
          </p:cNvPr>
          <p:cNvSpPr/>
          <p:nvPr/>
        </p:nvSpPr>
        <p:spPr>
          <a:xfrm>
            <a:off x="9337676" y="1236662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606B28E-928D-DE68-27A2-BCE8E499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4" y="1096178"/>
            <a:ext cx="75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dirty="0"/>
              <a:t>DNA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FDDE875C-47E8-03B4-416D-7FEEDF20C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6" y="876301"/>
            <a:ext cx="701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Intron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0B901C26-6CA2-663B-A2B8-97804CD80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89" y="876301"/>
            <a:ext cx="7000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dirty="0"/>
              <a:t>Intron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504D7861-5A36-5D7E-E099-EB81A1FDF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876301"/>
            <a:ext cx="701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Intron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412A0513-00D0-DFEB-B686-45B55A1FA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426" y="876301"/>
            <a:ext cx="5889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D163C9DD-4266-3474-1065-8F9BAA827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425" y="876301"/>
            <a:ext cx="590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3863AA7F-E826-A15C-5917-785A2D540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876301"/>
            <a:ext cx="590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8E41D558-2321-E527-93D4-FC507604A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0913" y="876301"/>
            <a:ext cx="590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49B3D935-5804-7A2A-A283-0716725CE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1165226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847FBB13-98B5-D91B-DBE9-22EBB59D5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7175" y="1165226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21" name="Straight Connector 93">
            <a:extLst>
              <a:ext uri="{FF2B5EF4-FFF2-40B4-BE49-F238E27FC236}">
                <a16:creationId xmlns:a16="http://schemas.microsoft.com/office/drawing/2014/main" id="{C0590FEF-5B50-9013-45A8-2F26F82A3FC5}"/>
              </a:ext>
            </a:extLst>
          </p:cNvPr>
          <p:cNvCxnSpPr/>
          <p:nvPr/>
        </p:nvCxnSpPr>
        <p:spPr>
          <a:xfrm>
            <a:off x="3155950" y="1236662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3">
            <a:extLst>
              <a:ext uri="{FF2B5EF4-FFF2-40B4-BE49-F238E27FC236}">
                <a16:creationId xmlns:a16="http://schemas.microsoft.com/office/drawing/2014/main" id="{50833AAA-CEBF-E848-3CBF-11E054817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1452563"/>
            <a:ext cx="1030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ATG</a:t>
            </a:r>
          </a:p>
          <a:p>
            <a:pPr algn="ctr" eaLnBrk="1" hangingPunct="1"/>
            <a:r>
              <a:rPr lang="en-US" sz="1400"/>
              <a:t>Start codon</a:t>
            </a:r>
          </a:p>
        </p:txBody>
      </p:sp>
      <p:cxnSp>
        <p:nvCxnSpPr>
          <p:cNvPr id="23" name="Straight Connector 95">
            <a:extLst>
              <a:ext uri="{FF2B5EF4-FFF2-40B4-BE49-F238E27FC236}">
                <a16:creationId xmlns:a16="http://schemas.microsoft.com/office/drawing/2014/main" id="{DD99F073-0FA0-33C2-FEE5-01AAA633E379}"/>
              </a:ext>
            </a:extLst>
          </p:cNvPr>
          <p:cNvCxnSpPr/>
          <p:nvPr/>
        </p:nvCxnSpPr>
        <p:spPr>
          <a:xfrm>
            <a:off x="10039350" y="1236662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5">
            <a:extLst>
              <a:ext uri="{FF2B5EF4-FFF2-40B4-BE49-F238E27FC236}">
                <a16:creationId xmlns:a16="http://schemas.microsoft.com/office/drawing/2014/main" id="{3A9882EC-EFDC-C00E-45CF-D158FDF2B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113" y="1524001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TAG, TAA, TGA</a:t>
            </a:r>
          </a:p>
          <a:p>
            <a:pPr algn="ctr" eaLnBrk="1" hangingPunct="1"/>
            <a:r>
              <a:rPr lang="en-US" sz="1400"/>
              <a:t>Stop codon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1ACFD5-4614-F347-A331-CD92E009CBC8}"/>
              </a:ext>
            </a:extLst>
          </p:cNvPr>
          <p:cNvSpPr/>
          <p:nvPr/>
        </p:nvSpPr>
        <p:spPr>
          <a:xfrm>
            <a:off x="2352676" y="2801937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5D1538-95D9-FACA-0514-D7E58E50761B}"/>
              </a:ext>
            </a:extLst>
          </p:cNvPr>
          <p:cNvSpPr/>
          <p:nvPr/>
        </p:nvSpPr>
        <p:spPr>
          <a:xfrm>
            <a:off x="3937000" y="2801937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600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96441B-9642-81B1-2180-8081534B8BA7}"/>
              </a:ext>
            </a:extLst>
          </p:cNvPr>
          <p:cNvSpPr/>
          <p:nvPr/>
        </p:nvSpPr>
        <p:spPr>
          <a:xfrm>
            <a:off x="5016500" y="2801937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66EDCC-C51C-00C5-F960-68677757FFFB}"/>
              </a:ext>
            </a:extLst>
          </p:cNvPr>
          <p:cNvSpPr/>
          <p:nvPr/>
        </p:nvSpPr>
        <p:spPr>
          <a:xfrm>
            <a:off x="6096000" y="2801937"/>
            <a:ext cx="1081088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870C6-2E64-F3FB-F802-8EBF7075BA87}"/>
              </a:ext>
            </a:extLst>
          </p:cNvPr>
          <p:cNvSpPr/>
          <p:nvPr/>
        </p:nvSpPr>
        <p:spPr>
          <a:xfrm>
            <a:off x="7177088" y="2801937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93D498-C23F-F830-5051-EABF3E18CCF5}"/>
              </a:ext>
            </a:extLst>
          </p:cNvPr>
          <p:cNvSpPr/>
          <p:nvPr/>
        </p:nvSpPr>
        <p:spPr>
          <a:xfrm>
            <a:off x="8256589" y="2801937"/>
            <a:ext cx="1081087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DE5F51-9EE2-1871-9259-0B7B8DF00F51}"/>
              </a:ext>
            </a:extLst>
          </p:cNvPr>
          <p:cNvSpPr/>
          <p:nvPr/>
        </p:nvSpPr>
        <p:spPr>
          <a:xfrm>
            <a:off x="9337676" y="2801937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32" name="TextBox 36">
            <a:extLst>
              <a:ext uri="{FF2B5EF4-FFF2-40B4-BE49-F238E27FC236}">
                <a16:creationId xmlns:a16="http://schemas.microsoft.com/office/drawing/2014/main" id="{236BBD29-B340-DE34-ABC9-76F5640EE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2651919"/>
            <a:ext cx="1492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dirty="0"/>
              <a:t>Pre-mRNA</a:t>
            </a:r>
          </a:p>
        </p:txBody>
      </p:sp>
      <p:sp>
        <p:nvSpPr>
          <p:cNvPr id="33" name="TextBox 44">
            <a:extLst>
              <a:ext uri="{FF2B5EF4-FFF2-40B4-BE49-F238E27FC236}">
                <a16:creationId xmlns:a16="http://schemas.microsoft.com/office/drawing/2014/main" id="{8C828285-DAC2-C1D3-8B72-653AE646A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2728913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sp>
        <p:nvSpPr>
          <p:cNvPr id="34" name="TextBox 45">
            <a:extLst>
              <a:ext uri="{FF2B5EF4-FFF2-40B4-BE49-F238E27FC236}">
                <a16:creationId xmlns:a16="http://schemas.microsoft.com/office/drawing/2014/main" id="{005E32AD-9519-FBD4-4464-F3CF462C7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7175" y="2728913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35" name="Straight Connector 107">
            <a:extLst>
              <a:ext uri="{FF2B5EF4-FFF2-40B4-BE49-F238E27FC236}">
                <a16:creationId xmlns:a16="http://schemas.microsoft.com/office/drawing/2014/main" id="{11C94931-38AA-C00D-7140-BC7D21403560}"/>
              </a:ext>
            </a:extLst>
          </p:cNvPr>
          <p:cNvCxnSpPr/>
          <p:nvPr/>
        </p:nvCxnSpPr>
        <p:spPr>
          <a:xfrm>
            <a:off x="3155950" y="2801937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47">
            <a:extLst>
              <a:ext uri="{FF2B5EF4-FFF2-40B4-BE49-F238E27FC236}">
                <a16:creationId xmlns:a16="http://schemas.microsoft.com/office/drawing/2014/main" id="{93B31771-1945-135D-9039-8E9460692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3017838"/>
            <a:ext cx="1030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ATG</a:t>
            </a:r>
          </a:p>
          <a:p>
            <a:pPr algn="ctr" eaLnBrk="1" hangingPunct="1"/>
            <a:r>
              <a:rPr lang="en-US" sz="1400"/>
              <a:t>Start codon</a:t>
            </a:r>
          </a:p>
        </p:txBody>
      </p:sp>
      <p:cxnSp>
        <p:nvCxnSpPr>
          <p:cNvPr id="37" name="Straight Connector 109">
            <a:extLst>
              <a:ext uri="{FF2B5EF4-FFF2-40B4-BE49-F238E27FC236}">
                <a16:creationId xmlns:a16="http://schemas.microsoft.com/office/drawing/2014/main" id="{92F0B1D1-DF24-52A5-28A9-F3525179630C}"/>
              </a:ext>
            </a:extLst>
          </p:cNvPr>
          <p:cNvCxnSpPr/>
          <p:nvPr/>
        </p:nvCxnSpPr>
        <p:spPr>
          <a:xfrm>
            <a:off x="10039350" y="2801937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49">
            <a:extLst>
              <a:ext uri="{FF2B5EF4-FFF2-40B4-BE49-F238E27FC236}">
                <a16:creationId xmlns:a16="http://schemas.microsoft.com/office/drawing/2014/main" id="{E991C62D-9845-BCEC-C69F-8C3EBB0B6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113" y="3089276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 dirty="0"/>
              <a:t>TAG, TAA, TGA</a:t>
            </a:r>
          </a:p>
          <a:p>
            <a:pPr algn="ctr" eaLnBrk="1" hangingPunct="1"/>
            <a:r>
              <a:rPr lang="en-US" sz="1400" dirty="0"/>
              <a:t>Stop codon </a:t>
            </a:r>
          </a:p>
        </p:txBody>
      </p:sp>
      <p:cxnSp>
        <p:nvCxnSpPr>
          <p:cNvPr id="39" name="Straight Arrow Connector 111">
            <a:extLst>
              <a:ext uri="{FF2B5EF4-FFF2-40B4-BE49-F238E27FC236}">
                <a16:creationId xmlns:a16="http://schemas.microsoft.com/office/drawing/2014/main" id="{3B83FF32-62E3-B3BF-F6CF-D28B311B5350}"/>
              </a:ext>
            </a:extLst>
          </p:cNvPr>
          <p:cNvCxnSpPr/>
          <p:nvPr/>
        </p:nvCxnSpPr>
        <p:spPr>
          <a:xfrm>
            <a:off x="6600825" y="1597026"/>
            <a:ext cx="0" cy="7191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50">
            <a:extLst>
              <a:ext uri="{FF2B5EF4-FFF2-40B4-BE49-F238E27FC236}">
                <a16:creationId xmlns:a16="http://schemas.microsoft.com/office/drawing/2014/main" id="{455A4FF3-B433-B504-E04C-0782BBE5F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4" y="1741487"/>
            <a:ext cx="1285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Transcription</a:t>
            </a:r>
          </a:p>
        </p:txBody>
      </p:sp>
      <p:cxnSp>
        <p:nvCxnSpPr>
          <p:cNvPr id="41" name="Straight Arrow Connector 113">
            <a:extLst>
              <a:ext uri="{FF2B5EF4-FFF2-40B4-BE49-F238E27FC236}">
                <a16:creationId xmlns:a16="http://schemas.microsoft.com/office/drawing/2014/main" id="{69BB4FA3-CD21-4B18-E575-DAF588F64F11}"/>
              </a:ext>
            </a:extLst>
          </p:cNvPr>
          <p:cNvCxnSpPr/>
          <p:nvPr/>
        </p:nvCxnSpPr>
        <p:spPr>
          <a:xfrm>
            <a:off x="6600825" y="3252788"/>
            <a:ext cx="0" cy="720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55">
            <a:extLst>
              <a:ext uri="{FF2B5EF4-FFF2-40B4-BE49-F238E27FC236}">
                <a16:creationId xmlns:a16="http://schemas.microsoft.com/office/drawing/2014/main" id="{E48C3C9E-D7B6-1EC5-956B-BE786D55F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397251"/>
            <a:ext cx="8191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Splicing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AC0FCB-FF1D-317B-392B-A8DB773A36D1}"/>
              </a:ext>
            </a:extLst>
          </p:cNvPr>
          <p:cNvSpPr/>
          <p:nvPr/>
        </p:nvSpPr>
        <p:spPr>
          <a:xfrm>
            <a:off x="3937001" y="4189412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44" name="TextBox 62">
            <a:extLst>
              <a:ext uri="{FF2B5EF4-FFF2-40B4-BE49-F238E27FC236}">
                <a16:creationId xmlns:a16="http://schemas.microsoft.com/office/drawing/2014/main" id="{9F8A48DC-966C-3FBF-02EF-A7B6A24D6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0" y="4116388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45" name="Straight Connector 117">
            <a:extLst>
              <a:ext uri="{FF2B5EF4-FFF2-40B4-BE49-F238E27FC236}">
                <a16:creationId xmlns:a16="http://schemas.microsoft.com/office/drawing/2014/main" id="{0818B8D5-875F-E0F6-DE99-7C1CE72CC2CF}"/>
              </a:ext>
            </a:extLst>
          </p:cNvPr>
          <p:cNvCxnSpPr/>
          <p:nvPr/>
        </p:nvCxnSpPr>
        <p:spPr>
          <a:xfrm>
            <a:off x="4740275" y="4189412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09724FF-0337-736A-5156-D8C691D17501}"/>
              </a:ext>
            </a:extLst>
          </p:cNvPr>
          <p:cNvSpPr/>
          <p:nvPr/>
        </p:nvSpPr>
        <p:spPr>
          <a:xfrm>
            <a:off x="5521325" y="418941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latin typeface="Calibri" charset="0"/>
              <a:ea typeface="MS PGothic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93D9ACD-72CE-F6F9-3621-AF2E77927414}"/>
              </a:ext>
            </a:extLst>
          </p:cNvPr>
          <p:cNvSpPr/>
          <p:nvPr/>
        </p:nvSpPr>
        <p:spPr>
          <a:xfrm>
            <a:off x="6600825" y="418941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4981473-4B01-3421-39DE-79F9C92C4866}"/>
              </a:ext>
            </a:extLst>
          </p:cNvPr>
          <p:cNvSpPr/>
          <p:nvPr/>
        </p:nvSpPr>
        <p:spPr>
          <a:xfrm>
            <a:off x="7680326" y="4189412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latin typeface="Calibri" charset="0"/>
              <a:ea typeface="MS PGothic" charset="0"/>
            </a:endParaRP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EAD14724-6A28-98ED-1BE7-C53611D2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1414" y="4116388"/>
            <a:ext cx="484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50" name="Straight Connector 122">
            <a:extLst>
              <a:ext uri="{FF2B5EF4-FFF2-40B4-BE49-F238E27FC236}">
                <a16:creationId xmlns:a16="http://schemas.microsoft.com/office/drawing/2014/main" id="{E6837666-00D6-D5AB-F219-DDD7B51E4D26}"/>
              </a:ext>
            </a:extLst>
          </p:cNvPr>
          <p:cNvCxnSpPr/>
          <p:nvPr/>
        </p:nvCxnSpPr>
        <p:spPr>
          <a:xfrm>
            <a:off x="8383588" y="4189412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124">
            <a:extLst>
              <a:ext uri="{FF2B5EF4-FFF2-40B4-BE49-F238E27FC236}">
                <a16:creationId xmlns:a16="http://schemas.microsoft.com/office/drawing/2014/main" id="{52A37984-019E-5E08-B516-6AC70CE4CA22}"/>
              </a:ext>
            </a:extLst>
          </p:cNvPr>
          <p:cNvCxnSpPr/>
          <p:nvPr/>
        </p:nvCxnSpPr>
        <p:spPr>
          <a:xfrm>
            <a:off x="3937001" y="3036888"/>
            <a:ext cx="1584325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125">
            <a:extLst>
              <a:ext uri="{FF2B5EF4-FFF2-40B4-BE49-F238E27FC236}">
                <a16:creationId xmlns:a16="http://schemas.microsoft.com/office/drawing/2014/main" id="{C3AF3643-C085-76A2-FA2A-C176B0F22B6F}"/>
              </a:ext>
            </a:extLst>
          </p:cNvPr>
          <p:cNvCxnSpPr/>
          <p:nvPr/>
        </p:nvCxnSpPr>
        <p:spPr>
          <a:xfrm>
            <a:off x="5016501" y="3036888"/>
            <a:ext cx="504825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126">
            <a:extLst>
              <a:ext uri="{FF2B5EF4-FFF2-40B4-BE49-F238E27FC236}">
                <a16:creationId xmlns:a16="http://schemas.microsoft.com/office/drawing/2014/main" id="{5D127F28-EB7F-BD00-7376-11802B9F1E09}"/>
              </a:ext>
            </a:extLst>
          </p:cNvPr>
          <p:cNvCxnSpPr/>
          <p:nvPr/>
        </p:nvCxnSpPr>
        <p:spPr>
          <a:xfrm>
            <a:off x="6096001" y="3036888"/>
            <a:ext cx="504825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127">
            <a:extLst>
              <a:ext uri="{FF2B5EF4-FFF2-40B4-BE49-F238E27FC236}">
                <a16:creationId xmlns:a16="http://schemas.microsoft.com/office/drawing/2014/main" id="{2EC8B167-3C03-8992-1CE2-E8C53A8BD8DE}"/>
              </a:ext>
            </a:extLst>
          </p:cNvPr>
          <p:cNvCxnSpPr/>
          <p:nvPr/>
        </p:nvCxnSpPr>
        <p:spPr>
          <a:xfrm flipH="1">
            <a:off x="6600826" y="3036888"/>
            <a:ext cx="576263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128">
            <a:extLst>
              <a:ext uri="{FF2B5EF4-FFF2-40B4-BE49-F238E27FC236}">
                <a16:creationId xmlns:a16="http://schemas.microsoft.com/office/drawing/2014/main" id="{54232DBA-09CB-F3C5-10E1-0C8C1B482CE2}"/>
              </a:ext>
            </a:extLst>
          </p:cNvPr>
          <p:cNvCxnSpPr/>
          <p:nvPr/>
        </p:nvCxnSpPr>
        <p:spPr>
          <a:xfrm flipH="1">
            <a:off x="7680326" y="3036888"/>
            <a:ext cx="576263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129">
            <a:extLst>
              <a:ext uri="{FF2B5EF4-FFF2-40B4-BE49-F238E27FC236}">
                <a16:creationId xmlns:a16="http://schemas.microsoft.com/office/drawing/2014/main" id="{CB9D59C7-DDC0-F790-62A1-2CACA4C79516}"/>
              </a:ext>
            </a:extLst>
          </p:cNvPr>
          <p:cNvCxnSpPr/>
          <p:nvPr/>
        </p:nvCxnSpPr>
        <p:spPr>
          <a:xfrm flipH="1">
            <a:off x="7680325" y="3036888"/>
            <a:ext cx="1657350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TextBox 83">
            <a:extLst>
              <a:ext uri="{FF2B5EF4-FFF2-40B4-BE49-F238E27FC236}">
                <a16:creationId xmlns:a16="http://schemas.microsoft.com/office/drawing/2014/main" id="{E4FF50A2-8CBA-4745-3A94-0B4244954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8523" y="4039394"/>
            <a:ext cx="979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dirty="0"/>
              <a:t>mRNA</a:t>
            </a:r>
          </a:p>
        </p:txBody>
      </p:sp>
      <p:sp>
        <p:nvSpPr>
          <p:cNvPr id="62" name="TextBox 86">
            <a:extLst>
              <a:ext uri="{FF2B5EF4-FFF2-40B4-BE49-F238E27FC236}">
                <a16:creationId xmlns:a16="http://schemas.microsoft.com/office/drawing/2014/main" id="{CA639BFD-8E0A-C40B-49E3-221D34851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6" y="1381126"/>
            <a:ext cx="390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GT</a:t>
            </a:r>
          </a:p>
        </p:txBody>
      </p:sp>
      <p:sp>
        <p:nvSpPr>
          <p:cNvPr id="63" name="TextBox 90">
            <a:extLst>
              <a:ext uri="{FF2B5EF4-FFF2-40B4-BE49-F238E27FC236}">
                <a16:creationId xmlns:a16="http://schemas.microsoft.com/office/drawing/2014/main" id="{EDDA17DA-2262-D2A0-2BAF-33684D8F2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564" y="1381126"/>
            <a:ext cx="390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GT</a:t>
            </a:r>
          </a:p>
        </p:txBody>
      </p:sp>
      <p:sp>
        <p:nvSpPr>
          <p:cNvPr id="64" name="TextBox 91">
            <a:extLst>
              <a:ext uri="{FF2B5EF4-FFF2-40B4-BE49-F238E27FC236}">
                <a16:creationId xmlns:a16="http://schemas.microsoft.com/office/drawing/2014/main" id="{4902C8B4-2C66-8A97-F856-42BB34F13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5150" y="1381126"/>
            <a:ext cx="388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GT</a:t>
            </a:r>
          </a:p>
        </p:txBody>
      </p:sp>
      <p:cxnSp>
        <p:nvCxnSpPr>
          <p:cNvPr id="65" name="Straight Connector 137">
            <a:extLst>
              <a:ext uri="{FF2B5EF4-FFF2-40B4-BE49-F238E27FC236}">
                <a16:creationId xmlns:a16="http://schemas.microsoft.com/office/drawing/2014/main" id="{B88AEAE7-81C1-B610-3A77-BD34D1994351}"/>
              </a:ext>
            </a:extLst>
          </p:cNvPr>
          <p:cNvCxnSpPr/>
          <p:nvPr/>
        </p:nvCxnSpPr>
        <p:spPr>
          <a:xfrm>
            <a:off x="5232400" y="4549775"/>
            <a:ext cx="6477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138">
            <a:extLst>
              <a:ext uri="{FF2B5EF4-FFF2-40B4-BE49-F238E27FC236}">
                <a16:creationId xmlns:a16="http://schemas.microsoft.com/office/drawing/2014/main" id="{9B029EE3-C48C-ACCC-DDB8-AAF83A17AE8B}"/>
              </a:ext>
            </a:extLst>
          </p:cNvPr>
          <p:cNvCxnSpPr/>
          <p:nvPr/>
        </p:nvCxnSpPr>
        <p:spPr>
          <a:xfrm>
            <a:off x="3691146" y="5364649"/>
            <a:ext cx="28892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139">
            <a:extLst>
              <a:ext uri="{FF2B5EF4-FFF2-40B4-BE49-F238E27FC236}">
                <a16:creationId xmlns:a16="http://schemas.microsoft.com/office/drawing/2014/main" id="{D6B42018-103B-269B-F7C3-65428583F72D}"/>
              </a:ext>
            </a:extLst>
          </p:cNvPr>
          <p:cNvCxnSpPr/>
          <p:nvPr/>
        </p:nvCxnSpPr>
        <p:spPr>
          <a:xfrm>
            <a:off x="5059571" y="5364649"/>
            <a:ext cx="28892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12293">
            <a:extLst>
              <a:ext uri="{FF2B5EF4-FFF2-40B4-BE49-F238E27FC236}">
                <a16:creationId xmlns:a16="http://schemas.microsoft.com/office/drawing/2014/main" id="{19E248D3-D555-4DBA-DA24-42CC56358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8976" y="2749551"/>
            <a:ext cx="39211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AA</a:t>
            </a:r>
          </a:p>
        </p:txBody>
      </p:sp>
      <p:sp>
        <p:nvSpPr>
          <p:cNvPr id="69" name="TextBox 102">
            <a:extLst>
              <a:ext uri="{FF2B5EF4-FFF2-40B4-BE49-F238E27FC236}">
                <a16:creationId xmlns:a16="http://schemas.microsoft.com/office/drawing/2014/main" id="{6575E39F-49B7-B16A-F81B-45F037D72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6925" y="2965450"/>
            <a:ext cx="2159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AAAAA</a:t>
            </a:r>
          </a:p>
        </p:txBody>
      </p:sp>
      <p:sp>
        <p:nvSpPr>
          <p:cNvPr id="70" name="TextBox 104">
            <a:extLst>
              <a:ext uri="{FF2B5EF4-FFF2-40B4-BE49-F238E27FC236}">
                <a16:creationId xmlns:a16="http://schemas.microsoft.com/office/drawing/2014/main" id="{12661BA1-A57F-7F36-3CBE-960A64A3D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214" y="4116388"/>
            <a:ext cx="1120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 dirty="0"/>
              <a:t>AAAAAAAAA</a:t>
            </a:r>
          </a:p>
        </p:txBody>
      </p:sp>
      <p:sp>
        <p:nvSpPr>
          <p:cNvPr id="71" name="TextBox 106">
            <a:extLst>
              <a:ext uri="{FF2B5EF4-FFF2-40B4-BE49-F238E27FC236}">
                <a16:creationId xmlns:a16="http://schemas.microsoft.com/office/drawing/2014/main" id="{D0B725CD-7888-F0A5-4AFA-8CFC9251F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164" y="1381126"/>
            <a:ext cx="401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AG</a:t>
            </a:r>
          </a:p>
        </p:txBody>
      </p:sp>
      <p:sp>
        <p:nvSpPr>
          <p:cNvPr id="72" name="TextBox 107">
            <a:extLst>
              <a:ext uri="{FF2B5EF4-FFF2-40B4-BE49-F238E27FC236}">
                <a16:creationId xmlns:a16="http://schemas.microsoft.com/office/drawing/2014/main" id="{FFA31B41-5E68-CCFF-1B7D-91452A8C1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4" y="1360488"/>
            <a:ext cx="403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AG</a:t>
            </a:r>
          </a:p>
        </p:txBody>
      </p:sp>
      <p:sp>
        <p:nvSpPr>
          <p:cNvPr id="73" name="TextBox 108">
            <a:extLst>
              <a:ext uri="{FF2B5EF4-FFF2-40B4-BE49-F238E27FC236}">
                <a16:creationId xmlns:a16="http://schemas.microsoft.com/office/drawing/2014/main" id="{CBB47F2B-A2E8-0583-71C2-573B0D8D7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0" y="1381126"/>
            <a:ext cx="401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AG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F3A222CE-AACC-3FDD-B62E-CB46A03EE275}"/>
              </a:ext>
            </a:extLst>
          </p:cNvPr>
          <p:cNvCxnSpPr/>
          <p:nvPr/>
        </p:nvCxnSpPr>
        <p:spPr>
          <a:xfrm>
            <a:off x="1165477" y="5076041"/>
            <a:ext cx="95534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ZoneTexte 76">
            <a:extLst>
              <a:ext uri="{FF2B5EF4-FFF2-40B4-BE49-F238E27FC236}">
                <a16:creationId xmlns:a16="http://schemas.microsoft.com/office/drawing/2014/main" id="{564DDEA9-7C31-204A-2857-5861B56839F4}"/>
              </a:ext>
            </a:extLst>
          </p:cNvPr>
          <p:cNvSpPr txBox="1"/>
          <p:nvPr/>
        </p:nvSpPr>
        <p:spPr>
          <a:xfrm>
            <a:off x="70936" y="5364649"/>
            <a:ext cx="1998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Annotation (DNA)</a:t>
            </a:r>
            <a:endParaRPr lang="en-GB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4B87223-9061-615B-5A6A-FF51A2783509}"/>
              </a:ext>
            </a:extLst>
          </p:cNvPr>
          <p:cNvSpPr/>
          <p:nvPr/>
        </p:nvSpPr>
        <p:spPr>
          <a:xfrm>
            <a:off x="2395747" y="5470656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3B8E52E-0B41-5495-0C8D-C6B98B4697F3}"/>
              </a:ext>
            </a:extLst>
          </p:cNvPr>
          <p:cNvSpPr/>
          <p:nvPr/>
        </p:nvSpPr>
        <p:spPr>
          <a:xfrm>
            <a:off x="5059571" y="5470656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EFF1026-FFFB-6D81-076E-4013EC57B646}"/>
              </a:ext>
            </a:extLst>
          </p:cNvPr>
          <p:cNvSpPr/>
          <p:nvPr/>
        </p:nvSpPr>
        <p:spPr>
          <a:xfrm>
            <a:off x="7220159" y="5470656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46ADCB3-87F0-CC61-EED1-5E6970428E96}"/>
              </a:ext>
            </a:extLst>
          </p:cNvPr>
          <p:cNvSpPr/>
          <p:nvPr/>
        </p:nvSpPr>
        <p:spPr>
          <a:xfrm>
            <a:off x="9380747" y="5470656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8F152621-43CE-206B-F3C5-F96B13EB9291}"/>
              </a:ext>
            </a:extLst>
          </p:cNvPr>
          <p:cNvSpPr/>
          <p:nvPr/>
        </p:nvSpPr>
        <p:spPr>
          <a:xfrm rot="756904">
            <a:off x="6358731" y="4661392"/>
            <a:ext cx="1150936" cy="1165154"/>
          </a:xfrm>
          <a:prstGeom prst="arc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AD417E2D-3A87-2290-A368-BE7A43CD8855}"/>
              </a:ext>
            </a:extLst>
          </p:cNvPr>
          <p:cNvSpPr txBox="1"/>
          <p:nvPr/>
        </p:nvSpPr>
        <p:spPr>
          <a:xfrm>
            <a:off x="7681117" y="4692668"/>
            <a:ext cx="2829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Mapping / Alignment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8036B8E1-B401-C74B-544C-8C8CF82BA52E}"/>
              </a:ext>
            </a:extLst>
          </p:cNvPr>
          <p:cNvSpPr txBox="1">
            <a:spLocks/>
          </p:cNvSpPr>
          <p:nvPr/>
        </p:nvSpPr>
        <p:spPr bwMode="auto">
          <a:xfrm>
            <a:off x="7938" y="490275"/>
            <a:ext cx="2181226" cy="46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rgbClr val="13652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charset="0"/>
                <a:ea typeface="MS PGothic" charset="0"/>
              </a:rPr>
              <a:t>spliced reads</a:t>
            </a:r>
          </a:p>
        </p:txBody>
      </p:sp>
    </p:spTree>
    <p:extLst>
      <p:ext uri="{BB962C8B-B14F-4D97-AF65-F5344CB8AC3E}">
        <p14:creationId xmlns:p14="http://schemas.microsoft.com/office/powerpoint/2010/main" val="355532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7" grpId="0" animBg="1"/>
      <p:bldP spid="8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CF38FF8-7DB4-9E9A-85A8-F3C32FD157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Similarity-based method: Transcript data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3729267-688C-AB88-4F7F-CDEAC5B51A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4" name="Picture 2" descr="Screen Shot 2018-02-28 at 18.11.37.png">
            <a:extLst>
              <a:ext uri="{FF2B5EF4-FFF2-40B4-BE49-F238E27FC236}">
                <a16:creationId xmlns:a16="http://schemas.microsoft.com/office/drawing/2014/main" id="{4014C3AA-9AA1-4E67-6653-37BDF4135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841" y="1512495"/>
            <a:ext cx="9144000" cy="383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22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77FDF6A0-276F-80D4-A818-23347CC2A83B}"/>
              </a:ext>
            </a:extLst>
          </p:cNvPr>
          <p:cNvCxnSpPr/>
          <p:nvPr/>
        </p:nvCxnSpPr>
        <p:spPr>
          <a:xfrm>
            <a:off x="2027807" y="5583778"/>
            <a:ext cx="10030119" cy="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07CBF6A-6543-5E81-3246-038815A312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Similarity-based method: Transcript data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CBEE990-992D-B7EE-79B2-A14350F42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40C89-6E08-C97E-0423-0C0C133E5A13}"/>
              </a:ext>
            </a:extLst>
          </p:cNvPr>
          <p:cNvSpPr/>
          <p:nvPr/>
        </p:nvSpPr>
        <p:spPr>
          <a:xfrm>
            <a:off x="2352676" y="1236662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34FC7D-FA4E-5FB6-D858-67EA8091FBEC}"/>
              </a:ext>
            </a:extLst>
          </p:cNvPr>
          <p:cNvSpPr/>
          <p:nvPr/>
        </p:nvSpPr>
        <p:spPr>
          <a:xfrm>
            <a:off x="3937000" y="123666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600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FBB4EB-5AAF-1742-6058-BC0DB8E29240}"/>
              </a:ext>
            </a:extLst>
          </p:cNvPr>
          <p:cNvSpPr/>
          <p:nvPr/>
        </p:nvSpPr>
        <p:spPr>
          <a:xfrm>
            <a:off x="5016500" y="123666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106E8-A643-66E2-28E0-9A477532D48E}"/>
              </a:ext>
            </a:extLst>
          </p:cNvPr>
          <p:cNvSpPr/>
          <p:nvPr/>
        </p:nvSpPr>
        <p:spPr>
          <a:xfrm>
            <a:off x="6096000" y="1236662"/>
            <a:ext cx="1081088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8872E6-184B-8B95-B2AE-B6DFD6863EE6}"/>
              </a:ext>
            </a:extLst>
          </p:cNvPr>
          <p:cNvSpPr/>
          <p:nvPr/>
        </p:nvSpPr>
        <p:spPr>
          <a:xfrm>
            <a:off x="7177088" y="123666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A2F5D-4723-BC36-84DB-AFBEBC1800F3}"/>
              </a:ext>
            </a:extLst>
          </p:cNvPr>
          <p:cNvSpPr/>
          <p:nvPr/>
        </p:nvSpPr>
        <p:spPr>
          <a:xfrm>
            <a:off x="8256589" y="1236662"/>
            <a:ext cx="1081087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06C882-7F5D-44AC-FD06-1119D0656B5F}"/>
              </a:ext>
            </a:extLst>
          </p:cNvPr>
          <p:cNvSpPr/>
          <p:nvPr/>
        </p:nvSpPr>
        <p:spPr>
          <a:xfrm>
            <a:off x="9337676" y="1236662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606B28E-928D-DE68-27A2-BCE8E499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3682" y="1076056"/>
            <a:ext cx="75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dirty="0"/>
              <a:t>DNA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FDDE875C-47E8-03B4-416D-7FEEDF20C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6" y="876301"/>
            <a:ext cx="701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Intron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0B901C26-6CA2-663B-A2B8-97804CD80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89" y="876301"/>
            <a:ext cx="7000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dirty="0"/>
              <a:t>Intron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504D7861-5A36-5D7E-E099-EB81A1FDF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876301"/>
            <a:ext cx="701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Intron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412A0513-00D0-DFEB-B686-45B55A1FA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426" y="876301"/>
            <a:ext cx="5889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D163C9DD-4266-3474-1065-8F9BAA827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425" y="876301"/>
            <a:ext cx="590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3863AA7F-E826-A15C-5917-785A2D540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876301"/>
            <a:ext cx="590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8E41D558-2321-E527-93D4-FC507604A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0913" y="876301"/>
            <a:ext cx="590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Exon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49B3D935-5804-7A2A-A283-0716725CE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1165226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847FBB13-98B5-D91B-DBE9-22EBB59D5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7175" y="1165226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21" name="Straight Connector 93">
            <a:extLst>
              <a:ext uri="{FF2B5EF4-FFF2-40B4-BE49-F238E27FC236}">
                <a16:creationId xmlns:a16="http://schemas.microsoft.com/office/drawing/2014/main" id="{C0590FEF-5B50-9013-45A8-2F26F82A3FC5}"/>
              </a:ext>
            </a:extLst>
          </p:cNvPr>
          <p:cNvCxnSpPr/>
          <p:nvPr/>
        </p:nvCxnSpPr>
        <p:spPr>
          <a:xfrm>
            <a:off x="3155950" y="1236662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3">
            <a:extLst>
              <a:ext uri="{FF2B5EF4-FFF2-40B4-BE49-F238E27FC236}">
                <a16:creationId xmlns:a16="http://schemas.microsoft.com/office/drawing/2014/main" id="{50833AAA-CEBF-E848-3CBF-11E054817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1452563"/>
            <a:ext cx="1030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ATG</a:t>
            </a:r>
          </a:p>
          <a:p>
            <a:pPr algn="ctr" eaLnBrk="1" hangingPunct="1"/>
            <a:r>
              <a:rPr lang="en-US" sz="1400"/>
              <a:t>Start codon</a:t>
            </a:r>
          </a:p>
        </p:txBody>
      </p:sp>
      <p:cxnSp>
        <p:nvCxnSpPr>
          <p:cNvPr id="23" name="Straight Connector 95">
            <a:extLst>
              <a:ext uri="{FF2B5EF4-FFF2-40B4-BE49-F238E27FC236}">
                <a16:creationId xmlns:a16="http://schemas.microsoft.com/office/drawing/2014/main" id="{DD99F073-0FA0-33C2-FEE5-01AAA633E379}"/>
              </a:ext>
            </a:extLst>
          </p:cNvPr>
          <p:cNvCxnSpPr/>
          <p:nvPr/>
        </p:nvCxnSpPr>
        <p:spPr>
          <a:xfrm>
            <a:off x="10039350" y="1236662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5">
            <a:extLst>
              <a:ext uri="{FF2B5EF4-FFF2-40B4-BE49-F238E27FC236}">
                <a16:creationId xmlns:a16="http://schemas.microsoft.com/office/drawing/2014/main" id="{3A9882EC-EFDC-C00E-45CF-D158FDF2B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113" y="1524001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TAG, TAA, TGA</a:t>
            </a:r>
          </a:p>
          <a:p>
            <a:pPr algn="ctr" eaLnBrk="1" hangingPunct="1"/>
            <a:r>
              <a:rPr lang="en-US" sz="1400"/>
              <a:t>Stop codon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1ACFD5-4614-F347-A331-CD92E009CBC8}"/>
              </a:ext>
            </a:extLst>
          </p:cNvPr>
          <p:cNvSpPr/>
          <p:nvPr/>
        </p:nvSpPr>
        <p:spPr>
          <a:xfrm>
            <a:off x="2352676" y="2801937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5D1538-95D9-FACA-0514-D7E58E50761B}"/>
              </a:ext>
            </a:extLst>
          </p:cNvPr>
          <p:cNvSpPr/>
          <p:nvPr/>
        </p:nvSpPr>
        <p:spPr>
          <a:xfrm>
            <a:off x="3937000" y="2801937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600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96441B-9642-81B1-2180-8081534B8BA7}"/>
              </a:ext>
            </a:extLst>
          </p:cNvPr>
          <p:cNvSpPr/>
          <p:nvPr/>
        </p:nvSpPr>
        <p:spPr>
          <a:xfrm>
            <a:off x="5016500" y="2801937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66EDCC-C51C-00C5-F960-68677757FFFB}"/>
              </a:ext>
            </a:extLst>
          </p:cNvPr>
          <p:cNvSpPr/>
          <p:nvPr/>
        </p:nvSpPr>
        <p:spPr>
          <a:xfrm>
            <a:off x="6096000" y="2801937"/>
            <a:ext cx="1081088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870C6-2E64-F3FB-F802-8EBF7075BA87}"/>
              </a:ext>
            </a:extLst>
          </p:cNvPr>
          <p:cNvSpPr/>
          <p:nvPr/>
        </p:nvSpPr>
        <p:spPr>
          <a:xfrm>
            <a:off x="7177088" y="2801937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93D498-C23F-F830-5051-EABF3E18CCF5}"/>
              </a:ext>
            </a:extLst>
          </p:cNvPr>
          <p:cNvSpPr/>
          <p:nvPr/>
        </p:nvSpPr>
        <p:spPr>
          <a:xfrm>
            <a:off x="8256589" y="2801937"/>
            <a:ext cx="1081087" cy="2159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DE5F51-9EE2-1871-9259-0B7B8DF00F51}"/>
              </a:ext>
            </a:extLst>
          </p:cNvPr>
          <p:cNvSpPr/>
          <p:nvPr/>
        </p:nvSpPr>
        <p:spPr>
          <a:xfrm>
            <a:off x="9337676" y="2801937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32" name="TextBox 36">
            <a:extLst>
              <a:ext uri="{FF2B5EF4-FFF2-40B4-BE49-F238E27FC236}">
                <a16:creationId xmlns:a16="http://schemas.microsoft.com/office/drawing/2014/main" id="{236BBD29-B340-DE34-ABC9-76F5640EE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2656584"/>
            <a:ext cx="1492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dirty="0"/>
              <a:t>Pre-mRNA</a:t>
            </a:r>
          </a:p>
        </p:txBody>
      </p:sp>
      <p:sp>
        <p:nvSpPr>
          <p:cNvPr id="33" name="TextBox 44">
            <a:extLst>
              <a:ext uri="{FF2B5EF4-FFF2-40B4-BE49-F238E27FC236}">
                <a16:creationId xmlns:a16="http://schemas.microsoft.com/office/drawing/2014/main" id="{8C828285-DAC2-C1D3-8B72-653AE646A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2728913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sp>
        <p:nvSpPr>
          <p:cNvPr id="34" name="TextBox 45">
            <a:extLst>
              <a:ext uri="{FF2B5EF4-FFF2-40B4-BE49-F238E27FC236}">
                <a16:creationId xmlns:a16="http://schemas.microsoft.com/office/drawing/2014/main" id="{005E32AD-9519-FBD4-4464-F3CF462C7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7175" y="2728913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35" name="Straight Connector 107">
            <a:extLst>
              <a:ext uri="{FF2B5EF4-FFF2-40B4-BE49-F238E27FC236}">
                <a16:creationId xmlns:a16="http://schemas.microsoft.com/office/drawing/2014/main" id="{11C94931-38AA-C00D-7140-BC7D21403560}"/>
              </a:ext>
            </a:extLst>
          </p:cNvPr>
          <p:cNvCxnSpPr/>
          <p:nvPr/>
        </p:nvCxnSpPr>
        <p:spPr>
          <a:xfrm>
            <a:off x="3155950" y="2801937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47">
            <a:extLst>
              <a:ext uri="{FF2B5EF4-FFF2-40B4-BE49-F238E27FC236}">
                <a16:creationId xmlns:a16="http://schemas.microsoft.com/office/drawing/2014/main" id="{93B31771-1945-135D-9039-8E9460692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3017838"/>
            <a:ext cx="1030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ATG</a:t>
            </a:r>
          </a:p>
          <a:p>
            <a:pPr algn="ctr" eaLnBrk="1" hangingPunct="1"/>
            <a:r>
              <a:rPr lang="en-US" sz="1400"/>
              <a:t>Start codon</a:t>
            </a:r>
          </a:p>
        </p:txBody>
      </p:sp>
      <p:cxnSp>
        <p:nvCxnSpPr>
          <p:cNvPr id="37" name="Straight Connector 109">
            <a:extLst>
              <a:ext uri="{FF2B5EF4-FFF2-40B4-BE49-F238E27FC236}">
                <a16:creationId xmlns:a16="http://schemas.microsoft.com/office/drawing/2014/main" id="{92F0B1D1-DF24-52A5-28A9-F3525179630C}"/>
              </a:ext>
            </a:extLst>
          </p:cNvPr>
          <p:cNvCxnSpPr/>
          <p:nvPr/>
        </p:nvCxnSpPr>
        <p:spPr>
          <a:xfrm>
            <a:off x="10039350" y="2801937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49">
            <a:extLst>
              <a:ext uri="{FF2B5EF4-FFF2-40B4-BE49-F238E27FC236}">
                <a16:creationId xmlns:a16="http://schemas.microsoft.com/office/drawing/2014/main" id="{E991C62D-9845-BCEC-C69F-8C3EBB0B6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113" y="3089276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/>
            <a:r>
              <a:rPr lang="en-US" sz="1400"/>
              <a:t>TAG, TAA, TGA</a:t>
            </a:r>
          </a:p>
          <a:p>
            <a:pPr algn="ctr" eaLnBrk="1" hangingPunct="1"/>
            <a:r>
              <a:rPr lang="en-US" sz="1400"/>
              <a:t>Stop codon </a:t>
            </a:r>
          </a:p>
        </p:txBody>
      </p:sp>
      <p:cxnSp>
        <p:nvCxnSpPr>
          <p:cNvPr id="39" name="Straight Arrow Connector 111">
            <a:extLst>
              <a:ext uri="{FF2B5EF4-FFF2-40B4-BE49-F238E27FC236}">
                <a16:creationId xmlns:a16="http://schemas.microsoft.com/office/drawing/2014/main" id="{3B83FF32-62E3-B3BF-F6CF-D28B311B5350}"/>
              </a:ext>
            </a:extLst>
          </p:cNvPr>
          <p:cNvCxnSpPr/>
          <p:nvPr/>
        </p:nvCxnSpPr>
        <p:spPr>
          <a:xfrm>
            <a:off x="6600825" y="1597026"/>
            <a:ext cx="0" cy="7191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50">
            <a:extLst>
              <a:ext uri="{FF2B5EF4-FFF2-40B4-BE49-F238E27FC236}">
                <a16:creationId xmlns:a16="http://schemas.microsoft.com/office/drawing/2014/main" id="{455A4FF3-B433-B504-E04C-0782BBE5F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4" y="1741487"/>
            <a:ext cx="1285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Transcription</a:t>
            </a:r>
          </a:p>
        </p:txBody>
      </p:sp>
      <p:cxnSp>
        <p:nvCxnSpPr>
          <p:cNvPr id="41" name="Straight Arrow Connector 113">
            <a:extLst>
              <a:ext uri="{FF2B5EF4-FFF2-40B4-BE49-F238E27FC236}">
                <a16:creationId xmlns:a16="http://schemas.microsoft.com/office/drawing/2014/main" id="{69BB4FA3-CD21-4B18-E575-DAF588F64F11}"/>
              </a:ext>
            </a:extLst>
          </p:cNvPr>
          <p:cNvCxnSpPr/>
          <p:nvPr/>
        </p:nvCxnSpPr>
        <p:spPr>
          <a:xfrm>
            <a:off x="6600825" y="3252788"/>
            <a:ext cx="0" cy="720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55">
            <a:extLst>
              <a:ext uri="{FF2B5EF4-FFF2-40B4-BE49-F238E27FC236}">
                <a16:creationId xmlns:a16="http://schemas.microsoft.com/office/drawing/2014/main" id="{E48C3C9E-D7B6-1EC5-956B-BE786D55F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397251"/>
            <a:ext cx="8191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/>
              <a:t>Splicing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AC0FCB-FF1D-317B-392B-A8DB773A36D1}"/>
              </a:ext>
            </a:extLst>
          </p:cNvPr>
          <p:cNvSpPr/>
          <p:nvPr/>
        </p:nvSpPr>
        <p:spPr>
          <a:xfrm>
            <a:off x="3937001" y="4189412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44" name="TextBox 62">
            <a:extLst>
              <a:ext uri="{FF2B5EF4-FFF2-40B4-BE49-F238E27FC236}">
                <a16:creationId xmlns:a16="http://schemas.microsoft.com/office/drawing/2014/main" id="{9F8A48DC-966C-3FBF-02EF-A7B6A24D6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0" y="4116388"/>
            <a:ext cx="484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45" name="Straight Connector 117">
            <a:extLst>
              <a:ext uri="{FF2B5EF4-FFF2-40B4-BE49-F238E27FC236}">
                <a16:creationId xmlns:a16="http://schemas.microsoft.com/office/drawing/2014/main" id="{0818B8D5-875F-E0F6-DE99-7C1CE72CC2CF}"/>
              </a:ext>
            </a:extLst>
          </p:cNvPr>
          <p:cNvCxnSpPr/>
          <p:nvPr/>
        </p:nvCxnSpPr>
        <p:spPr>
          <a:xfrm>
            <a:off x="4740275" y="4189412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09724FF-0337-736A-5156-D8C691D17501}"/>
              </a:ext>
            </a:extLst>
          </p:cNvPr>
          <p:cNvSpPr/>
          <p:nvPr/>
        </p:nvSpPr>
        <p:spPr>
          <a:xfrm>
            <a:off x="5521325" y="418941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latin typeface="Calibri" charset="0"/>
              <a:ea typeface="MS PGothic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93D9ACD-72CE-F6F9-3621-AF2E77927414}"/>
              </a:ext>
            </a:extLst>
          </p:cNvPr>
          <p:cNvSpPr/>
          <p:nvPr/>
        </p:nvSpPr>
        <p:spPr>
          <a:xfrm>
            <a:off x="6600825" y="4189412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4981473-4B01-3421-39DE-79F9C92C4866}"/>
              </a:ext>
            </a:extLst>
          </p:cNvPr>
          <p:cNvSpPr/>
          <p:nvPr/>
        </p:nvSpPr>
        <p:spPr>
          <a:xfrm>
            <a:off x="7680326" y="4189412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EAD14724-6A28-98ED-1BE7-C53611D2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1414" y="4116388"/>
            <a:ext cx="484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UTR</a:t>
            </a:r>
          </a:p>
        </p:txBody>
      </p:sp>
      <p:cxnSp>
        <p:nvCxnSpPr>
          <p:cNvPr id="50" name="Straight Connector 122">
            <a:extLst>
              <a:ext uri="{FF2B5EF4-FFF2-40B4-BE49-F238E27FC236}">
                <a16:creationId xmlns:a16="http://schemas.microsoft.com/office/drawing/2014/main" id="{E6837666-00D6-D5AB-F219-DDD7B51E4D26}"/>
              </a:ext>
            </a:extLst>
          </p:cNvPr>
          <p:cNvCxnSpPr/>
          <p:nvPr/>
        </p:nvCxnSpPr>
        <p:spPr>
          <a:xfrm>
            <a:off x="8383588" y="4189412"/>
            <a:ext cx="0" cy="21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124">
            <a:extLst>
              <a:ext uri="{FF2B5EF4-FFF2-40B4-BE49-F238E27FC236}">
                <a16:creationId xmlns:a16="http://schemas.microsoft.com/office/drawing/2014/main" id="{52A37984-019E-5E08-B516-6AC70CE4CA22}"/>
              </a:ext>
            </a:extLst>
          </p:cNvPr>
          <p:cNvCxnSpPr/>
          <p:nvPr/>
        </p:nvCxnSpPr>
        <p:spPr>
          <a:xfrm>
            <a:off x="3937001" y="3036888"/>
            <a:ext cx="1584325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125">
            <a:extLst>
              <a:ext uri="{FF2B5EF4-FFF2-40B4-BE49-F238E27FC236}">
                <a16:creationId xmlns:a16="http://schemas.microsoft.com/office/drawing/2014/main" id="{C3AF3643-C085-76A2-FA2A-C176B0F22B6F}"/>
              </a:ext>
            </a:extLst>
          </p:cNvPr>
          <p:cNvCxnSpPr/>
          <p:nvPr/>
        </p:nvCxnSpPr>
        <p:spPr>
          <a:xfrm>
            <a:off x="5016501" y="3036888"/>
            <a:ext cx="504825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126">
            <a:extLst>
              <a:ext uri="{FF2B5EF4-FFF2-40B4-BE49-F238E27FC236}">
                <a16:creationId xmlns:a16="http://schemas.microsoft.com/office/drawing/2014/main" id="{5D127F28-EB7F-BD00-7376-11802B9F1E09}"/>
              </a:ext>
            </a:extLst>
          </p:cNvPr>
          <p:cNvCxnSpPr/>
          <p:nvPr/>
        </p:nvCxnSpPr>
        <p:spPr>
          <a:xfrm>
            <a:off x="6096001" y="3036888"/>
            <a:ext cx="504825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127">
            <a:extLst>
              <a:ext uri="{FF2B5EF4-FFF2-40B4-BE49-F238E27FC236}">
                <a16:creationId xmlns:a16="http://schemas.microsoft.com/office/drawing/2014/main" id="{2EC8B167-3C03-8992-1CE2-E8C53A8BD8DE}"/>
              </a:ext>
            </a:extLst>
          </p:cNvPr>
          <p:cNvCxnSpPr/>
          <p:nvPr/>
        </p:nvCxnSpPr>
        <p:spPr>
          <a:xfrm flipH="1">
            <a:off x="6600826" y="3036888"/>
            <a:ext cx="576263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128">
            <a:extLst>
              <a:ext uri="{FF2B5EF4-FFF2-40B4-BE49-F238E27FC236}">
                <a16:creationId xmlns:a16="http://schemas.microsoft.com/office/drawing/2014/main" id="{54232DBA-09CB-F3C5-10E1-0C8C1B482CE2}"/>
              </a:ext>
            </a:extLst>
          </p:cNvPr>
          <p:cNvCxnSpPr/>
          <p:nvPr/>
        </p:nvCxnSpPr>
        <p:spPr>
          <a:xfrm flipH="1">
            <a:off x="7680326" y="3036888"/>
            <a:ext cx="576263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129">
            <a:extLst>
              <a:ext uri="{FF2B5EF4-FFF2-40B4-BE49-F238E27FC236}">
                <a16:creationId xmlns:a16="http://schemas.microsoft.com/office/drawing/2014/main" id="{CB9D59C7-DDC0-F790-62A1-2CACA4C79516}"/>
              </a:ext>
            </a:extLst>
          </p:cNvPr>
          <p:cNvCxnSpPr/>
          <p:nvPr/>
        </p:nvCxnSpPr>
        <p:spPr>
          <a:xfrm flipH="1">
            <a:off x="7680325" y="3036888"/>
            <a:ext cx="1657350" cy="11525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TextBox 83">
            <a:extLst>
              <a:ext uri="{FF2B5EF4-FFF2-40B4-BE49-F238E27FC236}">
                <a16:creationId xmlns:a16="http://schemas.microsoft.com/office/drawing/2014/main" id="{E4FF50A2-8CBA-4745-3A94-0B4244954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8" y="4039394"/>
            <a:ext cx="979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dirty="0"/>
              <a:t>mRNA</a:t>
            </a:r>
          </a:p>
        </p:txBody>
      </p:sp>
      <p:sp>
        <p:nvSpPr>
          <p:cNvPr id="62" name="TextBox 86">
            <a:extLst>
              <a:ext uri="{FF2B5EF4-FFF2-40B4-BE49-F238E27FC236}">
                <a16:creationId xmlns:a16="http://schemas.microsoft.com/office/drawing/2014/main" id="{CA639BFD-8E0A-C40B-49E3-221D34851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6" y="1381126"/>
            <a:ext cx="390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GT</a:t>
            </a:r>
          </a:p>
        </p:txBody>
      </p:sp>
      <p:sp>
        <p:nvSpPr>
          <p:cNvPr id="63" name="TextBox 90">
            <a:extLst>
              <a:ext uri="{FF2B5EF4-FFF2-40B4-BE49-F238E27FC236}">
                <a16:creationId xmlns:a16="http://schemas.microsoft.com/office/drawing/2014/main" id="{EDDA17DA-2262-D2A0-2BAF-33684D8F2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564" y="1381126"/>
            <a:ext cx="390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GT</a:t>
            </a:r>
          </a:p>
        </p:txBody>
      </p:sp>
      <p:sp>
        <p:nvSpPr>
          <p:cNvPr id="64" name="TextBox 91">
            <a:extLst>
              <a:ext uri="{FF2B5EF4-FFF2-40B4-BE49-F238E27FC236}">
                <a16:creationId xmlns:a16="http://schemas.microsoft.com/office/drawing/2014/main" id="{4902C8B4-2C66-8A97-F856-42BB34F13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5150" y="1381126"/>
            <a:ext cx="388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GT</a:t>
            </a:r>
          </a:p>
        </p:txBody>
      </p:sp>
      <p:cxnSp>
        <p:nvCxnSpPr>
          <p:cNvPr id="65" name="Straight Connector 137">
            <a:extLst>
              <a:ext uri="{FF2B5EF4-FFF2-40B4-BE49-F238E27FC236}">
                <a16:creationId xmlns:a16="http://schemas.microsoft.com/office/drawing/2014/main" id="{B88AEAE7-81C1-B610-3A77-BD34D1994351}"/>
              </a:ext>
            </a:extLst>
          </p:cNvPr>
          <p:cNvCxnSpPr/>
          <p:nvPr/>
        </p:nvCxnSpPr>
        <p:spPr>
          <a:xfrm>
            <a:off x="4079876" y="3089276"/>
            <a:ext cx="64770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138">
            <a:extLst>
              <a:ext uri="{FF2B5EF4-FFF2-40B4-BE49-F238E27FC236}">
                <a16:creationId xmlns:a16="http://schemas.microsoft.com/office/drawing/2014/main" id="{9B029EE3-C48C-ACCC-DDB8-AAF83A17AE8B}"/>
              </a:ext>
            </a:extLst>
          </p:cNvPr>
          <p:cNvCxnSpPr>
            <a:cxnSpLocks/>
          </p:cNvCxnSpPr>
          <p:nvPr/>
        </p:nvCxnSpPr>
        <p:spPr>
          <a:xfrm>
            <a:off x="4079876" y="5423521"/>
            <a:ext cx="64770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12293">
            <a:extLst>
              <a:ext uri="{FF2B5EF4-FFF2-40B4-BE49-F238E27FC236}">
                <a16:creationId xmlns:a16="http://schemas.microsoft.com/office/drawing/2014/main" id="{19E248D3-D555-4DBA-DA24-42CC56358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8976" y="2749551"/>
            <a:ext cx="39211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AA</a:t>
            </a:r>
          </a:p>
        </p:txBody>
      </p:sp>
      <p:sp>
        <p:nvSpPr>
          <p:cNvPr id="69" name="TextBox 102">
            <a:extLst>
              <a:ext uri="{FF2B5EF4-FFF2-40B4-BE49-F238E27FC236}">
                <a16:creationId xmlns:a16="http://schemas.microsoft.com/office/drawing/2014/main" id="{6575E39F-49B7-B16A-F81B-45F037D72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6925" y="2965450"/>
            <a:ext cx="2159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AAAAA</a:t>
            </a:r>
          </a:p>
        </p:txBody>
      </p:sp>
      <p:sp>
        <p:nvSpPr>
          <p:cNvPr id="70" name="TextBox 104">
            <a:extLst>
              <a:ext uri="{FF2B5EF4-FFF2-40B4-BE49-F238E27FC236}">
                <a16:creationId xmlns:a16="http://schemas.microsoft.com/office/drawing/2014/main" id="{12661BA1-A57F-7F36-3CBE-960A64A3D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214" y="4116388"/>
            <a:ext cx="1120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 dirty="0"/>
              <a:t>AAAAAAAAA</a:t>
            </a:r>
          </a:p>
        </p:txBody>
      </p:sp>
      <p:sp>
        <p:nvSpPr>
          <p:cNvPr id="71" name="TextBox 106">
            <a:extLst>
              <a:ext uri="{FF2B5EF4-FFF2-40B4-BE49-F238E27FC236}">
                <a16:creationId xmlns:a16="http://schemas.microsoft.com/office/drawing/2014/main" id="{D0B725CD-7888-F0A5-4AFA-8CFC9251F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164" y="1381126"/>
            <a:ext cx="401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AG</a:t>
            </a:r>
          </a:p>
        </p:txBody>
      </p:sp>
      <p:sp>
        <p:nvSpPr>
          <p:cNvPr id="72" name="TextBox 107">
            <a:extLst>
              <a:ext uri="{FF2B5EF4-FFF2-40B4-BE49-F238E27FC236}">
                <a16:creationId xmlns:a16="http://schemas.microsoft.com/office/drawing/2014/main" id="{FFA31B41-5E68-CCFF-1B7D-91452A8C1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4" y="1360488"/>
            <a:ext cx="403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AG</a:t>
            </a:r>
          </a:p>
        </p:txBody>
      </p:sp>
      <p:sp>
        <p:nvSpPr>
          <p:cNvPr id="73" name="TextBox 108">
            <a:extLst>
              <a:ext uri="{FF2B5EF4-FFF2-40B4-BE49-F238E27FC236}">
                <a16:creationId xmlns:a16="http://schemas.microsoft.com/office/drawing/2014/main" id="{CBB47F2B-A2E8-0583-71C2-573B0D8D7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0" y="1381126"/>
            <a:ext cx="401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400"/>
              <a:t>AG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F3A222CE-AACC-3FDD-B62E-CB46A03EE275}"/>
              </a:ext>
            </a:extLst>
          </p:cNvPr>
          <p:cNvCxnSpPr/>
          <p:nvPr/>
        </p:nvCxnSpPr>
        <p:spPr>
          <a:xfrm>
            <a:off x="1165477" y="5076041"/>
            <a:ext cx="95534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ZoneTexte 76">
            <a:extLst>
              <a:ext uri="{FF2B5EF4-FFF2-40B4-BE49-F238E27FC236}">
                <a16:creationId xmlns:a16="http://schemas.microsoft.com/office/drawing/2014/main" id="{564DDEA9-7C31-204A-2857-5861B56839F4}"/>
              </a:ext>
            </a:extLst>
          </p:cNvPr>
          <p:cNvSpPr txBox="1"/>
          <p:nvPr/>
        </p:nvSpPr>
        <p:spPr>
          <a:xfrm>
            <a:off x="70936" y="5364649"/>
            <a:ext cx="1998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Annotation (DNA)</a:t>
            </a:r>
            <a:endParaRPr lang="en-GB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4B87223-9061-615B-5A6A-FF51A2783509}"/>
              </a:ext>
            </a:extLst>
          </p:cNvPr>
          <p:cNvSpPr/>
          <p:nvPr/>
        </p:nvSpPr>
        <p:spPr>
          <a:xfrm>
            <a:off x="2395746" y="5470657"/>
            <a:ext cx="3700254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EFF1026-FFFB-6D81-076E-4013EC57B646}"/>
              </a:ext>
            </a:extLst>
          </p:cNvPr>
          <p:cNvSpPr/>
          <p:nvPr/>
        </p:nvSpPr>
        <p:spPr>
          <a:xfrm>
            <a:off x="7220159" y="5470656"/>
            <a:ext cx="1079500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46ADCB3-87F0-CC61-EED1-5E6970428E96}"/>
              </a:ext>
            </a:extLst>
          </p:cNvPr>
          <p:cNvSpPr/>
          <p:nvPr/>
        </p:nvSpPr>
        <p:spPr>
          <a:xfrm>
            <a:off x="9380747" y="5470656"/>
            <a:ext cx="1584325" cy="2159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8F152621-43CE-206B-F3C5-F96B13EB9291}"/>
              </a:ext>
            </a:extLst>
          </p:cNvPr>
          <p:cNvSpPr/>
          <p:nvPr/>
        </p:nvSpPr>
        <p:spPr>
          <a:xfrm rot="756904">
            <a:off x="6358731" y="4661392"/>
            <a:ext cx="1150936" cy="1165154"/>
          </a:xfrm>
          <a:prstGeom prst="arc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AD417E2D-3A87-2290-A368-BE7A43CD8855}"/>
              </a:ext>
            </a:extLst>
          </p:cNvPr>
          <p:cNvSpPr txBox="1"/>
          <p:nvPr/>
        </p:nvSpPr>
        <p:spPr>
          <a:xfrm>
            <a:off x="7681117" y="4692668"/>
            <a:ext cx="2829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Mapping / Alignment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6B0C0C7-9C6C-8AD6-3E97-A45DA0DE3012}"/>
              </a:ext>
            </a:extLst>
          </p:cNvPr>
          <p:cNvSpPr txBox="1">
            <a:spLocks/>
          </p:cNvSpPr>
          <p:nvPr/>
        </p:nvSpPr>
        <p:spPr bwMode="auto">
          <a:xfrm>
            <a:off x="7938" y="490275"/>
            <a:ext cx="2181226" cy="46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rgbClr val="13652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charset="0"/>
                <a:ea typeface="MS PGothic" charset="0"/>
              </a:rPr>
              <a:t>pre-mRNA noise</a:t>
            </a:r>
            <a:endParaRPr lang="en-US" sz="1800" dirty="0">
              <a:ln w="0"/>
              <a:solidFill>
                <a:schemeClr val="accent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63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0" grpId="0" animBg="1"/>
      <p:bldP spid="81" grpId="0" animBg="1"/>
      <p:bldP spid="87" grpId="0" animBg="1"/>
      <p:bldP spid="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4F68AD1-9580-0128-57E8-F97AF3DF5C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Similarity-based method: Transcript data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73A47DE-CE59-9D76-7BE1-5DB2CD984A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5" descr="Screen Shot 2018-02-28 at 18.19.30.png">
            <a:extLst>
              <a:ext uri="{FF2B5EF4-FFF2-40B4-BE49-F238E27FC236}">
                <a16:creationId xmlns:a16="http://schemas.microsoft.com/office/drawing/2014/main" id="{C879B382-00E7-8771-6096-995A9E3C8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489" y="1053613"/>
            <a:ext cx="5039951" cy="475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10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C375D02-E5FA-336C-906C-42F56A743C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859A1265-2E2B-713C-F9BC-F883F86D02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Comparative-based method (projection tools)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E174E4B-24DB-0D12-0D89-3202D38E02CF}"/>
              </a:ext>
            </a:extLst>
          </p:cNvPr>
          <p:cNvSpPr txBox="1"/>
          <p:nvPr/>
        </p:nvSpPr>
        <p:spPr>
          <a:xfrm>
            <a:off x="2500035" y="813832"/>
            <a:ext cx="8964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Tools that use </a:t>
            </a:r>
            <a:r>
              <a:rPr lang="en-GB" b="1" dirty="0"/>
              <a:t>whole-genome alignments </a:t>
            </a:r>
            <a:r>
              <a:rPr lang="en-GB" dirty="0"/>
              <a:t>between closely related species.</a:t>
            </a:r>
          </a:p>
          <a:p>
            <a:r>
              <a:rPr lang="en-GB" dirty="0"/>
              <a:t>Transfer gene models based on conserved synteny, gene structure, and alignment blocks.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5CD95DF-A829-5ADE-B61F-D06968AA1F83}"/>
              </a:ext>
            </a:extLst>
          </p:cNvPr>
          <p:cNvSpPr txBox="1"/>
          <p:nvPr/>
        </p:nvSpPr>
        <p:spPr>
          <a:xfrm>
            <a:off x="5155409" y="4901574"/>
            <a:ext cx="31732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Popular</a:t>
            </a:r>
            <a:r>
              <a:rPr lang="fr-FR" b="1" dirty="0"/>
              <a:t> </a:t>
            </a:r>
            <a:r>
              <a:rPr lang="fr-FR" b="1" dirty="0" err="1"/>
              <a:t>tools</a:t>
            </a:r>
            <a:endParaRPr lang="fr-FR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 Kraken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 </a:t>
            </a:r>
            <a:r>
              <a:rPr lang="fr-FR" b="1" dirty="0" err="1"/>
              <a:t>TransMap</a:t>
            </a:r>
            <a:r>
              <a:rPr lang="fr-FR" b="1" dirty="0"/>
              <a:t> (UCSC)</a:t>
            </a:r>
            <a:endParaRPr lang="fr-FR" dirty="0"/>
          </a:p>
        </p:txBody>
      </p:sp>
      <p:pic>
        <p:nvPicPr>
          <p:cNvPr id="17" name="Picture 3" descr="wga.jpg">
            <a:extLst>
              <a:ext uri="{FF2B5EF4-FFF2-40B4-BE49-F238E27FC236}">
                <a16:creationId xmlns:a16="http://schemas.microsoft.com/office/drawing/2014/main" id="{73E56C1F-3287-2DE9-557E-D30B54F207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9" t="6297" r="37421" b="17395"/>
          <a:stretch/>
        </p:blipFill>
        <p:spPr>
          <a:xfrm>
            <a:off x="732494" y="1735908"/>
            <a:ext cx="1096067" cy="278004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68E8F44-9A97-746E-7075-135432E2E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064" y="1949887"/>
            <a:ext cx="6867862" cy="2757357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A81C650F-4F5D-606E-25BB-C12E704BD262}"/>
              </a:ext>
            </a:extLst>
          </p:cNvPr>
          <p:cNvSpPr txBox="1"/>
          <p:nvPr/>
        </p:nvSpPr>
        <p:spPr>
          <a:xfrm>
            <a:off x="732494" y="4769166"/>
            <a:ext cx="11207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LASTZ</a:t>
            </a:r>
          </a:p>
          <a:p>
            <a:r>
              <a:rPr lang="fr-FR" sz="1400" dirty="0" err="1">
                <a:solidFill>
                  <a:srgbClr val="1B1B1B"/>
                </a:solidFill>
                <a:latin typeface="Cambria" panose="02040503050406030204" pitchFamily="18" charset="0"/>
              </a:rPr>
              <a:t>Mummer</a:t>
            </a:r>
            <a:endParaRPr lang="fr-FR" sz="1400" dirty="0">
              <a:solidFill>
                <a:srgbClr val="1B1B1B"/>
              </a:solidFill>
              <a:latin typeface="Cambria" panose="02040503050406030204" pitchFamily="18" charset="0"/>
            </a:endParaRPr>
          </a:p>
          <a:p>
            <a:r>
              <a:rPr lang="fr-FR" sz="1400" dirty="0" err="1">
                <a:solidFill>
                  <a:srgbClr val="1B1B1B"/>
                </a:solidFill>
                <a:latin typeface="Cambria" panose="02040503050406030204" pitchFamily="18" charset="0"/>
              </a:rPr>
              <a:t>Satsuma</a:t>
            </a:r>
            <a:endParaRPr lang="fr-FR" sz="1400" dirty="0">
              <a:solidFill>
                <a:srgbClr val="1B1B1B"/>
              </a:solidFill>
              <a:latin typeface="Cambria" panose="02040503050406030204" pitchFamily="18" charset="0"/>
            </a:endParaRPr>
          </a:p>
          <a:p>
            <a:r>
              <a:rPr lang="fr-FR" sz="1400" dirty="0" err="1">
                <a:solidFill>
                  <a:srgbClr val="1B1B1B"/>
                </a:solidFill>
                <a:latin typeface="Cambria" panose="02040503050406030204" pitchFamily="18" charset="0"/>
              </a:rPr>
              <a:t>SynMap</a:t>
            </a:r>
            <a:endParaRPr lang="fr-FR" sz="1400" dirty="0">
              <a:solidFill>
                <a:srgbClr val="1B1B1B"/>
              </a:solidFill>
              <a:latin typeface="Cambria" panose="02040503050406030204" pitchFamily="18" charset="0"/>
            </a:endParaRPr>
          </a:p>
          <a:p>
            <a:r>
              <a:rPr lang="fr-FR" sz="1400" dirty="0">
                <a:solidFill>
                  <a:srgbClr val="1B1B1B"/>
                </a:solidFill>
                <a:latin typeface="Cambria" panose="02040503050406030204" pitchFamily="18" charset="0"/>
              </a:rPr>
              <a:t>Pecan</a:t>
            </a:r>
          </a:p>
          <a:p>
            <a:r>
              <a:rPr lang="fr-FR" sz="1400" dirty="0">
                <a:solidFill>
                  <a:srgbClr val="1B1B1B"/>
                </a:solidFill>
                <a:latin typeface="Cambria" panose="02040503050406030204" pitchFamily="18" charset="0"/>
              </a:rPr>
              <a:t>HAL</a:t>
            </a:r>
            <a:endParaRPr lang="en-GB" sz="1400" dirty="0"/>
          </a:p>
        </p:txBody>
      </p:sp>
      <p:sp>
        <p:nvSpPr>
          <p:cNvPr id="21" name="Accolade fermante 20">
            <a:extLst>
              <a:ext uri="{FF2B5EF4-FFF2-40B4-BE49-F238E27FC236}">
                <a16:creationId xmlns:a16="http://schemas.microsoft.com/office/drawing/2014/main" id="{8E11DC88-D0AC-9500-443E-F35A81616A4A}"/>
              </a:ext>
            </a:extLst>
          </p:cNvPr>
          <p:cNvSpPr/>
          <p:nvPr/>
        </p:nvSpPr>
        <p:spPr>
          <a:xfrm>
            <a:off x="1620620" y="4769166"/>
            <a:ext cx="140621" cy="8886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ccolade fermante 21">
            <a:extLst>
              <a:ext uri="{FF2B5EF4-FFF2-40B4-BE49-F238E27FC236}">
                <a16:creationId xmlns:a16="http://schemas.microsoft.com/office/drawing/2014/main" id="{9A6E76E9-09E1-75EC-4719-3510545D507F}"/>
              </a:ext>
            </a:extLst>
          </p:cNvPr>
          <p:cNvSpPr/>
          <p:nvPr/>
        </p:nvSpPr>
        <p:spPr>
          <a:xfrm>
            <a:off x="1620619" y="5730825"/>
            <a:ext cx="140621" cy="3133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CC5E80B-595C-FAB7-1559-15398B6D9A90}"/>
              </a:ext>
            </a:extLst>
          </p:cNvPr>
          <p:cNvSpPr txBox="1"/>
          <p:nvPr/>
        </p:nvSpPr>
        <p:spPr>
          <a:xfrm>
            <a:off x="1853234" y="5055462"/>
            <a:ext cx="2181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 err="1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chained</a:t>
            </a:r>
            <a:r>
              <a:rPr lang="fr-FR" sz="1400" b="0" i="0" u="none" strike="noStrike" dirty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 </a:t>
            </a:r>
            <a:r>
              <a:rPr lang="fr-FR" sz="1400" b="0" i="0" u="none" strike="noStrike" dirty="0" err="1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alignments</a:t>
            </a:r>
            <a:endParaRPr lang="en-GB" sz="14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0726D16-BB5C-F09B-57CC-1952DE8BE037}"/>
              </a:ext>
            </a:extLst>
          </p:cNvPr>
          <p:cNvSpPr txBox="1"/>
          <p:nvPr/>
        </p:nvSpPr>
        <p:spPr>
          <a:xfrm>
            <a:off x="1853233" y="5712245"/>
            <a:ext cx="2181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graph </a:t>
            </a:r>
            <a:r>
              <a:rPr lang="fr-FR" sz="1400" b="0" i="0" u="none" strike="noStrike" dirty="0" err="1">
                <a:solidFill>
                  <a:srgbClr val="1B1B1B"/>
                </a:solidFill>
                <a:effectLst/>
                <a:latin typeface="Cambria" panose="02040503050406030204" pitchFamily="18" charset="0"/>
              </a:rPr>
              <a:t>alignments</a:t>
            </a:r>
            <a:endParaRPr lang="en-GB" sz="1400" dirty="0"/>
          </a:p>
        </p:txBody>
      </p:sp>
      <p:sp>
        <p:nvSpPr>
          <p:cNvPr id="26" name="Flèche vers la droite 25">
            <a:extLst>
              <a:ext uri="{FF2B5EF4-FFF2-40B4-BE49-F238E27FC236}">
                <a16:creationId xmlns:a16="http://schemas.microsoft.com/office/drawing/2014/main" id="{7E77714B-2E94-2481-FB4F-D32A0530D315}"/>
              </a:ext>
            </a:extLst>
          </p:cNvPr>
          <p:cNvSpPr/>
          <p:nvPr/>
        </p:nvSpPr>
        <p:spPr>
          <a:xfrm>
            <a:off x="3327659" y="2814752"/>
            <a:ext cx="707011" cy="886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992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C375D02-E5FA-336C-906C-42F56A743C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859A1265-2E2B-713C-F9BC-F883F86D02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Comparative-based method (projection tools)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E174E4B-24DB-0D12-0D89-3202D38E02CF}"/>
              </a:ext>
            </a:extLst>
          </p:cNvPr>
          <p:cNvSpPr txBox="1"/>
          <p:nvPr/>
        </p:nvSpPr>
        <p:spPr>
          <a:xfrm>
            <a:off x="2500035" y="813832"/>
            <a:ext cx="8964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Tools that use </a:t>
            </a:r>
            <a:r>
              <a:rPr lang="en-GB" b="1" dirty="0"/>
              <a:t>local alignments</a:t>
            </a:r>
            <a:r>
              <a:rPr lang="en-GB" dirty="0"/>
              <a:t> between species.</a:t>
            </a:r>
          </a:p>
          <a:p>
            <a:r>
              <a:rPr lang="en-GB" dirty="0"/>
              <a:t>Transfer gene models based on gene alignment.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68E8F44-9A97-746E-7075-135432E2E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966" y="1955188"/>
            <a:ext cx="4102721" cy="164718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CABEE07-8505-C27A-56D0-987B4A90F50A}"/>
              </a:ext>
            </a:extLst>
          </p:cNvPr>
          <p:cNvSpPr txBox="1"/>
          <p:nvPr/>
        </p:nvSpPr>
        <p:spPr>
          <a:xfrm>
            <a:off x="2634673" y="2931116"/>
            <a:ext cx="2244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F7694D-A0F6-710F-D874-9F5ED11D29B6}"/>
              </a:ext>
            </a:extLst>
          </p:cNvPr>
          <p:cNvSpPr txBox="1"/>
          <p:nvPr/>
        </p:nvSpPr>
        <p:spPr>
          <a:xfrm>
            <a:off x="5263679" y="3392781"/>
            <a:ext cx="1150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>
                <a:solidFill>
                  <a:schemeClr val="accent1"/>
                </a:solidFill>
              </a:rPr>
              <a:t>LiftOn</a:t>
            </a:r>
            <a:r>
              <a:rPr lang="en-GB" sz="20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91305E-A279-F8CA-DDD9-682F1DFDBA97}"/>
              </a:ext>
            </a:extLst>
          </p:cNvPr>
          <p:cNvSpPr txBox="1"/>
          <p:nvPr/>
        </p:nvSpPr>
        <p:spPr>
          <a:xfrm>
            <a:off x="5441195" y="5550757"/>
            <a:ext cx="1084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1D4872"/>
                </a:solidFill>
              </a:rPr>
              <a:t>Miniprot</a:t>
            </a:r>
            <a:endParaRPr lang="en-GB" sz="1600" dirty="0">
              <a:solidFill>
                <a:srgbClr val="1D4872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F0D0BB9-F842-E2CE-50CA-CB6B6B6BB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679" y="4525544"/>
            <a:ext cx="1439849" cy="53951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6AA5675-80FE-D7D0-E0E4-FF0CB173A70A}"/>
              </a:ext>
            </a:extLst>
          </p:cNvPr>
          <p:cNvSpPr txBox="1"/>
          <p:nvPr/>
        </p:nvSpPr>
        <p:spPr>
          <a:xfrm>
            <a:off x="1297311" y="3454894"/>
            <a:ext cx="1150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>
                <a:solidFill>
                  <a:schemeClr val="accent1"/>
                </a:solidFill>
              </a:rPr>
              <a:t>LiftOff</a:t>
            </a:r>
            <a:endParaRPr lang="en-GB" sz="2000" dirty="0">
              <a:solidFill>
                <a:schemeClr val="accent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1BA8D88-07C5-57C3-57A4-D3C5B26EE93A}"/>
              </a:ext>
            </a:extLst>
          </p:cNvPr>
          <p:cNvSpPr txBox="1"/>
          <p:nvPr/>
        </p:nvSpPr>
        <p:spPr>
          <a:xfrm>
            <a:off x="1484603" y="5676458"/>
            <a:ext cx="1084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1D4872"/>
                </a:solidFill>
              </a:rPr>
              <a:t>minimap2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632635A-FCA6-48A5-0D29-43C29F604DD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DFEFF"/>
              </a:clrFrom>
              <a:clrTo>
                <a:srgbClr val="FDFEFF">
                  <a:alpha val="0"/>
                </a:srgbClr>
              </a:clrTo>
            </a:clrChange>
          </a:blip>
          <a:srcRect l="26155" t="22668" r="28538" b="22749"/>
          <a:stretch/>
        </p:blipFill>
        <p:spPr>
          <a:xfrm>
            <a:off x="1297311" y="4534619"/>
            <a:ext cx="1272108" cy="118541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33A5336-103B-FAF5-4590-07F544DDF708}"/>
              </a:ext>
            </a:extLst>
          </p:cNvPr>
          <p:cNvSpPr txBox="1"/>
          <p:nvPr/>
        </p:nvSpPr>
        <p:spPr>
          <a:xfrm>
            <a:off x="234937" y="4027854"/>
            <a:ext cx="3396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transfer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annotation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between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closely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related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species</a:t>
            </a:r>
            <a:endParaRPr lang="en-GB" sz="1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C3D31FE-F2A7-7C56-28E2-58A414A94272}"/>
              </a:ext>
            </a:extLst>
          </p:cNvPr>
          <p:cNvSpPr txBox="1"/>
          <p:nvPr/>
        </p:nvSpPr>
        <p:spPr>
          <a:xfrm>
            <a:off x="4582819" y="4002324"/>
            <a:ext cx="3396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transfer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annotation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between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close and distant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related</a:t>
            </a:r>
            <a:r>
              <a:rPr lang="fr-FR" sz="1400" b="0" i="0" u="none" strike="noStrike" dirty="0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 </a:t>
            </a:r>
            <a:r>
              <a:rPr lang="fr-FR" sz="1400" b="0" i="0" u="none" strike="noStrike" dirty="0" err="1">
                <a:solidFill>
                  <a:srgbClr val="403838"/>
                </a:solidFill>
                <a:effectLst/>
                <a:latin typeface="Lucida Sans Unicode" panose="020B0602030504020204" pitchFamily="34" charset="0"/>
              </a:rPr>
              <a:t>species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394405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886056-5E92-FCBF-622B-7AE2D28A105F}"/>
              </a:ext>
            </a:extLst>
          </p:cNvPr>
          <p:cNvSpPr txBox="1"/>
          <p:nvPr/>
        </p:nvSpPr>
        <p:spPr>
          <a:xfrm>
            <a:off x="3044858" y="3241977"/>
            <a:ext cx="6108568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Exercise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502176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1045029" y="1628737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Intrinsic approaches</a:t>
            </a:r>
          </a:p>
          <a:p>
            <a:pPr algn="ctr"/>
            <a:r>
              <a:rPr lang="en-US" sz="3600" i="1" dirty="0">
                <a:solidFill>
                  <a:srgbClr val="000000"/>
                </a:solidFill>
              </a:rPr>
              <a:t>ab initio</a:t>
            </a:r>
            <a:endParaRPr lang="en-US" sz="3600" b="1" i="1" dirty="0">
              <a:solidFill>
                <a:srgbClr val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CBB060-C85E-CB49-1F3E-4E20665FB43D}"/>
              </a:ext>
            </a:extLst>
          </p:cNvPr>
          <p:cNvSpPr/>
          <p:nvPr/>
        </p:nvSpPr>
        <p:spPr>
          <a:xfrm>
            <a:off x="1423448" y="4752222"/>
            <a:ext cx="95399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Using Machine Learning approaches (probabilistic and/or deterministic models) to predict features</a:t>
            </a:r>
          </a:p>
        </p:txBody>
      </p:sp>
    </p:spTree>
    <p:extLst>
      <p:ext uri="{BB962C8B-B14F-4D97-AF65-F5344CB8AC3E}">
        <p14:creationId xmlns:p14="http://schemas.microsoft.com/office/powerpoint/2010/main" val="3867319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7E2067A-8411-DB60-A8B2-7D7F617D01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Intrinsic / </a:t>
            </a:r>
            <a:r>
              <a:rPr lang="en-GB" i="1" dirty="0"/>
              <a:t>ab initio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8E97264-6056-142C-2887-8416A66649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FD1644-8390-6352-191F-C99730FD3042}"/>
              </a:ext>
            </a:extLst>
          </p:cNvPr>
          <p:cNvSpPr txBox="1">
            <a:spLocks/>
          </p:cNvSpPr>
          <p:nvPr/>
        </p:nvSpPr>
        <p:spPr>
          <a:xfrm>
            <a:off x="1981200" y="874336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Bacterial gene prediction</a:t>
            </a:r>
            <a:endParaRPr lang="en-US" b="1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</a:rPr>
              <a:t>	- Short intergenic regions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</a:rPr>
              <a:t>	- Uninterrupted ORFs (No intron)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</a:rPr>
              <a:t>	- Very conserved signals</a:t>
            </a:r>
            <a:endParaRPr lang="en-US" sz="18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lvl="1">
              <a:buFont typeface="Symbol" charset="0"/>
              <a:buChar char=""/>
            </a:pPr>
            <a:r>
              <a:rPr lang="en-US" dirty="0"/>
              <a:t> easy problem: Accuracy &gt; 90%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5" name="Picture 4" descr="Screenshot 2019-06-28 at 13.10.39.png">
            <a:extLst>
              <a:ext uri="{FF2B5EF4-FFF2-40B4-BE49-F238E27FC236}">
                <a16:creationId xmlns:a16="http://schemas.microsoft.com/office/drawing/2014/main" id="{6B309854-F609-5E00-E73C-D4AF67318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844601"/>
            <a:ext cx="9144000" cy="170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05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2C7A58A-4FC6-E5DF-1C55-670F03DCB3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Intrinsic / </a:t>
            </a:r>
            <a:r>
              <a:rPr lang="en-GB" i="1" dirty="0"/>
              <a:t>ab initio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11C8DD-DA2B-0515-9F33-E3F35C6170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1620A1-E077-D0D6-0DF6-4BBEDD159FE9}"/>
              </a:ext>
            </a:extLst>
          </p:cNvPr>
          <p:cNvSpPr txBox="1">
            <a:spLocks/>
          </p:cNvSpPr>
          <p:nvPr/>
        </p:nvSpPr>
        <p:spPr>
          <a:xfrm>
            <a:off x="1754957" y="553824"/>
            <a:ext cx="10217084" cy="5076062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b="1">
                <a:effectLst/>
              </a:defRPr>
            </a:lvl1pPr>
            <a:lvl2pPr lvl="1"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cap="none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cap="none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9pPr>
          </a:lstStyle>
          <a:p>
            <a:r>
              <a:rPr lang="en-US" dirty="0"/>
              <a:t>Eukaryotic gene prediction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dirty="0"/>
              <a:t>	- Presence of intron =&gt; structures differ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dirty="0"/>
              <a:t>	- Isoforms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dirty="0"/>
              <a:t>	- New features (e.g. </a:t>
            </a:r>
            <a:r>
              <a:rPr lang="en-US" b="0" dirty="0" err="1"/>
              <a:t>lncRNAs</a:t>
            </a:r>
            <a:r>
              <a:rPr lang="en-US" b="0" dirty="0"/>
              <a:t>)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657600" lvl="8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=&gt; </a:t>
            </a:r>
            <a:r>
              <a:rPr lang="en-US" sz="1800" dirty="0"/>
              <a:t>Hard problem: Accuracy &lt; 70%</a:t>
            </a:r>
          </a:p>
          <a:p>
            <a:pPr marL="3657600" lvl="8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=&gt;</a:t>
            </a:r>
            <a:r>
              <a:rPr lang="en-US" sz="1800" dirty="0"/>
              <a:t> Requires training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6" descr="Screenshot 2019-06-28 at 13.14.59.png">
            <a:extLst>
              <a:ext uri="{FF2B5EF4-FFF2-40B4-BE49-F238E27FC236}">
                <a16:creationId xmlns:a16="http://schemas.microsoft.com/office/drawing/2014/main" id="{33231C89-6B19-5234-D2C4-9113B391240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422" y="2259907"/>
            <a:ext cx="5439402" cy="275740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421872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5EB805E-678C-9C93-DB06-775065FA29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Probabilistic methods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6C4159-E03C-5267-BACE-8B701D16F7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2ACC993-AC62-CCCA-4403-3E6AF1A3EA9F}"/>
              </a:ext>
            </a:extLst>
          </p:cNvPr>
          <p:cNvSpPr txBox="1">
            <a:spLocks/>
          </p:cNvSpPr>
          <p:nvPr/>
        </p:nvSpPr>
        <p:spPr>
          <a:xfrm>
            <a:off x="1899501" y="1203770"/>
            <a:ext cx="2728243" cy="46166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 content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4BEFB0D-DED9-D3C6-8C91-57E1A00E7A92}"/>
              </a:ext>
            </a:extLst>
          </p:cNvPr>
          <p:cNvSpPr txBox="1">
            <a:spLocks/>
          </p:cNvSpPr>
          <p:nvPr/>
        </p:nvSpPr>
        <p:spPr>
          <a:xfrm>
            <a:off x="1899501" y="2068516"/>
            <a:ext cx="4040188" cy="32563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/>
              <a:buChar char="•"/>
            </a:pPr>
            <a:r>
              <a:rPr lang="en-US" dirty="0"/>
              <a:t>codon usage</a:t>
            </a:r>
          </a:p>
          <a:p>
            <a:pPr lvl="1">
              <a:buFont typeface="Arial"/>
              <a:buChar char="•"/>
            </a:pPr>
            <a:r>
              <a:rPr lang="en-US" dirty="0"/>
              <a:t>hexamer usage</a:t>
            </a:r>
          </a:p>
          <a:p>
            <a:pPr lvl="1">
              <a:buFont typeface="Arial"/>
              <a:buChar char="•"/>
            </a:pPr>
            <a:r>
              <a:rPr lang="en-US" dirty="0"/>
              <a:t>GC content</a:t>
            </a:r>
          </a:p>
          <a:p>
            <a:pPr lvl="1">
              <a:buFont typeface="Arial"/>
              <a:buChar char="•"/>
            </a:pPr>
            <a:r>
              <a:rPr lang="en-US" dirty="0"/>
              <a:t>compositional bias between codon positions</a:t>
            </a:r>
          </a:p>
          <a:p>
            <a:pPr lvl="1">
              <a:buFont typeface="Arial"/>
              <a:buChar char="•"/>
            </a:pPr>
            <a:r>
              <a:rPr lang="en-US" dirty="0"/>
              <a:t>nucleotide periodicity</a:t>
            </a:r>
          </a:p>
          <a:p>
            <a:pPr lvl="1">
              <a:buFont typeface="Arial"/>
              <a:buChar char="•"/>
            </a:pPr>
            <a:r>
              <a:rPr lang="en-US" dirty="0"/>
              <a:t>exon/intron size</a:t>
            </a:r>
          </a:p>
          <a:p>
            <a:pPr lvl="1">
              <a:buFont typeface="Arial"/>
              <a:buChar char="•"/>
            </a:pPr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87897B8-2FA3-839E-846E-ED113C13549A}"/>
              </a:ext>
            </a:extLst>
          </p:cNvPr>
          <p:cNvSpPr txBox="1">
            <a:spLocks/>
          </p:cNvSpPr>
          <p:nvPr/>
        </p:nvSpPr>
        <p:spPr>
          <a:xfrm>
            <a:off x="6087326" y="1203770"/>
            <a:ext cx="4041775" cy="639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signal detection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65BFD53-A022-46B0-A311-23220E227C11}"/>
              </a:ext>
            </a:extLst>
          </p:cNvPr>
          <p:cNvSpPr txBox="1">
            <a:spLocks/>
          </p:cNvSpPr>
          <p:nvPr/>
        </p:nvSpPr>
        <p:spPr>
          <a:xfrm>
            <a:off x="6087326" y="2035091"/>
            <a:ext cx="4041775" cy="325637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/>
              <a:buChar char="•"/>
            </a:pPr>
            <a:r>
              <a:rPr lang="en-US" dirty="0"/>
              <a:t>Promoter</a:t>
            </a:r>
          </a:p>
          <a:p>
            <a:pPr lvl="1">
              <a:buFont typeface="Arial"/>
              <a:buChar char="•"/>
            </a:pPr>
            <a:r>
              <a:rPr lang="en-US" dirty="0"/>
              <a:t>ORF</a:t>
            </a:r>
          </a:p>
          <a:p>
            <a:pPr lvl="1">
              <a:buFont typeface="Arial"/>
              <a:buChar char="•"/>
            </a:pPr>
            <a:r>
              <a:rPr lang="en-US" dirty="0"/>
              <a:t>Start codon</a:t>
            </a:r>
          </a:p>
          <a:p>
            <a:pPr lvl="1">
              <a:buFont typeface="Arial"/>
              <a:buChar char="•"/>
            </a:pPr>
            <a:r>
              <a:rPr lang="en-US" dirty="0"/>
              <a:t>Splice site (Donor and acceptor)</a:t>
            </a:r>
          </a:p>
          <a:p>
            <a:pPr lvl="1">
              <a:buFont typeface="Arial"/>
              <a:buChar char="•"/>
            </a:pPr>
            <a:r>
              <a:rPr lang="en-US" dirty="0"/>
              <a:t>Stop codon</a:t>
            </a:r>
          </a:p>
          <a:p>
            <a:pPr lvl="1">
              <a:buFont typeface="Arial"/>
              <a:buChar char="•"/>
            </a:pPr>
            <a:r>
              <a:rPr lang="en-US" dirty="0"/>
              <a:t>Poly(A) tail</a:t>
            </a:r>
          </a:p>
          <a:p>
            <a:pPr lvl="1">
              <a:buFont typeface="Arial"/>
              <a:buChar char="•"/>
            </a:pPr>
            <a:r>
              <a:rPr lang="en-US" dirty="0"/>
              <a:t>CpG islands</a:t>
            </a:r>
          </a:p>
          <a:p>
            <a:pPr lvl="1">
              <a:buFont typeface="Arial"/>
              <a:buChar char="•"/>
            </a:pPr>
            <a:r>
              <a:rPr lang="en-US" dirty="0"/>
              <a:t>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FD9C8F-7E70-6BA0-CB41-33BB2B28A0F2}"/>
              </a:ext>
            </a:extLst>
          </p:cNvPr>
          <p:cNvSpPr/>
          <p:nvPr/>
        </p:nvSpPr>
        <p:spPr>
          <a:xfrm>
            <a:off x="1733472" y="5398637"/>
            <a:ext cx="9470335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=&gt; </a:t>
            </a:r>
            <a:r>
              <a:rPr lang="en-US" i="1" dirty="0"/>
              <a:t>Ab initio </a:t>
            </a:r>
            <a:r>
              <a:rPr lang="en-US" dirty="0"/>
              <a:t>tools will combine this information through different Probabilistic models (e.g. HMM, GHMM, WAM) to calculate the most probable combination that represents a valid gene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B9BFC0D-A886-3AA9-8A03-3333C397A981}"/>
              </a:ext>
            </a:extLst>
          </p:cNvPr>
          <p:cNvSpPr txBox="1"/>
          <p:nvPr/>
        </p:nvSpPr>
        <p:spPr>
          <a:xfrm>
            <a:off x="6096000" y="1566532"/>
            <a:ext cx="5492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 err="1"/>
              <a:t>These</a:t>
            </a:r>
            <a:r>
              <a:rPr lang="fr-FR" sz="1200" dirty="0"/>
              <a:t> are like </a:t>
            </a:r>
            <a:r>
              <a:rPr lang="fr-FR" sz="1200" b="1" dirty="0" err="1"/>
              <a:t>landmarks</a:t>
            </a:r>
            <a:r>
              <a:rPr lang="fr-FR" sz="1200" dirty="0"/>
              <a:t> in the </a:t>
            </a:r>
            <a:r>
              <a:rPr lang="fr-FR" sz="1200" dirty="0" err="1"/>
              <a:t>genome</a:t>
            </a:r>
            <a:r>
              <a:rPr lang="fr-FR" sz="1200" dirty="0"/>
              <a:t>, </a:t>
            </a:r>
            <a:r>
              <a:rPr lang="fr-FR" sz="1200" dirty="0" err="1"/>
              <a:t>they</a:t>
            </a:r>
            <a:r>
              <a:rPr lang="fr-FR" sz="1200" dirty="0"/>
              <a:t> tell the model </a:t>
            </a:r>
            <a:r>
              <a:rPr lang="fr-FR" sz="1200" i="1" dirty="0" err="1"/>
              <a:t>where</a:t>
            </a:r>
            <a:r>
              <a:rPr lang="fr-FR" sz="1200" dirty="0"/>
              <a:t> to look.</a:t>
            </a:r>
            <a:endParaRPr lang="en-GB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D21B123-1904-BEA8-8324-5756022C97F3}"/>
              </a:ext>
            </a:extLst>
          </p:cNvPr>
          <p:cNvSpPr txBox="1"/>
          <p:nvPr/>
        </p:nvSpPr>
        <p:spPr>
          <a:xfrm>
            <a:off x="1899501" y="1533107"/>
            <a:ext cx="3379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/>
              <a:t>Statistical properties of protein-coding sequence </a:t>
            </a:r>
          </a:p>
          <a:p>
            <a:pPr marL="0" indent="0">
              <a:buNone/>
            </a:pPr>
            <a:r>
              <a:rPr lang="en-US" sz="1200" dirty="0"/>
              <a:t>learn from existing data.</a:t>
            </a:r>
          </a:p>
        </p:txBody>
      </p:sp>
    </p:spTree>
    <p:extLst>
      <p:ext uri="{BB962C8B-B14F-4D97-AF65-F5344CB8AC3E}">
        <p14:creationId xmlns:p14="http://schemas.microsoft.com/office/powerpoint/2010/main" val="1697203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4599AB-33B1-9A6F-E6FB-F125D440C4BF}"/>
              </a:ext>
            </a:extLst>
          </p:cNvPr>
          <p:cNvSpPr txBox="1"/>
          <p:nvPr/>
        </p:nvSpPr>
        <p:spPr>
          <a:xfrm>
            <a:off x="0" y="59490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</a:t>
            </a:r>
          </a:p>
        </p:txBody>
      </p:sp>
      <p:sp>
        <p:nvSpPr>
          <p:cNvPr id="18" name="Espace réservé du contenu 1">
            <a:extLst>
              <a:ext uri="{FF2B5EF4-FFF2-40B4-BE49-F238E27FC236}">
                <a16:creationId xmlns:a16="http://schemas.microsoft.com/office/drawing/2014/main" id="{78ACC4D4-021B-737B-234C-5F4DE5205F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Probabilistic methods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3132C4-9C50-D7B8-8F70-7915B2020D13}"/>
              </a:ext>
            </a:extLst>
          </p:cNvPr>
          <p:cNvSpPr/>
          <p:nvPr/>
        </p:nvSpPr>
        <p:spPr>
          <a:xfrm>
            <a:off x="1953747" y="952168"/>
            <a:ext cx="888999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SNAP</a:t>
            </a:r>
            <a:r>
              <a:rPr lang="en-US" dirty="0"/>
              <a:t> 			Works ok, easy to train, not as good as others </a:t>
            </a:r>
          </a:p>
          <a:p>
            <a:r>
              <a:rPr lang="en-US" dirty="0"/>
              <a:t>					especially on longer intron genomes.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Augustus</a:t>
            </a:r>
            <a:r>
              <a:rPr lang="en-US" dirty="0"/>
              <a:t> 			Works great, hard to train (but getting better).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GeneMark</a:t>
            </a:r>
            <a:r>
              <a:rPr lang="en-US" b="1" dirty="0"/>
              <a:t>-ES</a:t>
            </a:r>
            <a:r>
              <a:rPr lang="en-US" dirty="0"/>
              <a:t> 	no hints, buggy, not good for fragmented 			genomes or 						long introns (Best suited for Fungi).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FGENESH</a:t>
            </a:r>
            <a:r>
              <a:rPr lang="en-US" dirty="0"/>
              <a:t> 		Works great, costs money even for training.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GlimmerHMM</a:t>
            </a:r>
            <a:r>
              <a:rPr lang="en-US" dirty="0"/>
              <a:t>  	(Eukaryote)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GenScan</a:t>
            </a:r>
            <a:endParaRPr lang="en-US" b="1" dirty="0"/>
          </a:p>
          <a:p>
            <a:pPr marL="285750" indent="-285750">
              <a:buFont typeface="Arial"/>
              <a:buChar char="•"/>
            </a:pPr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Gnomon			 </a:t>
            </a:r>
            <a:r>
              <a:rPr lang="en-US" dirty="0"/>
              <a:t>(NCBI)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05B368D4-BA0D-5694-DAF0-0B4F2A8F39B7}"/>
              </a:ext>
            </a:extLst>
          </p:cNvPr>
          <p:cNvSpPr/>
          <p:nvPr/>
        </p:nvSpPr>
        <p:spPr>
          <a:xfrm>
            <a:off x="9075516" y="1610168"/>
            <a:ext cx="234460" cy="24186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86791863-0E08-8A67-007F-18CF1105555F}"/>
              </a:ext>
            </a:extLst>
          </p:cNvPr>
          <p:cNvSpPr txBox="1"/>
          <p:nvPr/>
        </p:nvSpPr>
        <p:spPr>
          <a:xfrm>
            <a:off x="9563976" y="2383330"/>
            <a:ext cx="127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Supported by MAKER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EDBBB3-4327-7C64-418C-3A9E6036CBDF}"/>
              </a:ext>
            </a:extLst>
          </p:cNvPr>
          <p:cNvSpPr/>
          <p:nvPr/>
        </p:nvSpPr>
        <p:spPr>
          <a:xfrm>
            <a:off x="6529654" y="4028802"/>
            <a:ext cx="449970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http://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weatherby.genetics.utah.edu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/MAKER/wiki/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index.php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MAKER_Tutorial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D869E5-66F7-C548-E8DF-ECB46549B7ED}"/>
              </a:ext>
            </a:extLst>
          </p:cNvPr>
          <p:cNvSpPr txBox="1"/>
          <p:nvPr/>
        </p:nvSpPr>
        <p:spPr>
          <a:xfrm>
            <a:off x="639089" y="2851028"/>
            <a:ext cx="1348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Self training!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435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5EB805E-678C-9C93-DB06-775065FA29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Deterministic methods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6C4159-E03C-5267-BACE-8B701D16F7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B1204F-2002-49CF-F27A-5769E9BA8F9D}"/>
              </a:ext>
            </a:extLst>
          </p:cNvPr>
          <p:cNvSpPr txBox="1"/>
          <p:nvPr/>
        </p:nvSpPr>
        <p:spPr>
          <a:xfrm>
            <a:off x="262890" y="1261555"/>
            <a:ext cx="4299683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Neural networks </a:t>
            </a:r>
            <a:r>
              <a:rPr lang="fr-FR" dirty="0"/>
              <a:t>(CNN, </a:t>
            </a:r>
            <a:r>
              <a:rPr lang="fr-FR" dirty="0" err="1"/>
              <a:t>bLSTM</a:t>
            </a:r>
            <a:r>
              <a:rPr lang="fr-FR" dirty="0"/>
              <a:t>) </a:t>
            </a:r>
            <a:r>
              <a:rPr lang="fr-FR" dirty="0" err="1"/>
              <a:t>predicts</a:t>
            </a:r>
            <a:endParaRPr lang="fr-FR" dirty="0"/>
          </a:p>
          <a:p>
            <a:r>
              <a:rPr lang="fr-FR" dirty="0"/>
              <a:t> </a:t>
            </a:r>
            <a:r>
              <a:rPr lang="fr-FR" b="1" dirty="0"/>
              <a:t>for </a:t>
            </a:r>
            <a:r>
              <a:rPr lang="fr-FR" b="1" dirty="0" err="1"/>
              <a:t>each</a:t>
            </a:r>
            <a:r>
              <a:rPr lang="fr-FR" b="1" dirty="0"/>
              <a:t> base</a:t>
            </a:r>
            <a:r>
              <a:rPr lang="fr-FR" dirty="0"/>
              <a:t>, the </a:t>
            </a:r>
            <a:r>
              <a:rPr lang="fr-FR" dirty="0" err="1"/>
              <a:t>probability</a:t>
            </a:r>
            <a:r>
              <a:rPr lang="fr-FR" dirty="0"/>
              <a:t> of </a:t>
            </a:r>
            <a:r>
              <a:rPr lang="fr-FR" dirty="0" err="1"/>
              <a:t>being</a:t>
            </a:r>
            <a:r>
              <a:rPr lang="fr-FR" dirty="0"/>
              <a:t>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dirty="0"/>
              <a:t> in an exon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dirty="0"/>
              <a:t> in an intron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dirty="0"/>
              <a:t> at a </a:t>
            </a:r>
            <a:r>
              <a:rPr lang="fr-FR" dirty="0" err="1"/>
              <a:t>splice</a:t>
            </a:r>
            <a:r>
              <a:rPr lang="fr-FR" dirty="0"/>
              <a:t> site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dirty="0"/>
              <a:t> in </a:t>
            </a:r>
            <a:r>
              <a:rPr lang="fr-FR" dirty="0" err="1"/>
              <a:t>UTRs</a:t>
            </a:r>
            <a:r>
              <a:rPr lang="fr-FR" dirty="0"/>
              <a:t>, etc.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5B40F73-BF2B-4FC9-A05F-E6A90C724660}"/>
              </a:ext>
            </a:extLst>
          </p:cNvPr>
          <p:cNvSpPr txBox="1"/>
          <p:nvPr/>
        </p:nvSpPr>
        <p:spPr>
          <a:xfrm>
            <a:off x="5207010" y="1261555"/>
            <a:ext cx="642385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Captures </a:t>
            </a:r>
            <a:r>
              <a:rPr lang="fr-FR" sz="1600" dirty="0" err="1"/>
              <a:t>complex</a:t>
            </a:r>
            <a:r>
              <a:rPr lang="fr-FR" sz="1600" dirty="0"/>
              <a:t>, long-range </a:t>
            </a:r>
            <a:r>
              <a:rPr lang="fr-FR" sz="1600" dirty="0" err="1"/>
              <a:t>sequence</a:t>
            </a:r>
            <a:r>
              <a:rPr lang="fr-FR" sz="1600" dirty="0"/>
              <a:t> </a:t>
            </a:r>
            <a:r>
              <a:rPr lang="fr-FR" sz="1600" dirty="0" err="1"/>
              <a:t>dependencies</a:t>
            </a:r>
            <a:r>
              <a:rPr lang="fr-FR" sz="1600" dirty="0"/>
              <a:t>.</a:t>
            </a:r>
          </a:p>
          <a:p>
            <a:r>
              <a:rPr lang="fr-FR" sz="1600" dirty="0"/>
              <a:t>=&gt; </a:t>
            </a:r>
            <a:r>
              <a:rPr lang="fr-FR" sz="1600" dirty="0" err="1"/>
              <a:t>struggles</a:t>
            </a:r>
            <a:r>
              <a:rPr lang="fr-FR" sz="1600" dirty="0"/>
              <a:t> to </a:t>
            </a:r>
            <a:r>
              <a:rPr lang="fr-FR" sz="1600" dirty="0" err="1"/>
              <a:t>precisely</a:t>
            </a:r>
            <a:r>
              <a:rPr lang="fr-FR" sz="1600" dirty="0"/>
              <a:t> </a:t>
            </a:r>
            <a:r>
              <a:rPr lang="fr-FR" sz="1600" dirty="0" err="1"/>
              <a:t>locate</a:t>
            </a:r>
            <a:r>
              <a:rPr lang="fr-FR" sz="1600" dirty="0"/>
              <a:t> exon </a:t>
            </a:r>
            <a:r>
              <a:rPr lang="fr-FR" sz="1600" dirty="0" err="1"/>
              <a:t>boundaries</a:t>
            </a:r>
            <a:endParaRPr lang="fr-FR" sz="1600" dirty="0"/>
          </a:p>
          <a:p>
            <a:r>
              <a:rPr lang="fr-FR" sz="1600" dirty="0"/>
              <a:t>=&gt; base-</a:t>
            </a:r>
            <a:r>
              <a:rPr lang="fr-FR" sz="1600" dirty="0" err="1"/>
              <a:t>level</a:t>
            </a:r>
            <a:r>
              <a:rPr lang="fr-FR" sz="1600" dirty="0"/>
              <a:t> </a:t>
            </a:r>
            <a:r>
              <a:rPr lang="fr-FR" sz="1600" dirty="0" err="1"/>
              <a:t>predictions</a:t>
            </a:r>
            <a:r>
              <a:rPr lang="fr-FR" sz="1600" dirty="0"/>
              <a:t> can </a:t>
            </a:r>
            <a:r>
              <a:rPr lang="fr-FR" sz="1600" dirty="0" err="1"/>
              <a:t>be</a:t>
            </a:r>
            <a:r>
              <a:rPr lang="fr-FR" sz="16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400" b="1" dirty="0"/>
              <a:t> Noisy</a:t>
            </a:r>
            <a:r>
              <a:rPr lang="fr-FR" sz="1400" dirty="0"/>
              <a:t> (e.g., false positives),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400" b="1" dirty="0"/>
              <a:t> </a:t>
            </a:r>
            <a:r>
              <a:rPr lang="fr-FR" sz="1400" b="1" dirty="0" err="1"/>
              <a:t>Biologically</a:t>
            </a:r>
            <a:r>
              <a:rPr lang="fr-FR" sz="1400" b="1" dirty="0"/>
              <a:t> </a:t>
            </a:r>
            <a:r>
              <a:rPr lang="fr-FR" sz="1400" b="1" dirty="0" err="1"/>
              <a:t>inconsistent</a:t>
            </a:r>
            <a:r>
              <a:rPr lang="fr-FR" sz="1400" dirty="0"/>
              <a:t> (e.g., a stop codon in the middle of a </a:t>
            </a:r>
            <a:r>
              <a:rPr lang="fr-FR" sz="1400" dirty="0" err="1"/>
              <a:t>predicted</a:t>
            </a:r>
            <a:r>
              <a:rPr lang="fr-FR" sz="1400" dirty="0"/>
              <a:t> CDS),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400" b="1" dirty="0"/>
              <a:t> </a:t>
            </a:r>
            <a:r>
              <a:rPr lang="fr-FR" sz="1400" b="1" dirty="0" err="1"/>
              <a:t>Missing</a:t>
            </a:r>
            <a:r>
              <a:rPr lang="fr-FR" sz="1400" b="1" dirty="0"/>
              <a:t> structure</a:t>
            </a:r>
            <a:r>
              <a:rPr lang="fr-FR" sz="1400" dirty="0"/>
              <a:t> (e.g., incorrect start/stop, </a:t>
            </a:r>
            <a:r>
              <a:rPr lang="fr-FR" sz="1400" dirty="0" err="1"/>
              <a:t>fragmented</a:t>
            </a:r>
            <a:r>
              <a:rPr lang="fr-FR" sz="1400" dirty="0"/>
              <a:t> exons).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4AC6930-97EE-CE07-4FA4-7B152178DD58}"/>
              </a:ext>
            </a:extLst>
          </p:cNvPr>
          <p:cNvSpPr txBox="1"/>
          <p:nvPr/>
        </p:nvSpPr>
        <p:spPr>
          <a:xfrm>
            <a:off x="5269582" y="4099691"/>
            <a:ext cx="61038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 err="1"/>
              <a:t>Ensures</a:t>
            </a:r>
            <a:r>
              <a:rPr lang="fr-FR" sz="1600" dirty="0"/>
              <a:t> </a:t>
            </a:r>
            <a:r>
              <a:rPr lang="fr-FR" sz="1600" dirty="0" err="1"/>
              <a:t>coherent</a:t>
            </a:r>
            <a:r>
              <a:rPr lang="fr-FR" sz="1600" dirty="0"/>
              <a:t> </a:t>
            </a:r>
            <a:r>
              <a:rPr lang="fr-FR" sz="1600" dirty="0" err="1"/>
              <a:t>gene</a:t>
            </a:r>
            <a:r>
              <a:rPr lang="fr-FR" sz="1600" dirty="0"/>
              <a:t> structures by </a:t>
            </a:r>
            <a:r>
              <a:rPr lang="fr-FR" sz="1600" dirty="0" err="1"/>
              <a:t>filtering</a:t>
            </a:r>
            <a:r>
              <a:rPr lang="fr-FR" sz="1600" dirty="0"/>
              <a:t> </a:t>
            </a:r>
            <a:r>
              <a:rPr lang="fr-FR" sz="1600" dirty="0" err="1"/>
              <a:t>noisy</a:t>
            </a:r>
            <a:r>
              <a:rPr lang="fr-FR" sz="1600" dirty="0"/>
              <a:t> outputs.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B997038-4AB1-F54C-026A-36F516D16C68}"/>
              </a:ext>
            </a:extLst>
          </p:cNvPr>
          <p:cNvSpPr txBox="1"/>
          <p:nvPr/>
        </p:nvSpPr>
        <p:spPr>
          <a:xfrm>
            <a:off x="262890" y="4099691"/>
            <a:ext cx="4299683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HMM </a:t>
            </a:r>
            <a:r>
              <a:rPr lang="fr-FR" dirty="0" err="1">
                <a:solidFill>
                  <a:schemeClr val="accent1"/>
                </a:solidFill>
              </a:rPr>
              <a:t>postprocessor</a:t>
            </a:r>
            <a:r>
              <a:rPr lang="fr-FR" dirty="0">
                <a:solidFill>
                  <a:schemeClr val="accent1"/>
                </a:solidFill>
              </a:rPr>
              <a:t>  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F62F9F0-35BF-13A7-AC5C-F3CD254099E8}"/>
              </a:ext>
            </a:extLst>
          </p:cNvPr>
          <p:cNvSpPr txBox="1"/>
          <p:nvPr/>
        </p:nvSpPr>
        <p:spPr>
          <a:xfrm>
            <a:off x="1624946" y="3209278"/>
            <a:ext cx="1925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688753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4599AB-33B1-9A6F-E6FB-F125D440C4BF}"/>
              </a:ext>
            </a:extLst>
          </p:cNvPr>
          <p:cNvSpPr txBox="1"/>
          <p:nvPr/>
        </p:nvSpPr>
        <p:spPr>
          <a:xfrm>
            <a:off x="0" y="59490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5C2A01-FA1C-6D15-5DC1-87865F78B860}"/>
              </a:ext>
            </a:extLst>
          </p:cNvPr>
          <p:cNvSpPr txBox="1"/>
          <p:nvPr/>
        </p:nvSpPr>
        <p:spPr>
          <a:xfrm>
            <a:off x="7532802" y="1128658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0" u="none" strike="noStrike" dirty="0">
                <a:solidFill>
                  <a:srgbClr val="131313"/>
                </a:solidFill>
                <a:effectLst/>
                <a:latin typeface="GillSansRegular"/>
              </a:rPr>
              <a:t>Tiberius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A3097E6-879C-2F19-5DB0-E869B2094282}"/>
              </a:ext>
            </a:extLst>
          </p:cNvPr>
          <p:cNvSpPr txBox="1"/>
          <p:nvPr/>
        </p:nvSpPr>
        <p:spPr>
          <a:xfrm>
            <a:off x="2547191" y="1136948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Helixer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7861ECC-22C1-8748-F8D1-99E2B3734B92}"/>
              </a:ext>
            </a:extLst>
          </p:cNvPr>
          <p:cNvSpPr txBox="1"/>
          <p:nvPr/>
        </p:nvSpPr>
        <p:spPr>
          <a:xfrm>
            <a:off x="6096000" y="5494114"/>
            <a:ext cx="55555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linkClick r:id="rId3"/>
              </a:rPr>
              <a:t>https://academic.oup.com/bioinformatics/article/40/12/btae685/7903281</a:t>
            </a:r>
            <a:endParaRPr lang="en-GB" sz="1400" dirty="0"/>
          </a:p>
          <a:p>
            <a:r>
              <a:rPr lang="en-GB" sz="1400" dirty="0">
                <a:hlinkClick r:id="rId4"/>
              </a:rPr>
              <a:t>https://github.com/Gaius-Augustus/Tiberius</a:t>
            </a:r>
            <a:endParaRPr lang="en-GB" sz="1400" dirty="0"/>
          </a:p>
          <a:p>
            <a:endParaRPr lang="en-GB" sz="14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0E0B023-04E9-750D-154A-46EA575CBAD8}"/>
              </a:ext>
            </a:extLst>
          </p:cNvPr>
          <p:cNvSpPr txBox="1"/>
          <p:nvPr/>
        </p:nvSpPr>
        <p:spPr>
          <a:xfrm>
            <a:off x="5798271" y="1658403"/>
            <a:ext cx="55555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fr-FR" sz="1600" i="0" u="none" strike="noStrike" dirty="0">
                <a:solidFill>
                  <a:srgbClr val="131313"/>
                </a:solidFill>
                <a:effectLst/>
                <a:latin typeface="GillSansRegular"/>
              </a:rPr>
              <a:t>End-to-End </a:t>
            </a:r>
            <a:r>
              <a:rPr lang="fr-FR" sz="1600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Deep</a:t>
            </a:r>
            <a:r>
              <a:rPr lang="fr-FR" sz="1600" i="0" u="none" strike="noStrike" dirty="0">
                <a:solidFill>
                  <a:srgbClr val="131313"/>
                </a:solidFill>
                <a:effectLst/>
                <a:latin typeface="GillSansRegular"/>
              </a:rPr>
              <a:t> Learning </a:t>
            </a:r>
            <a:r>
              <a:rPr lang="fr-FR" sz="1600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with</a:t>
            </a:r>
            <a:r>
              <a:rPr lang="fr-FR" sz="1600" i="0" u="none" strike="noStrike" dirty="0">
                <a:solidFill>
                  <a:srgbClr val="131313"/>
                </a:solidFill>
                <a:effectLst/>
                <a:latin typeface="GillSansRegular"/>
              </a:rPr>
              <a:t> an HMM for Gene </a:t>
            </a:r>
            <a:r>
              <a:rPr lang="fr-FR" sz="1600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Prediction</a:t>
            </a:r>
            <a:endParaRPr lang="fr-FR" sz="1600" i="0" u="none" strike="noStrike" dirty="0">
              <a:solidFill>
                <a:srgbClr val="131313"/>
              </a:solidFill>
              <a:effectLst/>
              <a:latin typeface="GillSansRegular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0D124B55-5935-D04D-CE19-C802E3030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961" y="3941657"/>
            <a:ext cx="3801926" cy="1494601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CEDEC33-1F2C-85DF-FB8C-042D3C7C9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72" y="2514351"/>
            <a:ext cx="2989211" cy="2530053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A1E77933-2495-7BAA-63B5-96F62451D5C3}"/>
              </a:ext>
            </a:extLst>
          </p:cNvPr>
          <p:cNvSpPr txBox="1"/>
          <p:nvPr/>
        </p:nvSpPr>
        <p:spPr>
          <a:xfrm>
            <a:off x="242741" y="5494114"/>
            <a:ext cx="5555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u="sng" dirty="0">
                <a:effectLst/>
                <a:latin typeface="-apple-system"/>
                <a:hlinkClick r:id="rId7"/>
              </a:rPr>
              <a:t>https://doi.org/10.1101/2023.02.06.527280</a:t>
            </a:r>
            <a:endParaRPr lang="fr-FR" sz="1400" b="0" i="0" u="sng" dirty="0">
              <a:effectLst/>
              <a:latin typeface="-apple-system"/>
            </a:endParaRPr>
          </a:p>
          <a:p>
            <a:r>
              <a:rPr lang="en-GB" sz="1400" dirty="0">
                <a:hlinkClick r:id="rId8"/>
              </a:rPr>
              <a:t>https://github.com/weberlab-hhu/Helixer</a:t>
            </a:r>
            <a:r>
              <a:rPr lang="en-GB" sz="1400" dirty="0"/>
              <a:t>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3B83210-93EA-88A6-0101-A2453CBAA5AC}"/>
              </a:ext>
            </a:extLst>
          </p:cNvPr>
          <p:cNvSpPr txBox="1"/>
          <p:nvPr/>
        </p:nvSpPr>
        <p:spPr>
          <a:xfrm>
            <a:off x="838199" y="1540491"/>
            <a:ext cx="43056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defRPr sz="1600" i="0" u="none" strike="noStrike">
                <a:solidFill>
                  <a:srgbClr val="131313"/>
                </a:solidFill>
                <a:effectLst/>
                <a:latin typeface="GillSansRegular"/>
              </a:defRPr>
            </a:lvl1pPr>
          </a:lstStyle>
          <a:p>
            <a:r>
              <a:rPr lang="fr-FR" dirty="0" err="1"/>
              <a:t>Helixer</a:t>
            </a:r>
            <a:r>
              <a:rPr lang="fr-FR" dirty="0"/>
              <a:t>–de novo </a:t>
            </a:r>
            <a:r>
              <a:rPr lang="fr-FR" dirty="0" err="1"/>
              <a:t>Prediction</a:t>
            </a:r>
            <a:r>
              <a:rPr lang="fr-FR" dirty="0"/>
              <a:t> of </a:t>
            </a:r>
            <a:r>
              <a:rPr lang="fr-FR" dirty="0" err="1"/>
              <a:t>Primary</a:t>
            </a:r>
            <a:r>
              <a:rPr lang="fr-FR" dirty="0"/>
              <a:t> </a:t>
            </a:r>
            <a:r>
              <a:rPr lang="fr-FR" dirty="0" err="1"/>
              <a:t>Eukaryotic</a:t>
            </a:r>
            <a:r>
              <a:rPr lang="fr-FR" dirty="0"/>
              <a:t> Gene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Combining</a:t>
            </a:r>
            <a:r>
              <a:rPr lang="fr-FR" dirty="0"/>
              <a:t> </a:t>
            </a:r>
            <a:r>
              <a:rPr lang="fr-FR" dirty="0" err="1"/>
              <a:t>Deep</a:t>
            </a:r>
            <a:r>
              <a:rPr lang="fr-FR" dirty="0"/>
              <a:t> Learning and a </a:t>
            </a:r>
            <a:r>
              <a:rPr lang="fr-FR" dirty="0" err="1"/>
              <a:t>Hidden</a:t>
            </a:r>
            <a:r>
              <a:rPr lang="fr-FR" dirty="0"/>
              <a:t> Markov Model</a:t>
            </a:r>
          </a:p>
        </p:txBody>
      </p:sp>
      <p:sp>
        <p:nvSpPr>
          <p:cNvPr id="32" name="Espace réservé du contenu 1">
            <a:extLst>
              <a:ext uri="{FF2B5EF4-FFF2-40B4-BE49-F238E27FC236}">
                <a16:creationId xmlns:a16="http://schemas.microsoft.com/office/drawing/2014/main" id="{F3FAF193-87AD-9334-1785-BB9B0B522B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Deterministic methods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603F8741-F342-15F9-A6FD-1F0C1A9513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000" y="2099823"/>
            <a:ext cx="2721619" cy="210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95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1F825DA-8B35-57AE-B9A3-D5379D0859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79E3A4-E49A-900F-D0E9-35FB217F1DC7}"/>
              </a:ext>
            </a:extLst>
          </p:cNvPr>
          <p:cNvSpPr txBox="1">
            <a:spLocks/>
          </p:cNvSpPr>
          <p:nvPr/>
        </p:nvSpPr>
        <p:spPr>
          <a:xfrm>
            <a:off x="2314281" y="623854"/>
            <a:ext cx="8229600" cy="157163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i="1" dirty="0"/>
              <a:t>Ab-initio</a:t>
            </a:r>
            <a:r>
              <a:rPr lang="en-US" sz="1800" dirty="0"/>
              <a:t> tools need of a models (also called profile) =&gt; Training</a:t>
            </a:r>
            <a:endParaRPr lang="en-US" sz="1800" dirty="0">
              <a:solidFill>
                <a:srgbClr val="000000"/>
              </a:solidFill>
            </a:endParaRPr>
          </a:p>
          <a:p>
            <a:pPr lvl="1"/>
            <a:r>
              <a:rPr lang="en-US" sz="1600" dirty="0">
                <a:solidFill>
                  <a:srgbClr val="000000"/>
                </a:solidFill>
              </a:rPr>
              <a:t>Few self-trained tools, </a:t>
            </a:r>
            <a:r>
              <a:rPr lang="en-US" sz="1600" u="sng" dirty="0">
                <a:solidFill>
                  <a:srgbClr val="000000"/>
                </a:solidFill>
              </a:rPr>
              <a:t>most need a separate training procedure</a:t>
            </a:r>
          </a:p>
          <a:p>
            <a:pPr lvl="1"/>
            <a:r>
              <a:rPr lang="en-US" sz="1600" dirty="0"/>
              <a:t>The quality of the gene-finder results hugely relies on the quality of the training!</a:t>
            </a:r>
          </a:p>
          <a:p>
            <a:pPr lvl="1"/>
            <a:r>
              <a:rPr lang="en-US" sz="1600" dirty="0"/>
              <a:t>Needs training for every genome / phylogenetic range (= different training sets)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u="sng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u="sng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u="sng" dirty="0">
              <a:solidFill>
                <a:srgbClr val="000000"/>
              </a:solidFill>
            </a:endParaRPr>
          </a:p>
        </p:txBody>
      </p:sp>
      <p:pic>
        <p:nvPicPr>
          <p:cNvPr id="6" name="Platshållare för innehåll 3" descr="Skärmavbild 2012-10-09 kl. 12.11.39.png">
            <a:extLst>
              <a:ext uri="{FF2B5EF4-FFF2-40B4-BE49-F238E27FC236}">
                <a16:creationId xmlns:a16="http://schemas.microsoft.com/office/drawing/2014/main" id="{87ED1810-06F5-AA26-51D4-9A296D638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3" t="18269" r="2431" b="63718"/>
          <a:stretch>
            <a:fillRect/>
          </a:stretch>
        </p:blipFill>
        <p:spPr bwMode="auto">
          <a:xfrm>
            <a:off x="3128845" y="2973265"/>
            <a:ext cx="6958013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A1AEDB0-F775-C4AA-7656-17052CBCE162}"/>
              </a:ext>
            </a:extLst>
          </p:cNvPr>
          <p:cNvSpPr txBox="1"/>
          <p:nvPr/>
        </p:nvSpPr>
        <p:spPr>
          <a:xfrm>
            <a:off x="5802703" y="2603933"/>
            <a:ext cx="1772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fungal genome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3DEA9BD-9F79-9034-B0FE-5E7ADC77EC10}"/>
              </a:ext>
            </a:extLst>
          </p:cNvPr>
          <p:cNvSpPr txBox="1"/>
          <p:nvPr/>
        </p:nvSpPr>
        <p:spPr>
          <a:xfrm>
            <a:off x="2248293" y="3181572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Fungi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EECA828-9418-9116-D456-C5A1367B727A}"/>
              </a:ext>
            </a:extLst>
          </p:cNvPr>
          <p:cNvSpPr txBox="1"/>
          <p:nvPr/>
        </p:nvSpPr>
        <p:spPr>
          <a:xfrm>
            <a:off x="2248293" y="3455271"/>
            <a:ext cx="75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Plants</a:t>
            </a:r>
          </a:p>
        </p:txBody>
      </p:sp>
      <p:sp>
        <p:nvSpPr>
          <p:cNvPr id="10" name="Espace réservé du contenu 1">
            <a:extLst>
              <a:ext uri="{FF2B5EF4-FFF2-40B4-BE49-F238E27FC236}">
                <a16:creationId xmlns:a16="http://schemas.microsoft.com/office/drawing/2014/main" id="{53EA9BD4-01AD-BF94-C9F7-B1DA04915D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Training intrinsic / </a:t>
            </a:r>
            <a:r>
              <a:rPr lang="en-GB" i="1" dirty="0"/>
              <a:t>ab initio </a:t>
            </a:r>
            <a:r>
              <a:rPr lang="en-US" sz="2000" dirty="0"/>
              <a:t>gene-finders</a:t>
            </a:r>
            <a:endParaRPr lang="en-GB" i="1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1CFD51D-B68F-9BCE-E1A5-A4B17E99FDB4}"/>
              </a:ext>
            </a:extLst>
          </p:cNvPr>
          <p:cNvSpPr txBox="1"/>
          <p:nvPr/>
        </p:nvSpPr>
        <p:spPr>
          <a:xfrm>
            <a:off x="-107610" y="4975930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indent="0">
              <a:buNone/>
            </a:pPr>
            <a:r>
              <a:rPr lang="en-US" dirty="0"/>
              <a:t>A sets of high quality genes (&gt;500)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dirty="0"/>
              <a:t>=&gt; These ”known” genes are usually inferred from aligned transcripts or proteins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B6658B8-D531-0126-0AB2-9CC3ED30046A}"/>
              </a:ext>
            </a:extLst>
          </p:cNvPr>
          <p:cNvSpPr txBox="1"/>
          <p:nvPr/>
        </p:nvSpPr>
        <p:spPr>
          <a:xfrm>
            <a:off x="5361493" y="4077101"/>
            <a:ext cx="1001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u="sng" dirty="0">
                <a:solidFill>
                  <a:srgbClr val="000000"/>
                </a:solidFill>
              </a:rPr>
              <a:t>Training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8CA3261-6F20-BAAE-F95D-A0BB547C35AF}"/>
              </a:ext>
            </a:extLst>
          </p:cNvPr>
          <p:cNvSpPr txBox="1"/>
          <p:nvPr/>
        </p:nvSpPr>
        <p:spPr>
          <a:xfrm>
            <a:off x="7574727" y="4361477"/>
            <a:ext cx="1537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Deterministic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F6CC3A8-0919-651F-D134-B0BC59123BE1}"/>
              </a:ext>
            </a:extLst>
          </p:cNvPr>
          <p:cNvSpPr txBox="1"/>
          <p:nvPr/>
        </p:nvSpPr>
        <p:spPr>
          <a:xfrm>
            <a:off x="2314281" y="4446433"/>
            <a:ext cx="1537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Probabilistic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AE94E40-8D30-60FD-AE99-C8933E9F40C9}"/>
              </a:ext>
            </a:extLst>
          </p:cNvPr>
          <p:cNvSpPr txBox="1"/>
          <p:nvPr/>
        </p:nvSpPr>
        <p:spPr>
          <a:xfrm>
            <a:off x="6060165" y="4825849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indent="0">
              <a:buNone/>
            </a:pPr>
            <a:r>
              <a:rPr lang="en-US" dirty="0"/>
              <a:t>A sets of high quality genomes (&gt;3)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dirty="0"/>
              <a:t>=&gt; S</a:t>
            </a:r>
            <a:r>
              <a:rPr lang="fr-FR" b="0" i="0" u="none" strike="noStrike" dirty="0" err="1">
                <a:effectLst/>
                <a:latin typeface="-apple-system"/>
              </a:rPr>
              <a:t>pecies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that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generalize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well</a:t>
            </a:r>
            <a:r>
              <a:rPr lang="fr-FR" b="0" i="0" u="none" strike="noStrike" dirty="0">
                <a:effectLst/>
                <a:latin typeface="-apple-system"/>
              </a:rPr>
              <a:t> to </a:t>
            </a:r>
            <a:r>
              <a:rPr lang="fr-FR" b="0" i="0" u="none" strike="noStrike" dirty="0" err="1">
                <a:effectLst/>
                <a:latin typeface="-apple-system"/>
              </a:rPr>
              <a:t>your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target</a:t>
            </a:r>
            <a:r>
              <a:rPr lang="fr-FR" b="0" i="0" u="none" strike="noStrike" dirty="0">
                <a:effectLst/>
                <a:latin typeface="-apple-system"/>
              </a:rPr>
              <a:t> </a:t>
            </a:r>
            <a:r>
              <a:rPr lang="fr-FR" b="0" i="0" u="none" strike="noStrike" dirty="0" err="1">
                <a:effectLst/>
                <a:latin typeface="-apple-system"/>
              </a:rPr>
              <a:t>species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7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1F825DA-8B35-57AE-B9A3-D5379D0859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3C169D-2A35-AD2D-7E57-2B773B6A010F}"/>
              </a:ext>
            </a:extLst>
          </p:cNvPr>
          <p:cNvSpPr txBox="1"/>
          <p:nvPr/>
        </p:nvSpPr>
        <p:spPr>
          <a:xfrm>
            <a:off x="3051928" y="748987"/>
            <a:ext cx="768520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Strengths :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Fast and easy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Annotate unknown genes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Sensitivity ok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Need no external evidence**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b="1" dirty="0"/>
              <a:t>Limits :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No UTR*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No alternatively spliced transcripts*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Bad specificity / precision (Over prediction of exons or/and genes)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Training</a:t>
            </a:r>
            <a:r>
              <a:rPr lang="en-US" dirty="0"/>
              <a:t> needed (Need external evidence**)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b="1" dirty="0">
                <a:cs typeface="Calibri (body)"/>
              </a:rPr>
              <a:t>Common errors in annotation: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cs typeface="Calibri (body)"/>
              </a:rPr>
              <a:t>Split single gene into multiple predictions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cs typeface="Calibri (body)"/>
              </a:rPr>
              <a:t>Fused with neighboring genes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May be less accurate than homology based method: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Exon boundaries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Splicing sites</a:t>
            </a:r>
          </a:p>
          <a:p>
            <a:endParaRPr lang="en-US" b="1" dirty="0"/>
          </a:p>
        </p:txBody>
      </p:sp>
      <p:sp>
        <p:nvSpPr>
          <p:cNvPr id="13" name="Espace réservé du contenu 1">
            <a:extLst>
              <a:ext uri="{FF2B5EF4-FFF2-40B4-BE49-F238E27FC236}">
                <a16:creationId xmlns:a16="http://schemas.microsoft.com/office/drawing/2014/main" id="{9160D80A-82F5-0482-1979-225BBF0C40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Intrinsic / </a:t>
            </a:r>
            <a:r>
              <a:rPr lang="en-GB" i="1" dirty="0"/>
              <a:t>ab initio</a:t>
            </a:r>
          </a:p>
        </p:txBody>
      </p:sp>
      <p:sp>
        <p:nvSpPr>
          <p:cNvPr id="14" name="Oval 1">
            <a:extLst>
              <a:ext uri="{FF2B5EF4-FFF2-40B4-BE49-F238E27FC236}">
                <a16:creationId xmlns:a16="http://schemas.microsoft.com/office/drawing/2014/main" id="{3E4E5D69-40D2-B1F9-B240-042A4D19B17B}"/>
              </a:ext>
            </a:extLst>
          </p:cNvPr>
          <p:cNvSpPr/>
          <p:nvPr/>
        </p:nvSpPr>
        <p:spPr>
          <a:xfrm>
            <a:off x="2900717" y="4176074"/>
            <a:ext cx="5794643" cy="1736237"/>
          </a:xfrm>
          <a:prstGeom prst="ellipse">
            <a:avLst/>
          </a:prstGeom>
          <a:solidFill>
            <a:srgbClr val="F79646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xplosion 1 14">
            <a:extLst>
              <a:ext uri="{FF2B5EF4-FFF2-40B4-BE49-F238E27FC236}">
                <a16:creationId xmlns:a16="http://schemas.microsoft.com/office/drawing/2014/main" id="{6C78DB3C-990C-306A-4A58-00DB0ED453A3}"/>
              </a:ext>
            </a:extLst>
          </p:cNvPr>
          <p:cNvSpPr/>
          <p:nvPr/>
        </p:nvSpPr>
        <p:spPr>
          <a:xfrm>
            <a:off x="9569707" y="3984376"/>
            <a:ext cx="2334846" cy="2119923"/>
          </a:xfrm>
          <a:prstGeom prst="irregularSeal1">
            <a:avLst/>
          </a:prstGeom>
          <a:solidFill>
            <a:srgbClr val="F7964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Hybrid method</a:t>
            </a:r>
          </a:p>
        </p:txBody>
      </p:sp>
      <p:sp>
        <p:nvSpPr>
          <p:cNvPr id="16" name="Right Arrow 10">
            <a:extLst>
              <a:ext uri="{FF2B5EF4-FFF2-40B4-BE49-F238E27FC236}">
                <a16:creationId xmlns:a16="http://schemas.microsoft.com/office/drawing/2014/main" id="{AD95CE3C-6433-3AE1-1696-145686D432E0}"/>
              </a:ext>
            </a:extLst>
          </p:cNvPr>
          <p:cNvSpPr/>
          <p:nvPr/>
        </p:nvSpPr>
        <p:spPr>
          <a:xfrm>
            <a:off x="8871206" y="4801466"/>
            <a:ext cx="420077" cy="576323"/>
          </a:xfrm>
          <a:prstGeom prst="rightArrow">
            <a:avLst/>
          </a:prstGeom>
          <a:solidFill>
            <a:srgbClr val="FCD5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4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886056-5E92-FCBF-622B-7AE2D28A105F}"/>
              </a:ext>
            </a:extLst>
          </p:cNvPr>
          <p:cNvSpPr txBox="1"/>
          <p:nvPr/>
        </p:nvSpPr>
        <p:spPr>
          <a:xfrm>
            <a:off x="3044858" y="3241977"/>
            <a:ext cx="6108568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Exercise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256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0" y="162873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1" dirty="0"/>
              <a:t>Hybrid approaches</a:t>
            </a:r>
            <a:endParaRPr lang="en-US" sz="3600" b="1" i="1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C21E0B-6487-3A5F-582A-9C6911D17E21}"/>
              </a:ext>
            </a:extLst>
          </p:cNvPr>
          <p:cNvSpPr/>
          <p:nvPr/>
        </p:nvSpPr>
        <p:spPr>
          <a:xfrm>
            <a:off x="0" y="487532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i="1" dirty="0"/>
              <a:t>Can predict locus without extrinsic information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Improve prediction when extrinsic information available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8E789B3-1B93-9934-C112-2C44B57D566B}"/>
              </a:ext>
            </a:extLst>
          </p:cNvPr>
          <p:cNvSpPr txBox="1"/>
          <p:nvPr/>
        </p:nvSpPr>
        <p:spPr>
          <a:xfrm>
            <a:off x="3242821" y="2964978"/>
            <a:ext cx="6504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/>
              <a:t>Evidence-drivable gene predictors</a:t>
            </a:r>
            <a:r>
              <a:rPr lang="en-US" sz="1800" dirty="0"/>
              <a:t> incorporate hints/extrinsic information in the form of alignments (transcript, protein, whole genome) to increase the accuracy of the gene prediction.</a:t>
            </a:r>
          </a:p>
        </p:txBody>
      </p:sp>
    </p:spTree>
    <p:extLst>
      <p:ext uri="{BB962C8B-B14F-4D97-AF65-F5344CB8AC3E}">
        <p14:creationId xmlns:p14="http://schemas.microsoft.com/office/powerpoint/2010/main" val="3647020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630EEE-4CA5-7224-B8AB-F953ACD47F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Hybrid: Comparative + </a:t>
            </a:r>
            <a:r>
              <a:rPr lang="en-GB" i="1" dirty="0"/>
              <a:t>ab initio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5D7E5DA-E2D8-4EE9-6742-2F719AB5F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4" name="Picture 4" descr="Screenshot 2019-07-02 at 18.24.31.png">
            <a:extLst>
              <a:ext uri="{FF2B5EF4-FFF2-40B4-BE49-F238E27FC236}">
                <a16:creationId xmlns:a16="http://schemas.microsoft.com/office/drawing/2014/main" id="{8592D6DD-9D93-6A8A-D73A-F7F95292F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582" y="1396225"/>
            <a:ext cx="8201208" cy="24597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085809E-2774-AC5A-81C3-58C6C284A390}"/>
              </a:ext>
            </a:extLst>
          </p:cNvPr>
          <p:cNvSpPr txBox="1"/>
          <p:nvPr/>
        </p:nvSpPr>
        <p:spPr>
          <a:xfrm>
            <a:off x="1020502" y="787386"/>
            <a:ext cx="101833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charset="0"/>
                <a:cs typeface="Arial" charset="0"/>
              </a:rPr>
              <a:t>functional parts e.g. exons, tend to be more conserved than the non-functional ones, the introns. </a:t>
            </a:r>
            <a:endParaRPr lang="en-GB" sz="16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A6F98A1-A9B4-DC26-DD15-7AAFE9613F6D}"/>
              </a:ext>
            </a:extLst>
          </p:cNvPr>
          <p:cNvSpPr txBox="1"/>
          <p:nvPr/>
        </p:nvSpPr>
        <p:spPr>
          <a:xfrm>
            <a:off x="469530" y="4126310"/>
            <a:ext cx="111613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Alignment of genomic sequences from different species and use the alignments to guide the ab-initio gene predictions. 	</a:t>
            </a:r>
          </a:p>
          <a:p>
            <a:pPr marL="0" indent="0">
              <a:buNone/>
            </a:pPr>
            <a:endParaRPr lang="en-US" sz="18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</a:rPr>
              <a:t>Limits :</a:t>
            </a:r>
            <a:r>
              <a:rPr lang="en-US" b="1" dirty="0"/>
              <a:t> 	- </a:t>
            </a:r>
            <a:r>
              <a:rPr lang="en-US" dirty="0">
                <a:solidFill>
                  <a:srgbClr val="000000"/>
                </a:solidFill>
              </a:rPr>
              <a:t>Whole genome alignment is time/memory consuming</a:t>
            </a:r>
          </a:p>
          <a:p>
            <a:pPr marL="0" indent="0">
              <a:buNone/>
            </a:pPr>
            <a:r>
              <a:rPr lang="en-US" dirty="0"/>
              <a:t>		- Need relatively close related genome (&lt;50 My)</a:t>
            </a:r>
          </a:p>
        </p:txBody>
      </p:sp>
    </p:spTree>
    <p:extLst>
      <p:ext uri="{BB962C8B-B14F-4D97-AF65-F5344CB8AC3E}">
        <p14:creationId xmlns:p14="http://schemas.microsoft.com/office/powerpoint/2010/main" val="3303237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E110529-0E07-4D53-ED94-22D7686039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15C9D78A-E1D2-07EE-C228-D482DAF3FDDE}"/>
              </a:ext>
            </a:extLst>
          </p:cNvPr>
          <p:cNvSpPr txBox="1">
            <a:spLocks/>
          </p:cNvSpPr>
          <p:nvPr/>
        </p:nvSpPr>
        <p:spPr>
          <a:xfrm>
            <a:off x="235670" y="493995"/>
            <a:ext cx="9040305" cy="52287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Dual genome</a:t>
            </a:r>
            <a:r>
              <a:rPr lang="en-US" dirty="0"/>
              <a:t>, de novo gene structure prediction:</a:t>
            </a:r>
            <a:endParaRPr lang="en-US" b="1" dirty="0"/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Rosetta</a:t>
            </a:r>
            <a:r>
              <a:rPr lang="en-US" dirty="0"/>
              <a:t> (Pioneer – 2000)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SGP-2 </a:t>
            </a:r>
            <a:r>
              <a:rPr lang="en-US" dirty="0"/>
              <a:t>(2001) – considers only the conservation in protein-coding regions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TWINSCAN</a:t>
            </a:r>
            <a:r>
              <a:rPr lang="en-US" dirty="0"/>
              <a:t> (2001) - included models of conservation in splice sites and start and 			    stop codons 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SLAM</a:t>
            </a:r>
            <a:r>
              <a:rPr lang="en-US" dirty="0"/>
              <a:t> (2003)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TWAIN</a:t>
            </a:r>
            <a:r>
              <a:rPr lang="en-US" dirty="0"/>
              <a:t> (2005)</a:t>
            </a:r>
          </a:p>
          <a:p>
            <a:pPr marL="742950" lvl="1" indent="-285750">
              <a:buFont typeface="Arial"/>
              <a:buChar char="•"/>
            </a:pPr>
            <a:endParaRPr lang="en-US" b="1" dirty="0"/>
          </a:p>
          <a:p>
            <a:r>
              <a:rPr lang="en-US" dirty="0"/>
              <a:t>More than 2 genomic sequences: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NSCAN* </a:t>
            </a:r>
            <a:r>
              <a:rPr lang="en-US" dirty="0"/>
              <a:t>(2006)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Conrad</a:t>
            </a:r>
            <a:r>
              <a:rPr lang="en-US" dirty="0"/>
              <a:t> *(CRF, 2007)</a:t>
            </a:r>
          </a:p>
          <a:p>
            <a:pPr lvl="1">
              <a:buFont typeface="Arial"/>
              <a:buChar char="•"/>
            </a:pPr>
            <a:r>
              <a:rPr lang="en-US" b="1" dirty="0"/>
              <a:t>CONTRAST*</a:t>
            </a:r>
            <a:r>
              <a:rPr lang="en-US" dirty="0"/>
              <a:t> (CRF, 2008) </a:t>
            </a:r>
            <a:r>
              <a:rPr lang="en-US" dirty="0">
                <a:solidFill>
                  <a:srgbClr val="000000"/>
                </a:solidFill>
              </a:rPr>
              <a:t>-&gt; 58% accuracy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Augustus-CPG*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E7B4D1-83D6-2A8E-8EB9-F6C2B6944606}"/>
              </a:ext>
            </a:extLst>
          </p:cNvPr>
          <p:cNvSpPr/>
          <p:nvPr/>
        </p:nvSpPr>
        <p:spPr>
          <a:xfrm>
            <a:off x="8465270" y="5725759"/>
            <a:ext cx="4384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*Can use similarity-based information 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E5F65C2-8565-C2FD-C10B-BAFEA543C0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Hybrid: Comparative + </a:t>
            </a:r>
            <a:r>
              <a:rPr lang="en-GB" i="1" dirty="0"/>
              <a:t>ab initio</a:t>
            </a:r>
          </a:p>
        </p:txBody>
      </p:sp>
    </p:spTree>
    <p:extLst>
      <p:ext uri="{BB962C8B-B14F-4D97-AF65-F5344CB8AC3E}">
        <p14:creationId xmlns:p14="http://schemas.microsoft.com/office/powerpoint/2010/main" val="23652721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07BB7A7-85F8-FEBE-D035-5E2F9C3D50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E1FF4537-ED82-37BC-9171-2C5E675B35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Hybrid: Similarity based + </a:t>
            </a:r>
            <a:r>
              <a:rPr lang="en-GB" i="1" dirty="0"/>
              <a:t>ab initio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F75BD8-CFDD-2B62-751F-274F661B9976}"/>
              </a:ext>
            </a:extLst>
          </p:cNvPr>
          <p:cNvSpPr/>
          <p:nvPr/>
        </p:nvSpPr>
        <p:spPr>
          <a:xfrm>
            <a:off x="1524000" y="646111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			</a:t>
            </a:r>
            <a:endParaRPr lang="en-US" dirty="0"/>
          </a:p>
          <a:p>
            <a:r>
              <a:rPr lang="en-US" i="1" dirty="0"/>
              <a:t>Evidence-drivable gene predictors / Ab initio </a:t>
            </a:r>
            <a:r>
              <a:rPr lang="en-US" dirty="0"/>
              <a:t>evidence-based approaches incorporate hints in the form of EST or protein alignments to increase the accuracy of the gene prediction.</a:t>
            </a:r>
          </a:p>
        </p:txBody>
      </p:sp>
      <p:pic>
        <p:nvPicPr>
          <p:cNvPr id="10" name="Picture 1" descr="Screen Shot 2018-02-28 at 21.03.35.png">
            <a:extLst>
              <a:ext uri="{FF2B5EF4-FFF2-40B4-BE49-F238E27FC236}">
                <a16:creationId xmlns:a16="http://schemas.microsoft.com/office/drawing/2014/main" id="{7E0CE3B7-BF2E-C910-5916-00CD2C5AC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852" y="2077465"/>
            <a:ext cx="6548667" cy="3719893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F570A96-F98A-8573-66A4-5DEA0DBA2FBA}"/>
              </a:ext>
            </a:extLst>
          </p:cNvPr>
          <p:cNvSpPr txBox="1">
            <a:spLocks/>
          </p:cNvSpPr>
          <p:nvPr/>
        </p:nvSpPr>
        <p:spPr>
          <a:xfrm>
            <a:off x="485481" y="1838227"/>
            <a:ext cx="5151748" cy="4166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b="1" dirty="0"/>
              <a:t>Strength : 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Lot of data available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Protein well conserved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High accuracy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b="1" dirty="0"/>
              <a:t>Limits :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Extra computation to generate alignments	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heterogeneous sequence quality </a:t>
            </a:r>
            <a:r>
              <a:rPr lang="en-US" sz="1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Incomplete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Error during transcriptome assembly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Contamination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Sequence missing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Orientation error</a:t>
            </a:r>
          </a:p>
        </p:txBody>
      </p:sp>
    </p:spTree>
    <p:extLst>
      <p:ext uri="{BB962C8B-B14F-4D97-AF65-F5344CB8AC3E}">
        <p14:creationId xmlns:p14="http://schemas.microsoft.com/office/powerpoint/2010/main" val="16115096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A6F3BA-74A8-6114-146B-331F2F6F0AB2}"/>
              </a:ext>
            </a:extLst>
          </p:cNvPr>
          <p:cNvSpPr txBox="1">
            <a:spLocks/>
          </p:cNvSpPr>
          <p:nvPr/>
        </p:nvSpPr>
        <p:spPr>
          <a:xfrm>
            <a:off x="1920279" y="1472285"/>
            <a:ext cx="9608702" cy="311857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/>
              <a:t>GenomeScan</a:t>
            </a:r>
            <a:r>
              <a:rPr lang="en-US" sz="1600" b="1" dirty="0"/>
              <a:t> </a:t>
            </a:r>
            <a:r>
              <a:rPr lang="en-US" sz="1600" dirty="0"/>
              <a:t>		Blast hit used as extra guide</a:t>
            </a:r>
          </a:p>
          <a:p>
            <a:r>
              <a:rPr lang="en-US" sz="1600" b="1" dirty="0"/>
              <a:t>Augustus  		</a:t>
            </a:r>
            <a:r>
              <a:rPr lang="en-US" sz="1600" dirty="0"/>
              <a:t>16 types of hints accepted (</a:t>
            </a:r>
            <a:r>
              <a:rPr lang="en-US" sz="1600" dirty="0" err="1"/>
              <a:t>gff</a:t>
            </a:r>
            <a:r>
              <a:rPr lang="en-US" sz="1600" dirty="0"/>
              <a:t>):  start, stop, </a:t>
            </a:r>
            <a:r>
              <a:rPr lang="en-US" sz="1600" dirty="0" err="1"/>
              <a:t>tss</a:t>
            </a:r>
            <a:r>
              <a:rPr lang="en-US" sz="1600" dirty="0"/>
              <a:t>, </a:t>
            </a:r>
            <a:r>
              <a:rPr lang="en-US" sz="1600" dirty="0" err="1"/>
              <a:t>tts</a:t>
            </a:r>
            <a:r>
              <a:rPr lang="en-US" sz="1600" dirty="0"/>
              <a:t>, ass, </a:t>
            </a:r>
            <a:r>
              <a:rPr lang="en-US" sz="1600" dirty="0" err="1"/>
              <a:t>dss</a:t>
            </a:r>
            <a:r>
              <a:rPr lang="en-US" sz="1600" dirty="0"/>
              <a:t>, </a:t>
            </a:r>
            <a:r>
              <a:rPr lang="en-US" sz="1600" dirty="0" err="1"/>
              <a:t>exonpart</a:t>
            </a:r>
            <a:r>
              <a:rPr lang="en-US" sz="1600" dirty="0"/>
              <a:t>, 				exon, </a:t>
            </a:r>
            <a:r>
              <a:rPr lang="en-US" sz="1600" dirty="0" err="1"/>
              <a:t>intronpart</a:t>
            </a:r>
            <a:r>
              <a:rPr lang="en-US" sz="1600" dirty="0"/>
              <a:t>, intron, </a:t>
            </a:r>
            <a:r>
              <a:rPr lang="en-US" sz="1600" dirty="0" err="1"/>
              <a:t>CDSpart</a:t>
            </a:r>
            <a:r>
              <a:rPr lang="en-US" sz="1600" dirty="0"/>
              <a:t>, CDS, </a:t>
            </a:r>
            <a:r>
              <a:rPr lang="en-US" sz="1600" dirty="0" err="1"/>
              <a:t>UTRpart</a:t>
            </a:r>
            <a:r>
              <a:rPr lang="en-US" sz="1600" dirty="0"/>
              <a:t>, UTR, </a:t>
            </a:r>
            <a:r>
              <a:rPr lang="en-US" sz="1600" dirty="0" err="1"/>
              <a:t>irpart</a:t>
            </a:r>
            <a:r>
              <a:rPr lang="en-US" sz="1600" dirty="0"/>
              <a:t>, </a:t>
            </a:r>
            <a:r>
              <a:rPr lang="en-US" sz="1600" dirty="0" err="1"/>
              <a:t>nonexonpart</a:t>
            </a:r>
            <a:r>
              <a:rPr lang="en-US" sz="1050" dirty="0"/>
              <a:t>.</a:t>
            </a:r>
          </a:p>
          <a:p>
            <a:r>
              <a:rPr lang="en-US" sz="1600" b="1" dirty="0" err="1"/>
              <a:t>GeneMark</a:t>
            </a:r>
            <a:r>
              <a:rPr lang="en-US" sz="1600" b="1" dirty="0"/>
              <a:t>-ETP 		</a:t>
            </a:r>
            <a:r>
              <a:rPr lang="en-US" sz="1600" dirty="0"/>
              <a:t>Protein and transcript based evidence hints</a:t>
            </a:r>
            <a:endParaRPr lang="en-US" sz="1600" b="1" dirty="0"/>
          </a:p>
          <a:p>
            <a:r>
              <a:rPr lang="en-US" sz="1600" b="1" dirty="0"/>
              <a:t>SNAP 			</a:t>
            </a:r>
            <a:r>
              <a:rPr lang="en-US" sz="1600" dirty="0"/>
              <a:t>Accepts EST and protein-based evidence hints.</a:t>
            </a:r>
            <a:endParaRPr lang="en-US" sz="1600" b="1" dirty="0"/>
          </a:p>
          <a:p>
            <a:r>
              <a:rPr lang="en-US" sz="1600" b="1" dirty="0"/>
              <a:t>Gnomon*		</a:t>
            </a:r>
            <a:r>
              <a:rPr lang="en-US" sz="1600" dirty="0"/>
              <a:t>Uses EST and protein alignments to guide gene prediction and add UTRs</a:t>
            </a:r>
          </a:p>
          <a:p>
            <a:r>
              <a:rPr lang="en-US" sz="1600" b="1" dirty="0"/>
              <a:t>FGENESH+		</a:t>
            </a:r>
            <a:r>
              <a:rPr lang="en-US" sz="1600" dirty="0"/>
              <a:t>Best suited for plant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4599AB-33B1-9A6F-E6FB-F125D440C4BF}"/>
              </a:ext>
            </a:extLst>
          </p:cNvPr>
          <p:cNvSpPr txBox="1"/>
          <p:nvPr/>
        </p:nvSpPr>
        <p:spPr>
          <a:xfrm>
            <a:off x="0" y="59490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Popular tools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ECDDF92-2338-C4ED-634B-E163BCFFCD3F}"/>
              </a:ext>
            </a:extLst>
          </p:cNvPr>
          <p:cNvSpPr txBox="1"/>
          <p:nvPr/>
        </p:nvSpPr>
        <p:spPr>
          <a:xfrm>
            <a:off x="663019" y="2569197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Self training!</a:t>
            </a:r>
            <a:endParaRPr lang="en-US" dirty="0"/>
          </a:p>
        </p:txBody>
      </p:sp>
      <p:sp>
        <p:nvSpPr>
          <p:cNvPr id="12" name="Espace réservé du contenu 1">
            <a:extLst>
              <a:ext uri="{FF2B5EF4-FFF2-40B4-BE49-F238E27FC236}">
                <a16:creationId xmlns:a16="http://schemas.microsoft.com/office/drawing/2014/main" id="{A7BE2711-FB77-0E94-7EA9-8826B3F1F5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Hybrid: Similarity based + </a:t>
            </a:r>
            <a:r>
              <a:rPr lang="en-GB" i="1" dirty="0"/>
              <a:t>ab initio</a:t>
            </a:r>
          </a:p>
        </p:txBody>
      </p:sp>
    </p:spTree>
    <p:extLst>
      <p:ext uri="{BB962C8B-B14F-4D97-AF65-F5344CB8AC3E}">
        <p14:creationId xmlns:p14="http://schemas.microsoft.com/office/powerpoint/2010/main" val="2000775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2" name="Espace réservé du contenu 1">
            <a:extLst>
              <a:ext uri="{FF2B5EF4-FFF2-40B4-BE49-F238E27FC236}">
                <a16:creationId xmlns:a16="http://schemas.microsoft.com/office/drawing/2014/main" id="{A7BE2711-FB77-0E94-7EA9-8826B3F1F5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Hybrid: Similarity based + </a:t>
            </a:r>
            <a:r>
              <a:rPr lang="en-GB" i="1" dirty="0"/>
              <a:t>ab initio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FE7B4E-2A0D-BE2C-CD0B-58FD20A8C8B6}"/>
              </a:ext>
            </a:extLst>
          </p:cNvPr>
          <p:cNvSpPr/>
          <p:nvPr/>
        </p:nvSpPr>
        <p:spPr>
          <a:xfrm>
            <a:off x="1718236" y="1159758"/>
            <a:ext cx="841130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BRAKER2: </a:t>
            </a:r>
            <a:r>
              <a:rPr lang="fr-FR" sz="1800" b="1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automatic</a:t>
            </a:r>
            <a:r>
              <a:rPr lang="fr-FR" sz="1800" b="1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</a:t>
            </a:r>
            <a:r>
              <a:rPr lang="fr-FR" sz="1800" b="1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eukaryotic</a:t>
            </a:r>
            <a:r>
              <a:rPr lang="fr-FR" sz="1800" b="1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</a:t>
            </a:r>
            <a:r>
              <a:rPr lang="fr-FR" sz="1800" b="1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genome</a:t>
            </a:r>
            <a:r>
              <a:rPr lang="fr-FR" sz="1800" b="1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annotation </a:t>
            </a:r>
            <a:r>
              <a:rPr lang="fr-FR" sz="1800" b="1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with</a:t>
            </a:r>
            <a:r>
              <a:rPr lang="fr-FR" sz="1800" b="1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</a:t>
            </a:r>
            <a:r>
              <a:rPr lang="fr-FR" sz="1800" b="1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GeneMark</a:t>
            </a:r>
            <a:r>
              <a:rPr lang="fr-FR" sz="1800" b="1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-EP+ and AUGUSTUS </a:t>
            </a:r>
            <a:r>
              <a:rPr lang="fr-FR" sz="1800" b="1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supported</a:t>
            </a:r>
            <a:r>
              <a:rPr lang="fr-FR" sz="1800" b="1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by a </a:t>
            </a:r>
            <a:r>
              <a:rPr lang="fr-FR" sz="1800" b="1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protein</a:t>
            </a:r>
            <a:r>
              <a:rPr lang="fr-FR" sz="1800" b="1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</a:t>
            </a:r>
            <a:r>
              <a:rPr lang="fr-FR" sz="1800" b="1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database</a:t>
            </a:r>
            <a:r>
              <a:rPr lang="fr-FR" sz="1800" b="1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. </a:t>
            </a:r>
          </a:p>
          <a:p>
            <a:r>
              <a:rPr lang="fr-FR" sz="1600" b="0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Brůna</a:t>
            </a:r>
            <a:r>
              <a:rPr lang="fr-FR" sz="1600" b="0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</a:t>
            </a:r>
            <a:r>
              <a:rPr lang="fr-FR" sz="1600" b="0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T</a:t>
            </a:r>
            <a:r>
              <a:rPr lang="fr-FR" sz="1600" b="0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, Hoff KJ, </a:t>
            </a:r>
            <a:r>
              <a:rPr lang="fr-FR" sz="1600" b="0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Lomsadze</a:t>
            </a:r>
            <a:r>
              <a:rPr lang="fr-FR" sz="1600" b="0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A, </a:t>
            </a:r>
            <a:r>
              <a:rPr lang="fr-FR" sz="1600" b="0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Stanke</a:t>
            </a:r>
            <a:r>
              <a:rPr lang="fr-FR" sz="1600" b="0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M, </a:t>
            </a:r>
            <a:r>
              <a:rPr lang="fr-FR" sz="1600" b="0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Borodovsky</a:t>
            </a:r>
            <a:r>
              <a:rPr lang="fr-FR" sz="1600" b="0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M. NAR </a:t>
            </a:r>
            <a:r>
              <a:rPr lang="fr-FR" sz="1600" b="0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Genom</a:t>
            </a:r>
            <a:r>
              <a:rPr lang="fr-FR" sz="1600" b="0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 </a:t>
            </a:r>
            <a:r>
              <a:rPr lang="fr-FR" sz="1600" b="0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Bioinform</a:t>
            </a:r>
            <a:r>
              <a:rPr lang="fr-FR" sz="1600" b="0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. 2021 Jan 6;3(1):lqaa108. </a:t>
            </a:r>
            <a:r>
              <a:rPr lang="fr-FR" sz="1600" b="0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doi</a:t>
            </a:r>
            <a:r>
              <a:rPr lang="fr-FR" sz="1600" b="0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: 10.1093/</a:t>
            </a:r>
            <a:r>
              <a:rPr lang="fr-FR" sz="1600" b="0" i="0" u="none" strike="noStrike" dirty="0" err="1">
                <a:solidFill>
                  <a:srgbClr val="1B1B1B"/>
                </a:solidFill>
                <a:effectLst/>
                <a:latin typeface="Roboto Mono Web" pitchFamily="2" charset="0"/>
              </a:rPr>
              <a:t>nargab</a:t>
            </a:r>
            <a:r>
              <a:rPr lang="fr-FR" sz="1600" b="0" i="0" u="none" strike="noStrike" dirty="0">
                <a:solidFill>
                  <a:srgbClr val="1B1B1B"/>
                </a:solidFill>
                <a:effectLst/>
                <a:latin typeface="Roboto Mono Web" pitchFamily="2" charset="0"/>
              </a:rPr>
              <a:t>/lqaa108. PMID: 33575650; PMCID: PMC7787252.</a:t>
            </a: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49F604-5C70-BA9B-DB52-29DF3FCCCE4E}"/>
              </a:ext>
            </a:extLst>
          </p:cNvPr>
          <p:cNvSpPr/>
          <p:nvPr/>
        </p:nvSpPr>
        <p:spPr>
          <a:xfrm>
            <a:off x="2648186" y="3429000"/>
            <a:ext cx="63109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Does not require pre-trained parameters or a separate expert-prepared training step.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Good result</a:t>
            </a:r>
          </a:p>
        </p:txBody>
      </p:sp>
    </p:spTree>
    <p:extLst>
      <p:ext uri="{BB962C8B-B14F-4D97-AF65-F5344CB8AC3E}">
        <p14:creationId xmlns:p14="http://schemas.microsoft.com/office/powerpoint/2010/main" val="441858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886056-5E92-FCBF-622B-7AE2D28A105F}"/>
              </a:ext>
            </a:extLst>
          </p:cNvPr>
          <p:cNvSpPr txBox="1"/>
          <p:nvPr/>
        </p:nvSpPr>
        <p:spPr>
          <a:xfrm>
            <a:off x="3044858" y="3241977"/>
            <a:ext cx="6108568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Exercise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311208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0" y="162873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</a:rPr>
              <a:t>Combiner / Chooser</a:t>
            </a:r>
            <a:endParaRPr lang="en-US" sz="3600" b="1" i="1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C21E0B-6487-3A5F-582A-9C6911D17E21}"/>
              </a:ext>
            </a:extLst>
          </p:cNvPr>
          <p:cNvSpPr/>
          <p:nvPr/>
        </p:nvSpPr>
        <p:spPr>
          <a:xfrm>
            <a:off x="0" y="5268476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i="1" dirty="0"/>
              <a:t>Combining heterogeneous data into gene models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Selection of gene models</a:t>
            </a:r>
          </a:p>
        </p:txBody>
      </p:sp>
    </p:spTree>
    <p:extLst>
      <p:ext uri="{BB962C8B-B14F-4D97-AF65-F5344CB8AC3E}">
        <p14:creationId xmlns:p14="http://schemas.microsoft.com/office/powerpoint/2010/main" val="4414264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1870999-8CC2-D0D5-5795-7D52C85C3D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Chooser / combiner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345188-8893-46AA-8882-E6745584B3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6B1A92-85DF-B53B-63EE-9A33A5214E2A}"/>
              </a:ext>
            </a:extLst>
          </p:cNvPr>
          <p:cNvSpPr/>
          <p:nvPr/>
        </p:nvSpPr>
        <p:spPr>
          <a:xfrm>
            <a:off x="1950216" y="3670698"/>
            <a:ext cx="8728911" cy="16844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5" name="Group 84">
            <a:extLst>
              <a:ext uri="{FF2B5EF4-FFF2-40B4-BE49-F238E27FC236}">
                <a16:creationId xmlns:a16="http://schemas.microsoft.com/office/drawing/2014/main" id="{7337BF92-A4D0-5AD1-E3D4-CFA3AFDD2979}"/>
              </a:ext>
            </a:extLst>
          </p:cNvPr>
          <p:cNvGrpSpPr/>
          <p:nvPr/>
        </p:nvGrpSpPr>
        <p:grpSpPr>
          <a:xfrm>
            <a:off x="3142679" y="5448090"/>
            <a:ext cx="5849354" cy="138364"/>
            <a:chOff x="1528011" y="5335001"/>
            <a:chExt cx="5849354" cy="138364"/>
          </a:xfrm>
          <a:solidFill>
            <a:schemeClr val="accent2">
              <a:lumMod val="7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63C325-8E5A-37B6-DBFA-D06B11DB9CC8}"/>
                </a:ext>
              </a:extLst>
            </p:cNvPr>
            <p:cNvSpPr/>
            <p:nvPr/>
          </p:nvSpPr>
          <p:spPr>
            <a:xfrm>
              <a:off x="1608222" y="5365080"/>
              <a:ext cx="5688932" cy="691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84872A-4291-C52A-7CDA-09D69319273A}"/>
                </a:ext>
              </a:extLst>
            </p:cNvPr>
            <p:cNvSpPr/>
            <p:nvPr/>
          </p:nvSpPr>
          <p:spPr>
            <a:xfrm>
              <a:off x="1840829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5C0D94-38D0-458B-A1C5-54B6C6DB129A}"/>
                </a:ext>
              </a:extLst>
            </p:cNvPr>
            <p:cNvSpPr/>
            <p:nvPr/>
          </p:nvSpPr>
          <p:spPr>
            <a:xfrm>
              <a:off x="2642935" y="5335001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E310A5-2D16-0F4A-263C-36EF77B62C52}"/>
                </a:ext>
              </a:extLst>
            </p:cNvPr>
            <p:cNvSpPr/>
            <p:nvPr/>
          </p:nvSpPr>
          <p:spPr>
            <a:xfrm>
              <a:off x="5153524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E5071A-B84D-01D8-629A-77C9A17D7B48}"/>
                </a:ext>
              </a:extLst>
            </p:cNvPr>
            <p:cNvSpPr/>
            <p:nvPr/>
          </p:nvSpPr>
          <p:spPr>
            <a:xfrm>
              <a:off x="6364704" y="5335003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503AE4-AA81-0FCE-60BD-964E4546A102}"/>
                </a:ext>
              </a:extLst>
            </p:cNvPr>
            <p:cNvSpPr/>
            <p:nvPr/>
          </p:nvSpPr>
          <p:spPr>
            <a:xfrm>
              <a:off x="6553199" y="533500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2F1109-921C-F924-96AF-EC28C6AA3C8C}"/>
                </a:ext>
              </a:extLst>
            </p:cNvPr>
            <p:cNvSpPr/>
            <p:nvPr/>
          </p:nvSpPr>
          <p:spPr>
            <a:xfrm>
              <a:off x="7297153" y="5354609"/>
              <a:ext cx="80212" cy="11424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F93249-A3D1-B681-C174-133224BBA01C}"/>
                </a:ext>
              </a:extLst>
            </p:cNvPr>
            <p:cNvSpPr/>
            <p:nvPr/>
          </p:nvSpPr>
          <p:spPr>
            <a:xfrm>
              <a:off x="1528011" y="5335003"/>
              <a:ext cx="116304" cy="133848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4" name="TextBox 95">
            <a:extLst>
              <a:ext uri="{FF2B5EF4-FFF2-40B4-BE49-F238E27FC236}">
                <a16:creationId xmlns:a16="http://schemas.microsoft.com/office/drawing/2014/main" id="{7E5C7961-DF99-5E84-8F86-D5F48F634535}"/>
              </a:ext>
            </a:extLst>
          </p:cNvPr>
          <p:cNvSpPr txBox="1"/>
          <p:nvPr/>
        </p:nvSpPr>
        <p:spPr>
          <a:xfrm>
            <a:off x="3448872" y="1055949"/>
            <a:ext cx="117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Evidence</a:t>
            </a:r>
            <a:r>
              <a:rPr lang="sv-SE" dirty="0"/>
              <a:t>: </a:t>
            </a:r>
          </a:p>
        </p:txBody>
      </p:sp>
      <p:sp>
        <p:nvSpPr>
          <p:cNvPr id="15" name="TextBox 96">
            <a:extLst>
              <a:ext uri="{FF2B5EF4-FFF2-40B4-BE49-F238E27FC236}">
                <a16:creationId xmlns:a16="http://schemas.microsoft.com/office/drawing/2014/main" id="{4AEADA1E-8742-BA3F-7EA2-C04D8ECE4703}"/>
              </a:ext>
            </a:extLst>
          </p:cNvPr>
          <p:cNvSpPr txBox="1"/>
          <p:nvPr/>
        </p:nvSpPr>
        <p:spPr>
          <a:xfrm>
            <a:off x="4541495" y="1055949"/>
            <a:ext cx="179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ESTs / Transcripts</a:t>
            </a:r>
          </a:p>
        </p:txBody>
      </p:sp>
      <p:sp>
        <p:nvSpPr>
          <p:cNvPr id="16" name="TextBox 98">
            <a:extLst>
              <a:ext uri="{FF2B5EF4-FFF2-40B4-BE49-F238E27FC236}">
                <a16:creationId xmlns:a16="http://schemas.microsoft.com/office/drawing/2014/main" id="{EC30E7F9-1A7C-C134-FF4A-158579D0817A}"/>
              </a:ext>
            </a:extLst>
          </p:cNvPr>
          <p:cNvSpPr txBox="1"/>
          <p:nvPr/>
        </p:nvSpPr>
        <p:spPr>
          <a:xfrm>
            <a:off x="3450111" y="1355619"/>
            <a:ext cx="4428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Gene</a:t>
            </a:r>
            <a:r>
              <a:rPr lang="sv-SE" i="1" dirty="0"/>
              <a:t> </a:t>
            </a:r>
            <a:r>
              <a:rPr lang="sv-SE" dirty="0" err="1"/>
              <a:t>prediction</a:t>
            </a:r>
            <a:r>
              <a:rPr lang="sv-SE" dirty="0"/>
              <a:t> (</a:t>
            </a:r>
            <a:r>
              <a:rPr lang="sv-SE" i="1" dirty="0"/>
              <a:t>ab-</a:t>
            </a:r>
            <a:r>
              <a:rPr lang="sv-SE" i="1" dirty="0" err="1"/>
              <a:t>initio</a:t>
            </a:r>
            <a:r>
              <a:rPr lang="sv-SE" i="1" dirty="0"/>
              <a:t> </a:t>
            </a:r>
            <a:r>
              <a:rPr lang="sv-SE" dirty="0"/>
              <a:t>or </a:t>
            </a:r>
            <a:r>
              <a:rPr lang="sv-SE" dirty="0" err="1"/>
              <a:t>evidence-based</a:t>
            </a:r>
            <a:r>
              <a:rPr lang="sv-SE" dirty="0"/>
              <a:t>)</a:t>
            </a:r>
          </a:p>
        </p:txBody>
      </p:sp>
      <p:sp>
        <p:nvSpPr>
          <p:cNvPr id="17" name="TextBox 99">
            <a:extLst>
              <a:ext uri="{FF2B5EF4-FFF2-40B4-BE49-F238E27FC236}">
                <a16:creationId xmlns:a16="http://schemas.microsoft.com/office/drawing/2014/main" id="{358D1EDD-7D37-6772-35BF-63C001BE1662}"/>
              </a:ext>
            </a:extLst>
          </p:cNvPr>
          <p:cNvSpPr txBox="1"/>
          <p:nvPr/>
        </p:nvSpPr>
        <p:spPr>
          <a:xfrm>
            <a:off x="6355158" y="105594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Proteins</a:t>
            </a:r>
          </a:p>
        </p:txBody>
      </p:sp>
      <p:grpSp>
        <p:nvGrpSpPr>
          <p:cNvPr id="18" name="Group 103">
            <a:extLst>
              <a:ext uri="{FF2B5EF4-FFF2-40B4-BE49-F238E27FC236}">
                <a16:creationId xmlns:a16="http://schemas.microsoft.com/office/drawing/2014/main" id="{A47B54B6-472E-BFB6-E40B-427AF81A921F}"/>
              </a:ext>
            </a:extLst>
          </p:cNvPr>
          <p:cNvGrpSpPr/>
          <p:nvPr/>
        </p:nvGrpSpPr>
        <p:grpSpPr>
          <a:xfrm>
            <a:off x="3142679" y="3332817"/>
            <a:ext cx="5841332" cy="142876"/>
            <a:chOff x="1528011" y="5330489"/>
            <a:chExt cx="5841332" cy="142876"/>
          </a:xfrm>
          <a:solidFill>
            <a:schemeClr val="accent2">
              <a:lumMod val="75000"/>
            </a:schemeClr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E482784-9E1E-7D03-02B0-D9E0CEBF0B0B}"/>
                </a:ext>
              </a:extLst>
            </p:cNvPr>
            <p:cNvSpPr/>
            <p:nvPr/>
          </p:nvSpPr>
          <p:spPr>
            <a:xfrm>
              <a:off x="1608222" y="5365080"/>
              <a:ext cx="5688932" cy="691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0D4CDFE-BF8C-2F23-D8E8-B88C4DEF376A}"/>
                </a:ext>
              </a:extLst>
            </p:cNvPr>
            <p:cNvSpPr/>
            <p:nvPr/>
          </p:nvSpPr>
          <p:spPr>
            <a:xfrm>
              <a:off x="1840829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AADD180-8510-20BC-379D-E816FDCD1304}"/>
                </a:ext>
              </a:extLst>
            </p:cNvPr>
            <p:cNvSpPr/>
            <p:nvPr/>
          </p:nvSpPr>
          <p:spPr>
            <a:xfrm>
              <a:off x="2642935" y="5335001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CB59965-8FEB-2323-A5A7-70CC58532A65}"/>
                </a:ext>
              </a:extLst>
            </p:cNvPr>
            <p:cNvSpPr/>
            <p:nvPr/>
          </p:nvSpPr>
          <p:spPr>
            <a:xfrm>
              <a:off x="5151184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2D6103B-BAF9-703A-D849-4585657FFCE8}"/>
                </a:ext>
              </a:extLst>
            </p:cNvPr>
            <p:cNvSpPr/>
            <p:nvPr/>
          </p:nvSpPr>
          <p:spPr>
            <a:xfrm>
              <a:off x="6362364" y="5335003"/>
              <a:ext cx="7453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8C976F3-7B03-93C0-4DD6-81157EC52422}"/>
                </a:ext>
              </a:extLst>
            </p:cNvPr>
            <p:cNvSpPr/>
            <p:nvPr/>
          </p:nvSpPr>
          <p:spPr>
            <a:xfrm>
              <a:off x="6553199" y="533500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AFBCEC-EA7D-3BC3-CE7F-B15F3A5E3E42}"/>
                </a:ext>
              </a:extLst>
            </p:cNvPr>
            <p:cNvSpPr/>
            <p:nvPr/>
          </p:nvSpPr>
          <p:spPr>
            <a:xfrm>
              <a:off x="7297153" y="533048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E69A989-A014-7F05-338B-D4F5C794567F}"/>
                </a:ext>
              </a:extLst>
            </p:cNvPr>
            <p:cNvSpPr/>
            <p:nvPr/>
          </p:nvSpPr>
          <p:spPr>
            <a:xfrm>
              <a:off x="1528011" y="5335003"/>
              <a:ext cx="116304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7" name="Group 113">
            <a:extLst>
              <a:ext uri="{FF2B5EF4-FFF2-40B4-BE49-F238E27FC236}">
                <a16:creationId xmlns:a16="http://schemas.microsoft.com/office/drawing/2014/main" id="{BCD12062-7A10-F9E6-7E19-820AEB8FCD37}"/>
              </a:ext>
            </a:extLst>
          </p:cNvPr>
          <p:cNvGrpSpPr/>
          <p:nvPr/>
        </p:nvGrpSpPr>
        <p:grpSpPr>
          <a:xfrm>
            <a:off x="3142679" y="4816033"/>
            <a:ext cx="5095038" cy="379668"/>
            <a:chOff x="1500274" y="4683203"/>
            <a:chExt cx="5095038" cy="379668"/>
          </a:xfrm>
          <a:solidFill>
            <a:schemeClr val="accent5"/>
          </a:solidFill>
        </p:grpSpPr>
        <p:grpSp>
          <p:nvGrpSpPr>
            <p:cNvPr id="28" name="Group 114">
              <a:extLst>
                <a:ext uri="{FF2B5EF4-FFF2-40B4-BE49-F238E27FC236}">
                  <a16:creationId xmlns:a16="http://schemas.microsoft.com/office/drawing/2014/main" id="{C8FB99B0-8E26-8491-37F1-C51D33FAEA49}"/>
                </a:ext>
              </a:extLst>
            </p:cNvPr>
            <p:cNvGrpSpPr/>
            <p:nvPr/>
          </p:nvGrpSpPr>
          <p:grpSpPr>
            <a:xfrm>
              <a:off x="1810753" y="4683203"/>
              <a:ext cx="4784559" cy="138366"/>
              <a:chOff x="1840829" y="5852357"/>
              <a:chExt cx="4784559" cy="138366"/>
            </a:xfrm>
            <a:grpFill/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580C240-9184-5C79-A58D-0CA02653BD5A}"/>
                  </a:ext>
                </a:extLst>
              </p:cNvPr>
              <p:cNvSpPr/>
              <p:nvPr/>
            </p:nvSpPr>
            <p:spPr>
              <a:xfrm>
                <a:off x="1840829" y="5852360"/>
                <a:ext cx="282742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C030FE8-02A0-E4C7-E112-3394195F7A0A}"/>
                  </a:ext>
                </a:extLst>
              </p:cNvPr>
              <p:cNvSpPr/>
              <p:nvPr/>
            </p:nvSpPr>
            <p:spPr>
              <a:xfrm>
                <a:off x="2642934" y="5852359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5D266BA-14DA-229A-97BC-9D821904F2ED}"/>
                  </a:ext>
                </a:extLst>
              </p:cNvPr>
              <p:cNvSpPr/>
              <p:nvPr/>
            </p:nvSpPr>
            <p:spPr>
              <a:xfrm>
                <a:off x="5153523" y="5852360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5FCBEFD-BEA8-65AD-9E66-47222DCA1437}"/>
                  </a:ext>
                </a:extLst>
              </p:cNvPr>
              <p:cNvSpPr/>
              <p:nvPr/>
            </p:nvSpPr>
            <p:spPr>
              <a:xfrm>
                <a:off x="6364703" y="5852361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9DE6AF4-9766-09D7-08AC-0C4EB7AA44C1}"/>
                  </a:ext>
                </a:extLst>
              </p:cNvPr>
              <p:cNvSpPr/>
              <p:nvPr/>
            </p:nvSpPr>
            <p:spPr>
              <a:xfrm>
                <a:off x="6553198" y="5852359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F166AC5-A4E0-E314-E030-59D2FD857F02}"/>
                  </a:ext>
                </a:extLst>
              </p:cNvPr>
              <p:cNvSpPr/>
              <p:nvPr/>
            </p:nvSpPr>
            <p:spPr>
              <a:xfrm>
                <a:off x="2153653" y="5852358"/>
                <a:ext cx="282742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DDAA95F-3AB0-1E38-680F-E435B206F4E3}"/>
                  </a:ext>
                </a:extLst>
              </p:cNvPr>
              <p:cNvSpPr/>
              <p:nvPr/>
            </p:nvSpPr>
            <p:spPr>
              <a:xfrm>
                <a:off x="3917096" y="5852357"/>
                <a:ext cx="110473" cy="138366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grpSp>
          <p:nvGrpSpPr>
            <p:cNvPr id="29" name="Group 115">
              <a:extLst>
                <a:ext uri="{FF2B5EF4-FFF2-40B4-BE49-F238E27FC236}">
                  <a16:creationId xmlns:a16="http://schemas.microsoft.com/office/drawing/2014/main" id="{C01F0347-F62D-4E95-BED8-E438B272B158}"/>
                </a:ext>
              </a:extLst>
            </p:cNvPr>
            <p:cNvGrpSpPr/>
            <p:nvPr/>
          </p:nvGrpSpPr>
          <p:grpSpPr>
            <a:xfrm>
              <a:off x="1500274" y="4924506"/>
              <a:ext cx="5095038" cy="138365"/>
              <a:chOff x="1530350" y="5852358"/>
              <a:chExt cx="5095038" cy="138365"/>
            </a:xfrm>
            <a:grp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FD893F9-091D-BCC4-853B-627A7604AD18}"/>
                  </a:ext>
                </a:extLst>
              </p:cNvPr>
              <p:cNvSpPr/>
              <p:nvPr/>
            </p:nvSpPr>
            <p:spPr>
              <a:xfrm>
                <a:off x="1530350" y="5852361"/>
                <a:ext cx="116304" cy="138361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689C4AF-2954-0A9F-BCBD-CC5B524AE352}"/>
                  </a:ext>
                </a:extLst>
              </p:cNvPr>
              <p:cNvSpPr/>
              <p:nvPr/>
            </p:nvSpPr>
            <p:spPr>
              <a:xfrm>
                <a:off x="2642934" y="5852359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90C72EF-DABB-6D70-AB75-0FF9A9C63A5B}"/>
                  </a:ext>
                </a:extLst>
              </p:cNvPr>
              <p:cNvSpPr/>
              <p:nvPr/>
            </p:nvSpPr>
            <p:spPr>
              <a:xfrm>
                <a:off x="5153523" y="5852360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21A49E9-802F-23B7-24D0-A263D9C74A1D}"/>
                  </a:ext>
                </a:extLst>
              </p:cNvPr>
              <p:cNvSpPr/>
              <p:nvPr/>
            </p:nvSpPr>
            <p:spPr>
              <a:xfrm>
                <a:off x="6364703" y="5852361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B910FA8-05F0-09A2-806A-1D04D65B5614}"/>
                  </a:ext>
                </a:extLst>
              </p:cNvPr>
              <p:cNvSpPr/>
              <p:nvPr/>
            </p:nvSpPr>
            <p:spPr>
              <a:xfrm>
                <a:off x="6553198" y="5852359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34C3FB0-A477-B92B-22D3-2852DBD1C759}"/>
                  </a:ext>
                </a:extLst>
              </p:cNvPr>
              <p:cNvSpPr/>
              <p:nvPr/>
            </p:nvSpPr>
            <p:spPr>
              <a:xfrm>
                <a:off x="1843169" y="5852358"/>
                <a:ext cx="593226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grpSp>
        <p:nvGrpSpPr>
          <p:cNvPr id="43" name="Group 129">
            <a:extLst>
              <a:ext uri="{FF2B5EF4-FFF2-40B4-BE49-F238E27FC236}">
                <a16:creationId xmlns:a16="http://schemas.microsoft.com/office/drawing/2014/main" id="{943D75F7-8591-B914-92B6-01DD77A2909E}"/>
              </a:ext>
            </a:extLst>
          </p:cNvPr>
          <p:cNvGrpSpPr/>
          <p:nvPr/>
        </p:nvGrpSpPr>
        <p:grpSpPr>
          <a:xfrm>
            <a:off x="2853920" y="3958783"/>
            <a:ext cx="6442698" cy="741948"/>
            <a:chOff x="1239252" y="5210265"/>
            <a:chExt cx="6442698" cy="741948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87E0350-15ED-B779-4AB9-DD4CB3FD7981}"/>
                </a:ext>
              </a:extLst>
            </p:cNvPr>
            <p:cNvSpPr/>
            <p:nvPr/>
          </p:nvSpPr>
          <p:spPr>
            <a:xfrm>
              <a:off x="2642937" y="5210265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70F93D5-73F6-DD8D-0957-C7D57C490646}"/>
                </a:ext>
              </a:extLst>
            </p:cNvPr>
            <p:cNvSpPr/>
            <p:nvPr/>
          </p:nvSpPr>
          <p:spPr>
            <a:xfrm>
              <a:off x="5153526" y="5210266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5FD8B53-C5BE-5198-BCBD-16076834CC49}"/>
                </a:ext>
              </a:extLst>
            </p:cNvPr>
            <p:cNvSpPr/>
            <p:nvPr/>
          </p:nvSpPr>
          <p:spPr>
            <a:xfrm>
              <a:off x="6364706" y="5210267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57D8EEE-8EDC-7172-4D89-A2361FEB98D3}"/>
                </a:ext>
              </a:extLst>
            </p:cNvPr>
            <p:cNvSpPr/>
            <p:nvPr/>
          </p:nvSpPr>
          <p:spPr>
            <a:xfrm>
              <a:off x="6553201" y="5210265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CDD12E7-E037-1F9C-3EFB-312EEC85E600}"/>
                </a:ext>
              </a:extLst>
            </p:cNvPr>
            <p:cNvSpPr/>
            <p:nvPr/>
          </p:nvSpPr>
          <p:spPr>
            <a:xfrm>
              <a:off x="1840830" y="5549156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4CC54C0-F3CB-D715-F0A0-5E09AC122670}"/>
                </a:ext>
              </a:extLst>
            </p:cNvPr>
            <p:cNvSpPr/>
            <p:nvPr/>
          </p:nvSpPr>
          <p:spPr>
            <a:xfrm>
              <a:off x="2719137" y="5549155"/>
              <a:ext cx="489284" cy="138364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0D81914-A40E-5744-2B31-07AFFE3F6D78}"/>
                </a:ext>
              </a:extLst>
            </p:cNvPr>
            <p:cNvSpPr/>
            <p:nvPr/>
          </p:nvSpPr>
          <p:spPr>
            <a:xfrm>
              <a:off x="5153525" y="5549156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210EC2-25B9-2A08-B2B5-F2C06F60C747}"/>
                </a:ext>
              </a:extLst>
            </p:cNvPr>
            <p:cNvSpPr/>
            <p:nvPr/>
          </p:nvSpPr>
          <p:spPr>
            <a:xfrm>
              <a:off x="6364705" y="5549157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D284C3C-2EE6-FE87-84A1-E3AB95DA575C}"/>
                </a:ext>
              </a:extLst>
            </p:cNvPr>
            <p:cNvSpPr/>
            <p:nvPr/>
          </p:nvSpPr>
          <p:spPr>
            <a:xfrm>
              <a:off x="1239252" y="5544145"/>
              <a:ext cx="405063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FD01A5B-63AF-F49D-9971-D0A90E15663E}"/>
                </a:ext>
              </a:extLst>
            </p:cNvPr>
            <p:cNvSpPr/>
            <p:nvPr/>
          </p:nvSpPr>
          <p:spPr>
            <a:xfrm>
              <a:off x="2642936" y="5813849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A017B66-77A0-0637-213C-10847FEB10EC}"/>
                </a:ext>
              </a:extLst>
            </p:cNvPr>
            <p:cNvSpPr/>
            <p:nvPr/>
          </p:nvSpPr>
          <p:spPr>
            <a:xfrm>
              <a:off x="5153525" y="5813850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5AE0787-66EB-7A09-0AB8-AF4DDA7F9C31}"/>
                </a:ext>
              </a:extLst>
            </p:cNvPr>
            <p:cNvSpPr/>
            <p:nvPr/>
          </p:nvSpPr>
          <p:spPr>
            <a:xfrm>
              <a:off x="6364705" y="581385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5BC7917-1052-60F3-6120-C24BD487F738}"/>
                </a:ext>
              </a:extLst>
            </p:cNvPr>
            <p:cNvSpPr/>
            <p:nvPr/>
          </p:nvSpPr>
          <p:spPr>
            <a:xfrm>
              <a:off x="6553200" y="581384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5D703F1-D336-9028-F97D-4233B0CE3382}"/>
                </a:ext>
              </a:extLst>
            </p:cNvPr>
            <p:cNvSpPr/>
            <p:nvPr/>
          </p:nvSpPr>
          <p:spPr>
            <a:xfrm>
              <a:off x="7297153" y="5813849"/>
              <a:ext cx="384797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7CCF438-7ECA-BE8E-F43B-6E58AF510190}"/>
                </a:ext>
              </a:extLst>
            </p:cNvPr>
            <p:cNvSpPr/>
            <p:nvPr/>
          </p:nvSpPr>
          <p:spPr>
            <a:xfrm>
              <a:off x="1239252" y="5813849"/>
              <a:ext cx="405063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F465DF8-8983-CCD5-C1E3-4CE8979DA852}"/>
                </a:ext>
              </a:extLst>
            </p:cNvPr>
            <p:cNvSpPr/>
            <p:nvPr/>
          </p:nvSpPr>
          <p:spPr>
            <a:xfrm>
              <a:off x="3807998" y="5813848"/>
              <a:ext cx="20854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60" name="Group 146">
            <a:extLst>
              <a:ext uri="{FF2B5EF4-FFF2-40B4-BE49-F238E27FC236}">
                <a16:creationId xmlns:a16="http://schemas.microsoft.com/office/drawing/2014/main" id="{EB7DDE66-C123-09CE-5A38-F53A57E93AB8}"/>
              </a:ext>
            </a:extLst>
          </p:cNvPr>
          <p:cNvGrpSpPr/>
          <p:nvPr/>
        </p:nvGrpSpPr>
        <p:grpSpPr>
          <a:xfrm>
            <a:off x="2853920" y="2676379"/>
            <a:ext cx="6442698" cy="3334461"/>
            <a:chOff x="1194802" y="3776160"/>
            <a:chExt cx="6442698" cy="2959100"/>
          </a:xfrm>
        </p:grpSpPr>
        <p:cxnSp>
          <p:nvCxnSpPr>
            <p:cNvPr id="61" name="Straight Connector 147">
              <a:extLst>
                <a:ext uri="{FF2B5EF4-FFF2-40B4-BE49-F238E27FC236}">
                  <a16:creationId xmlns:a16="http://schemas.microsoft.com/office/drawing/2014/main" id="{5CC85825-D925-C96A-E8EF-C6AE6F6EE1F1}"/>
                </a:ext>
              </a:extLst>
            </p:cNvPr>
            <p:cNvCxnSpPr/>
            <p:nvPr/>
          </p:nvCxnSpPr>
          <p:spPr>
            <a:xfrm>
              <a:off x="1194802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Straight Connector 148">
              <a:extLst>
                <a:ext uri="{FF2B5EF4-FFF2-40B4-BE49-F238E27FC236}">
                  <a16:creationId xmlns:a16="http://schemas.microsoft.com/office/drawing/2014/main" id="{E70E1938-0D6B-2E8F-E09D-55A128FF1515}"/>
                </a:ext>
              </a:extLst>
            </p:cNvPr>
            <p:cNvCxnSpPr/>
            <p:nvPr/>
          </p:nvCxnSpPr>
          <p:spPr>
            <a:xfrm>
              <a:off x="1599865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Straight Connector 149">
              <a:extLst>
                <a:ext uri="{FF2B5EF4-FFF2-40B4-BE49-F238E27FC236}">
                  <a16:creationId xmlns:a16="http://schemas.microsoft.com/office/drawing/2014/main" id="{95377091-2F9C-FB55-45BF-D6402A088137}"/>
                </a:ext>
              </a:extLst>
            </p:cNvPr>
            <p:cNvCxnSpPr/>
            <p:nvPr/>
          </p:nvCxnSpPr>
          <p:spPr>
            <a:xfrm>
              <a:off x="1483561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Straight Connector 150">
              <a:extLst>
                <a:ext uri="{FF2B5EF4-FFF2-40B4-BE49-F238E27FC236}">
                  <a16:creationId xmlns:a16="http://schemas.microsoft.com/office/drawing/2014/main" id="{FCBCE682-1A16-EAB8-AA25-53374DB2A575}"/>
                </a:ext>
              </a:extLst>
            </p:cNvPr>
            <p:cNvCxnSpPr/>
            <p:nvPr/>
          </p:nvCxnSpPr>
          <p:spPr>
            <a:xfrm>
              <a:off x="1797047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Straight Connector 151">
              <a:extLst>
                <a:ext uri="{FF2B5EF4-FFF2-40B4-BE49-F238E27FC236}">
                  <a16:creationId xmlns:a16="http://schemas.microsoft.com/office/drawing/2014/main" id="{1DE4BB7F-4927-BF28-B833-575987E85ED5}"/>
                </a:ext>
              </a:extLst>
            </p:cNvPr>
            <p:cNvCxnSpPr/>
            <p:nvPr/>
          </p:nvCxnSpPr>
          <p:spPr>
            <a:xfrm>
              <a:off x="2361864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6" name="Straight Connector 152">
              <a:extLst>
                <a:ext uri="{FF2B5EF4-FFF2-40B4-BE49-F238E27FC236}">
                  <a16:creationId xmlns:a16="http://schemas.microsoft.com/office/drawing/2014/main" id="{5C0CD09F-ADEC-0916-E284-406FF4E00600}"/>
                </a:ext>
              </a:extLst>
            </p:cNvPr>
            <p:cNvCxnSpPr/>
            <p:nvPr/>
          </p:nvCxnSpPr>
          <p:spPr>
            <a:xfrm>
              <a:off x="2596145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Straight Connector 153">
              <a:extLst>
                <a:ext uri="{FF2B5EF4-FFF2-40B4-BE49-F238E27FC236}">
                  <a16:creationId xmlns:a16="http://schemas.microsoft.com/office/drawing/2014/main" id="{08091725-08F8-02CB-1810-68338A1E5CF5}"/>
                </a:ext>
              </a:extLst>
            </p:cNvPr>
            <p:cNvCxnSpPr/>
            <p:nvPr/>
          </p:nvCxnSpPr>
          <p:spPr>
            <a:xfrm>
              <a:off x="3161630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Straight Connector 154">
              <a:extLst>
                <a:ext uri="{FF2B5EF4-FFF2-40B4-BE49-F238E27FC236}">
                  <a16:creationId xmlns:a16="http://schemas.microsoft.com/office/drawing/2014/main" id="{CD70A44E-DB72-22DA-C46E-E57FF12F99FA}"/>
                </a:ext>
              </a:extLst>
            </p:cNvPr>
            <p:cNvCxnSpPr/>
            <p:nvPr/>
          </p:nvCxnSpPr>
          <p:spPr>
            <a:xfrm>
              <a:off x="5109076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Straight Connector 155">
              <a:extLst>
                <a:ext uri="{FF2B5EF4-FFF2-40B4-BE49-F238E27FC236}">
                  <a16:creationId xmlns:a16="http://schemas.microsoft.com/office/drawing/2014/main" id="{D5EF3543-E5B0-A15C-BD12-5CFB70EDE942}"/>
                </a:ext>
              </a:extLst>
            </p:cNvPr>
            <p:cNvCxnSpPr/>
            <p:nvPr/>
          </p:nvCxnSpPr>
          <p:spPr>
            <a:xfrm>
              <a:off x="5674559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Straight Connector 156">
              <a:extLst>
                <a:ext uri="{FF2B5EF4-FFF2-40B4-BE49-F238E27FC236}">
                  <a16:creationId xmlns:a16="http://schemas.microsoft.com/office/drawing/2014/main" id="{BBDB00CE-8F98-3189-BE55-741C420D71B5}"/>
                </a:ext>
              </a:extLst>
            </p:cNvPr>
            <p:cNvCxnSpPr/>
            <p:nvPr/>
          </p:nvCxnSpPr>
          <p:spPr>
            <a:xfrm>
              <a:off x="6317914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Straight Connector 157">
              <a:extLst>
                <a:ext uri="{FF2B5EF4-FFF2-40B4-BE49-F238E27FC236}">
                  <a16:creationId xmlns:a16="http://schemas.microsoft.com/office/drawing/2014/main" id="{B0C74417-B048-1AE5-9F72-8397562A1A54}"/>
                </a:ext>
              </a:extLst>
            </p:cNvPr>
            <p:cNvCxnSpPr/>
            <p:nvPr/>
          </p:nvCxnSpPr>
          <p:spPr>
            <a:xfrm>
              <a:off x="6389768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Straight Connector 158">
              <a:extLst>
                <a:ext uri="{FF2B5EF4-FFF2-40B4-BE49-F238E27FC236}">
                  <a16:creationId xmlns:a16="http://schemas.microsoft.com/office/drawing/2014/main" id="{0AB5E199-6EAF-1973-8091-A9F10B24A21D}"/>
                </a:ext>
              </a:extLst>
            </p:cNvPr>
            <p:cNvCxnSpPr/>
            <p:nvPr/>
          </p:nvCxnSpPr>
          <p:spPr>
            <a:xfrm>
              <a:off x="6508751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Straight Connector 159">
              <a:extLst>
                <a:ext uri="{FF2B5EF4-FFF2-40B4-BE49-F238E27FC236}">
                  <a16:creationId xmlns:a16="http://schemas.microsoft.com/office/drawing/2014/main" id="{3F1668B0-33D3-4E11-16DA-9F05B4B2007B}"/>
                </a:ext>
              </a:extLst>
            </p:cNvPr>
            <p:cNvCxnSpPr/>
            <p:nvPr/>
          </p:nvCxnSpPr>
          <p:spPr>
            <a:xfrm>
              <a:off x="6578599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Straight Connector 160">
              <a:extLst>
                <a:ext uri="{FF2B5EF4-FFF2-40B4-BE49-F238E27FC236}">
                  <a16:creationId xmlns:a16="http://schemas.microsoft.com/office/drawing/2014/main" id="{8CFF5887-D46D-7D34-5B81-E8CDC7793762}"/>
                </a:ext>
              </a:extLst>
            </p:cNvPr>
            <p:cNvCxnSpPr/>
            <p:nvPr/>
          </p:nvCxnSpPr>
          <p:spPr>
            <a:xfrm>
              <a:off x="7252703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Straight Connector 161">
              <a:extLst>
                <a:ext uri="{FF2B5EF4-FFF2-40B4-BE49-F238E27FC236}">
                  <a16:creationId xmlns:a16="http://schemas.microsoft.com/office/drawing/2014/main" id="{70469D06-9316-36A3-11AB-053134C6450B}"/>
                </a:ext>
              </a:extLst>
            </p:cNvPr>
            <p:cNvCxnSpPr/>
            <p:nvPr/>
          </p:nvCxnSpPr>
          <p:spPr>
            <a:xfrm>
              <a:off x="7637500" y="3776160"/>
              <a:ext cx="0" cy="2959100"/>
            </a:xfrm>
            <a:prstGeom prst="line">
              <a:avLst/>
            </a:prstGeom>
            <a:solidFill>
              <a:schemeClr val="accent5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6" name="Group 165">
            <a:extLst>
              <a:ext uri="{FF2B5EF4-FFF2-40B4-BE49-F238E27FC236}">
                <a16:creationId xmlns:a16="http://schemas.microsoft.com/office/drawing/2014/main" id="{A640556F-D9D3-31E5-CE25-B10D918AC5C8}"/>
              </a:ext>
            </a:extLst>
          </p:cNvPr>
          <p:cNvGrpSpPr/>
          <p:nvPr/>
        </p:nvGrpSpPr>
        <p:grpSpPr>
          <a:xfrm>
            <a:off x="3142679" y="3107138"/>
            <a:ext cx="5841332" cy="142876"/>
            <a:chOff x="1528011" y="5330489"/>
            <a:chExt cx="5841332" cy="142876"/>
          </a:xfrm>
          <a:solidFill>
            <a:schemeClr val="accent2">
              <a:lumMod val="75000"/>
            </a:schemeClr>
          </a:solidFill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054E540-AAEC-BED7-8D3C-3257BEB6E935}"/>
                </a:ext>
              </a:extLst>
            </p:cNvPr>
            <p:cNvSpPr/>
            <p:nvPr/>
          </p:nvSpPr>
          <p:spPr>
            <a:xfrm>
              <a:off x="1608222" y="5365080"/>
              <a:ext cx="5688932" cy="691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D5FF1B7-861F-FC6D-D4A6-5B332225DCD0}"/>
                </a:ext>
              </a:extLst>
            </p:cNvPr>
            <p:cNvSpPr/>
            <p:nvPr/>
          </p:nvSpPr>
          <p:spPr>
            <a:xfrm>
              <a:off x="3733800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73D05EF-1552-F037-391D-CAFE31949FC3}"/>
                </a:ext>
              </a:extLst>
            </p:cNvPr>
            <p:cNvSpPr/>
            <p:nvPr/>
          </p:nvSpPr>
          <p:spPr>
            <a:xfrm>
              <a:off x="2642935" y="5335001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A1994FE-1962-C603-EA7C-FCE4BCAB94AE}"/>
                </a:ext>
              </a:extLst>
            </p:cNvPr>
            <p:cNvSpPr/>
            <p:nvPr/>
          </p:nvSpPr>
          <p:spPr>
            <a:xfrm>
              <a:off x="5151184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ED430CE-1B27-A5F2-6A27-8A242C097650}"/>
                </a:ext>
              </a:extLst>
            </p:cNvPr>
            <p:cNvSpPr/>
            <p:nvPr/>
          </p:nvSpPr>
          <p:spPr>
            <a:xfrm>
              <a:off x="6362364" y="5335003"/>
              <a:ext cx="7453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DE1AB76-B74D-CFBD-9BA3-363607C27C46}"/>
                </a:ext>
              </a:extLst>
            </p:cNvPr>
            <p:cNvSpPr/>
            <p:nvPr/>
          </p:nvSpPr>
          <p:spPr>
            <a:xfrm>
              <a:off x="6553199" y="533500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75902CB-3EC5-09EC-B0B8-0C5814F58F35}"/>
                </a:ext>
              </a:extLst>
            </p:cNvPr>
            <p:cNvSpPr/>
            <p:nvPr/>
          </p:nvSpPr>
          <p:spPr>
            <a:xfrm>
              <a:off x="7297153" y="533048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0F16E1A-2857-131E-C683-714C86DDCDD5}"/>
                </a:ext>
              </a:extLst>
            </p:cNvPr>
            <p:cNvSpPr/>
            <p:nvPr/>
          </p:nvSpPr>
          <p:spPr>
            <a:xfrm>
              <a:off x="1528011" y="5335003"/>
              <a:ext cx="116304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85" name="Group 175">
            <a:extLst>
              <a:ext uri="{FF2B5EF4-FFF2-40B4-BE49-F238E27FC236}">
                <a16:creationId xmlns:a16="http://schemas.microsoft.com/office/drawing/2014/main" id="{4303116D-5665-183D-AA38-06EBFAB6106F}"/>
              </a:ext>
            </a:extLst>
          </p:cNvPr>
          <p:cNvGrpSpPr/>
          <p:nvPr/>
        </p:nvGrpSpPr>
        <p:grpSpPr>
          <a:xfrm>
            <a:off x="3139003" y="5651897"/>
            <a:ext cx="5845008" cy="142876"/>
            <a:chOff x="1524335" y="5330489"/>
            <a:chExt cx="5845008" cy="142876"/>
          </a:xfrm>
          <a:solidFill>
            <a:schemeClr val="accent2">
              <a:lumMod val="75000"/>
            </a:schemeClr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359AA77-4652-7980-D2F4-E8C24DE1739A}"/>
                </a:ext>
              </a:extLst>
            </p:cNvPr>
            <p:cNvSpPr/>
            <p:nvPr/>
          </p:nvSpPr>
          <p:spPr>
            <a:xfrm>
              <a:off x="1608222" y="5365080"/>
              <a:ext cx="5688932" cy="691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84E0D49-D813-9C48-B94B-15F6F932126B}"/>
                </a:ext>
              </a:extLst>
            </p:cNvPr>
            <p:cNvSpPr/>
            <p:nvPr/>
          </p:nvSpPr>
          <p:spPr>
            <a:xfrm>
              <a:off x="3733800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E6C86D2-D142-5D8B-1073-FAB591859E26}"/>
                </a:ext>
              </a:extLst>
            </p:cNvPr>
            <p:cNvSpPr/>
            <p:nvPr/>
          </p:nvSpPr>
          <p:spPr>
            <a:xfrm>
              <a:off x="2642935" y="5335001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ABFB2CB-4615-0F25-7BC9-642BC244F6C4}"/>
                </a:ext>
              </a:extLst>
            </p:cNvPr>
            <p:cNvSpPr/>
            <p:nvPr/>
          </p:nvSpPr>
          <p:spPr>
            <a:xfrm>
              <a:off x="5153524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093ED7D-AF80-8AD7-93E5-4DAF4A630667}"/>
                </a:ext>
              </a:extLst>
            </p:cNvPr>
            <p:cNvSpPr/>
            <p:nvPr/>
          </p:nvSpPr>
          <p:spPr>
            <a:xfrm>
              <a:off x="6364704" y="5335003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C7EAAC4-5E54-7719-C9AC-9F252DDC60D2}"/>
                </a:ext>
              </a:extLst>
            </p:cNvPr>
            <p:cNvSpPr/>
            <p:nvPr/>
          </p:nvSpPr>
          <p:spPr>
            <a:xfrm>
              <a:off x="6553199" y="533500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93BFF02-7325-C197-6B29-5E97687D1CDC}"/>
                </a:ext>
              </a:extLst>
            </p:cNvPr>
            <p:cNvSpPr/>
            <p:nvPr/>
          </p:nvSpPr>
          <p:spPr>
            <a:xfrm>
              <a:off x="7297153" y="533048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D2A2196-2C09-E767-2395-8C4874175B51}"/>
                </a:ext>
              </a:extLst>
            </p:cNvPr>
            <p:cNvSpPr/>
            <p:nvPr/>
          </p:nvSpPr>
          <p:spPr>
            <a:xfrm>
              <a:off x="1524335" y="5335003"/>
              <a:ext cx="119980" cy="133848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94" name="Group 190">
            <a:extLst>
              <a:ext uri="{FF2B5EF4-FFF2-40B4-BE49-F238E27FC236}">
                <a16:creationId xmlns:a16="http://schemas.microsoft.com/office/drawing/2014/main" id="{F8134300-1F08-86BB-2807-FD37CDA8932F}"/>
              </a:ext>
            </a:extLst>
          </p:cNvPr>
          <p:cNvGrpSpPr/>
          <p:nvPr/>
        </p:nvGrpSpPr>
        <p:grpSpPr>
          <a:xfrm>
            <a:off x="3142679" y="2841748"/>
            <a:ext cx="5841332" cy="142877"/>
            <a:chOff x="1528011" y="5330488"/>
            <a:chExt cx="5841332" cy="142877"/>
          </a:xfrm>
          <a:solidFill>
            <a:schemeClr val="accent2">
              <a:lumMod val="75000"/>
            </a:schemeClr>
          </a:solidFill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0D98854-FDD4-90DA-911A-A54D5A2AA61B}"/>
                </a:ext>
              </a:extLst>
            </p:cNvPr>
            <p:cNvSpPr/>
            <p:nvPr/>
          </p:nvSpPr>
          <p:spPr>
            <a:xfrm>
              <a:off x="1608222" y="5365080"/>
              <a:ext cx="5688932" cy="691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BFF30AE-D576-8161-303F-2A1315F326A1}"/>
                </a:ext>
              </a:extLst>
            </p:cNvPr>
            <p:cNvSpPr/>
            <p:nvPr/>
          </p:nvSpPr>
          <p:spPr>
            <a:xfrm>
              <a:off x="1834204" y="5330488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000FAA7-68E3-E417-FCE1-5A3ABCD55FFE}"/>
                </a:ext>
              </a:extLst>
            </p:cNvPr>
            <p:cNvSpPr/>
            <p:nvPr/>
          </p:nvSpPr>
          <p:spPr>
            <a:xfrm>
              <a:off x="5151184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8CFD5C1-5E02-66CA-9DA0-749FD62FA15E}"/>
                </a:ext>
              </a:extLst>
            </p:cNvPr>
            <p:cNvSpPr/>
            <p:nvPr/>
          </p:nvSpPr>
          <p:spPr>
            <a:xfrm>
              <a:off x="6362364" y="5335003"/>
              <a:ext cx="7453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F937AB4-5521-089D-61AE-58B4457F100E}"/>
                </a:ext>
              </a:extLst>
            </p:cNvPr>
            <p:cNvSpPr/>
            <p:nvPr/>
          </p:nvSpPr>
          <p:spPr>
            <a:xfrm>
              <a:off x="6553199" y="533500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7D09107-9AFC-B3AE-5211-F2B92DC62DD3}"/>
                </a:ext>
              </a:extLst>
            </p:cNvPr>
            <p:cNvSpPr/>
            <p:nvPr/>
          </p:nvSpPr>
          <p:spPr>
            <a:xfrm>
              <a:off x="7297153" y="533048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EFB4DC7-99BA-DDDB-63E5-D4DF9BFAC5E6}"/>
                </a:ext>
              </a:extLst>
            </p:cNvPr>
            <p:cNvSpPr/>
            <p:nvPr/>
          </p:nvSpPr>
          <p:spPr>
            <a:xfrm>
              <a:off x="1528011" y="5335003"/>
              <a:ext cx="116304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02" name="Group 200">
            <a:extLst>
              <a:ext uri="{FF2B5EF4-FFF2-40B4-BE49-F238E27FC236}">
                <a16:creationId xmlns:a16="http://schemas.microsoft.com/office/drawing/2014/main" id="{1C288CD2-D927-480C-CD72-062F512F16D1}"/>
              </a:ext>
            </a:extLst>
          </p:cNvPr>
          <p:cNvGrpSpPr/>
          <p:nvPr/>
        </p:nvGrpSpPr>
        <p:grpSpPr>
          <a:xfrm>
            <a:off x="3142679" y="5861203"/>
            <a:ext cx="5836319" cy="143681"/>
            <a:chOff x="1533024" y="5329684"/>
            <a:chExt cx="5836319" cy="143681"/>
          </a:xfrm>
          <a:solidFill>
            <a:schemeClr val="accent2">
              <a:lumMod val="75000"/>
            </a:schemeClr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EB1A921-FE86-F96B-9D66-770097832CF5}"/>
                </a:ext>
              </a:extLst>
            </p:cNvPr>
            <p:cNvSpPr/>
            <p:nvPr/>
          </p:nvSpPr>
          <p:spPr>
            <a:xfrm>
              <a:off x="1608222" y="5365080"/>
              <a:ext cx="5688932" cy="691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44096B1-3384-732B-233E-08303A72951B}"/>
                </a:ext>
              </a:extLst>
            </p:cNvPr>
            <p:cNvSpPr/>
            <p:nvPr/>
          </p:nvSpPr>
          <p:spPr>
            <a:xfrm>
              <a:off x="3733800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086E1FC-64D6-5CF6-81A5-60B8FCEB7F20}"/>
                </a:ext>
              </a:extLst>
            </p:cNvPr>
            <p:cNvSpPr/>
            <p:nvPr/>
          </p:nvSpPr>
          <p:spPr>
            <a:xfrm>
              <a:off x="1850807" y="5329684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B0D96B7-3926-E184-68A4-2B043E4837BE}"/>
                </a:ext>
              </a:extLst>
            </p:cNvPr>
            <p:cNvSpPr/>
            <p:nvPr/>
          </p:nvSpPr>
          <p:spPr>
            <a:xfrm>
              <a:off x="5153524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6DE7488-6B9B-812C-C040-FF4E87EF6968}"/>
                </a:ext>
              </a:extLst>
            </p:cNvPr>
            <p:cNvSpPr/>
            <p:nvPr/>
          </p:nvSpPr>
          <p:spPr>
            <a:xfrm>
              <a:off x="6364704" y="5335003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0518D8F-2388-B228-F958-745F5E08AB43}"/>
                </a:ext>
              </a:extLst>
            </p:cNvPr>
            <p:cNvSpPr/>
            <p:nvPr/>
          </p:nvSpPr>
          <p:spPr>
            <a:xfrm>
              <a:off x="6553199" y="533500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37A820C-8D9B-BC6B-A0BB-34C2BB85A1E9}"/>
                </a:ext>
              </a:extLst>
            </p:cNvPr>
            <p:cNvSpPr/>
            <p:nvPr/>
          </p:nvSpPr>
          <p:spPr>
            <a:xfrm>
              <a:off x="7297153" y="533048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5960E86-57AF-035E-DFC3-D955480BA980}"/>
                </a:ext>
              </a:extLst>
            </p:cNvPr>
            <p:cNvSpPr/>
            <p:nvPr/>
          </p:nvSpPr>
          <p:spPr>
            <a:xfrm>
              <a:off x="1533024" y="5335003"/>
              <a:ext cx="111291" cy="133848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11" name="TextBox 209">
            <a:extLst>
              <a:ext uri="{FF2B5EF4-FFF2-40B4-BE49-F238E27FC236}">
                <a16:creationId xmlns:a16="http://schemas.microsoft.com/office/drawing/2014/main" id="{7470F7C3-37F7-B52A-E7E7-DE908223CED6}"/>
              </a:ext>
            </a:extLst>
          </p:cNvPr>
          <p:cNvSpPr txBox="1"/>
          <p:nvPr/>
        </p:nvSpPr>
        <p:spPr>
          <a:xfrm>
            <a:off x="1871559" y="447511"/>
            <a:ext cx="9524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Combiner concept: </a:t>
            </a:r>
            <a:r>
              <a:rPr lang="sv-SE" sz="2000" dirty="0" err="1"/>
              <a:t>combining</a:t>
            </a:r>
            <a:r>
              <a:rPr lang="sv-SE" sz="2000" dirty="0"/>
              <a:t> different </a:t>
            </a:r>
            <a:r>
              <a:rPr lang="sv-SE" sz="2000" dirty="0" err="1"/>
              <a:t>lines</a:t>
            </a:r>
            <a:r>
              <a:rPr lang="sv-SE" sz="2000" dirty="0"/>
              <a:t> </a:t>
            </a:r>
            <a:r>
              <a:rPr lang="sv-SE" sz="2000" dirty="0" err="1"/>
              <a:t>of</a:t>
            </a:r>
            <a:r>
              <a:rPr lang="sv-SE" sz="2000" dirty="0"/>
              <a:t> </a:t>
            </a:r>
            <a:r>
              <a:rPr lang="sv-SE" sz="2000" dirty="0" err="1"/>
              <a:t>evidence</a:t>
            </a:r>
            <a:r>
              <a:rPr lang="sv-SE" sz="2000" dirty="0"/>
              <a:t> </a:t>
            </a:r>
            <a:r>
              <a:rPr lang="sv-SE" sz="2000" dirty="0" err="1"/>
              <a:t>into</a:t>
            </a:r>
            <a:r>
              <a:rPr lang="sv-SE" sz="2000" dirty="0"/>
              <a:t> gene </a:t>
            </a:r>
            <a:r>
              <a:rPr lang="sv-SE" sz="2000" dirty="0" err="1"/>
              <a:t>models</a:t>
            </a:r>
            <a:endParaRPr lang="sv-SE" sz="20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1E39D20-10EC-929A-0FFE-2785497EDC86}"/>
              </a:ext>
            </a:extLst>
          </p:cNvPr>
          <p:cNvSpPr/>
          <p:nvPr/>
        </p:nvSpPr>
        <p:spPr>
          <a:xfrm>
            <a:off x="2070726" y="2122381"/>
            <a:ext cx="3458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﻿=&gt; add </a:t>
            </a:r>
            <a:r>
              <a:rPr lang="en-US" b="1" dirty="0" err="1"/>
              <a:t>untranslated</a:t>
            </a:r>
            <a:r>
              <a:rPr lang="en-US" b="1" dirty="0"/>
              <a:t> regions (UTR)</a:t>
            </a:r>
          </a:p>
        </p:txBody>
      </p:sp>
      <p:sp>
        <p:nvSpPr>
          <p:cNvPr id="113" name="TextBox 184">
            <a:extLst>
              <a:ext uri="{FF2B5EF4-FFF2-40B4-BE49-F238E27FC236}">
                <a16:creationId xmlns:a16="http://schemas.microsoft.com/office/drawing/2014/main" id="{80BCB104-F540-14B2-8177-C25EE0827E09}"/>
              </a:ext>
            </a:extLst>
          </p:cNvPr>
          <p:cNvSpPr txBox="1"/>
          <p:nvPr/>
        </p:nvSpPr>
        <p:spPr>
          <a:xfrm>
            <a:off x="3457513" y="1653630"/>
            <a:ext cx="1418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Gene </a:t>
            </a:r>
            <a:r>
              <a:rPr lang="sv-SE" dirty="0" err="1"/>
              <a:t>models</a:t>
            </a:r>
            <a:endParaRPr lang="sv-SE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58256C9-B769-98DB-F066-7F76FAAAF0E7}"/>
              </a:ext>
            </a:extLst>
          </p:cNvPr>
          <p:cNvSpPr/>
          <p:nvPr/>
        </p:nvSpPr>
        <p:spPr>
          <a:xfrm>
            <a:off x="8978998" y="2859438"/>
            <a:ext cx="312607" cy="103772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270ED9B-AC42-E5B6-E435-BE8C4AE79912}"/>
              </a:ext>
            </a:extLst>
          </p:cNvPr>
          <p:cNvSpPr/>
          <p:nvPr/>
        </p:nvSpPr>
        <p:spPr>
          <a:xfrm>
            <a:off x="8984011" y="3116072"/>
            <a:ext cx="312607" cy="103772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7213C09-9729-2F28-C5A7-160EF69626C2}"/>
              </a:ext>
            </a:extLst>
          </p:cNvPr>
          <p:cNvSpPr/>
          <p:nvPr/>
        </p:nvSpPr>
        <p:spPr>
          <a:xfrm>
            <a:off x="8983134" y="3353848"/>
            <a:ext cx="312607" cy="103772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93DB199-0C0C-E82F-46FF-8A36ACC677C8}"/>
              </a:ext>
            </a:extLst>
          </p:cNvPr>
          <p:cNvSpPr/>
          <p:nvPr/>
        </p:nvSpPr>
        <p:spPr>
          <a:xfrm>
            <a:off x="2830072" y="2859438"/>
            <a:ext cx="312607" cy="103772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F110E91-4133-6618-5418-4E203EC64E67}"/>
              </a:ext>
            </a:extLst>
          </p:cNvPr>
          <p:cNvSpPr/>
          <p:nvPr/>
        </p:nvSpPr>
        <p:spPr>
          <a:xfrm>
            <a:off x="2835085" y="3116072"/>
            <a:ext cx="312607" cy="103772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16AF2A0-DC85-BB60-2BA9-99E803945F67}"/>
              </a:ext>
            </a:extLst>
          </p:cNvPr>
          <p:cNvSpPr/>
          <p:nvPr/>
        </p:nvSpPr>
        <p:spPr>
          <a:xfrm>
            <a:off x="2834208" y="3353848"/>
            <a:ext cx="312607" cy="103772"/>
          </a:xfrm>
          <a:prstGeom prst="rect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4664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13" grpId="0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8">
            <a:extLst>
              <a:ext uri="{FF2B5EF4-FFF2-40B4-BE49-F238E27FC236}">
                <a16:creationId xmlns:a16="http://schemas.microsoft.com/office/drawing/2014/main" id="{E3CF652E-B0A2-AC31-C8F1-C42D90373D45}"/>
              </a:ext>
            </a:extLst>
          </p:cNvPr>
          <p:cNvSpPr txBox="1"/>
          <p:nvPr/>
        </p:nvSpPr>
        <p:spPr>
          <a:xfrm>
            <a:off x="2548493" y="1488364"/>
            <a:ext cx="4446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Gene</a:t>
            </a:r>
            <a:r>
              <a:rPr lang="sv-SE" i="1" dirty="0"/>
              <a:t> </a:t>
            </a:r>
            <a:r>
              <a:rPr lang="sv-SE" dirty="0" err="1"/>
              <a:t>prediction</a:t>
            </a:r>
            <a:r>
              <a:rPr lang="sv-SE" dirty="0"/>
              <a:t> (</a:t>
            </a:r>
            <a:r>
              <a:rPr lang="sv-SE" i="1" dirty="0"/>
              <a:t>ab-</a:t>
            </a:r>
            <a:r>
              <a:rPr lang="sv-SE" i="1" dirty="0" err="1"/>
              <a:t>initio</a:t>
            </a:r>
            <a:r>
              <a:rPr lang="sv-SE" i="1" dirty="0"/>
              <a:t> </a:t>
            </a:r>
            <a:r>
              <a:rPr lang="sv-SE" dirty="0"/>
              <a:t>or </a:t>
            </a:r>
            <a:r>
              <a:rPr lang="sv-SE" dirty="0" err="1"/>
              <a:t>evidence-based</a:t>
            </a:r>
            <a:r>
              <a:rPr lang="sv-SE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C77900-1208-F4AC-4B96-1E430DD36CF2}"/>
              </a:ext>
            </a:extLst>
          </p:cNvPr>
          <p:cNvSpPr/>
          <p:nvPr/>
        </p:nvSpPr>
        <p:spPr>
          <a:xfrm>
            <a:off x="1945656" y="3670698"/>
            <a:ext cx="8728911" cy="16844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6" name="Group 188">
            <a:extLst>
              <a:ext uri="{FF2B5EF4-FFF2-40B4-BE49-F238E27FC236}">
                <a16:creationId xmlns:a16="http://schemas.microsoft.com/office/drawing/2014/main" id="{0F0DE828-9F7D-B697-22AF-8EB963EA28F0}"/>
              </a:ext>
            </a:extLst>
          </p:cNvPr>
          <p:cNvGrpSpPr/>
          <p:nvPr/>
        </p:nvGrpSpPr>
        <p:grpSpPr>
          <a:xfrm>
            <a:off x="3138119" y="5443578"/>
            <a:ext cx="6153920" cy="142876"/>
            <a:chOff x="1528011" y="5330489"/>
            <a:chExt cx="6153920" cy="142876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3F8C28-023F-4D50-64AF-3892677D7175}"/>
                </a:ext>
              </a:extLst>
            </p:cNvPr>
            <p:cNvSpPr/>
            <p:nvPr/>
          </p:nvSpPr>
          <p:spPr>
            <a:xfrm>
              <a:off x="1608222" y="5365080"/>
              <a:ext cx="5688932" cy="691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D977D2-AC29-70E2-E50C-CB2D795EFD3E}"/>
                </a:ext>
              </a:extLst>
            </p:cNvPr>
            <p:cNvSpPr/>
            <p:nvPr/>
          </p:nvSpPr>
          <p:spPr>
            <a:xfrm>
              <a:off x="1840829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9AD9B4-99E0-0CFB-BAB4-0C6509E23A09}"/>
                </a:ext>
              </a:extLst>
            </p:cNvPr>
            <p:cNvSpPr/>
            <p:nvPr/>
          </p:nvSpPr>
          <p:spPr>
            <a:xfrm>
              <a:off x="2642935" y="5335001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6DBF57D-A975-5D69-9B6B-876D44692E18}"/>
                </a:ext>
              </a:extLst>
            </p:cNvPr>
            <p:cNvSpPr/>
            <p:nvPr/>
          </p:nvSpPr>
          <p:spPr>
            <a:xfrm>
              <a:off x="5153524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1CE3C6-44C4-CD15-94D6-B24CE51301FA}"/>
                </a:ext>
              </a:extLst>
            </p:cNvPr>
            <p:cNvSpPr/>
            <p:nvPr/>
          </p:nvSpPr>
          <p:spPr>
            <a:xfrm>
              <a:off x="6364704" y="5335003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E6E45F-764D-C02A-423B-41E9708AE1B5}"/>
                </a:ext>
              </a:extLst>
            </p:cNvPr>
            <p:cNvSpPr/>
            <p:nvPr/>
          </p:nvSpPr>
          <p:spPr>
            <a:xfrm>
              <a:off x="6553199" y="533500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490D85-5BDF-BB1D-1F88-F5E0663D0329}"/>
                </a:ext>
              </a:extLst>
            </p:cNvPr>
            <p:cNvSpPr/>
            <p:nvPr/>
          </p:nvSpPr>
          <p:spPr>
            <a:xfrm>
              <a:off x="7297152" y="5330489"/>
              <a:ext cx="384779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7F8B83-EC7D-87BE-2DE4-91A7016F39BC}"/>
                </a:ext>
              </a:extLst>
            </p:cNvPr>
            <p:cNvSpPr/>
            <p:nvPr/>
          </p:nvSpPr>
          <p:spPr>
            <a:xfrm>
              <a:off x="1528011" y="5335003"/>
              <a:ext cx="116304" cy="133848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oup 210">
            <a:extLst>
              <a:ext uri="{FF2B5EF4-FFF2-40B4-BE49-F238E27FC236}">
                <a16:creationId xmlns:a16="http://schemas.microsoft.com/office/drawing/2014/main" id="{23C0184E-5381-A7C0-7C69-170DA3D27D0E}"/>
              </a:ext>
            </a:extLst>
          </p:cNvPr>
          <p:cNvGrpSpPr/>
          <p:nvPr/>
        </p:nvGrpSpPr>
        <p:grpSpPr>
          <a:xfrm>
            <a:off x="3138119" y="4816033"/>
            <a:ext cx="5095038" cy="379668"/>
            <a:chOff x="1500274" y="4683203"/>
            <a:chExt cx="5095038" cy="379668"/>
          </a:xfrm>
          <a:solidFill>
            <a:schemeClr val="accent5"/>
          </a:solidFill>
        </p:grpSpPr>
        <p:grpSp>
          <p:nvGrpSpPr>
            <p:cNvPr id="16" name="Group 211">
              <a:extLst>
                <a:ext uri="{FF2B5EF4-FFF2-40B4-BE49-F238E27FC236}">
                  <a16:creationId xmlns:a16="http://schemas.microsoft.com/office/drawing/2014/main" id="{7D86F733-BC7D-D96D-3604-6D31EE42F753}"/>
                </a:ext>
              </a:extLst>
            </p:cNvPr>
            <p:cNvGrpSpPr/>
            <p:nvPr/>
          </p:nvGrpSpPr>
          <p:grpSpPr>
            <a:xfrm>
              <a:off x="1810753" y="4683203"/>
              <a:ext cx="4784559" cy="138366"/>
              <a:chOff x="1840829" y="5852357"/>
              <a:chExt cx="4784559" cy="138366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478BD18-04A5-4EED-F435-BEC4BFB1D104}"/>
                  </a:ext>
                </a:extLst>
              </p:cNvPr>
              <p:cNvSpPr/>
              <p:nvPr/>
            </p:nvSpPr>
            <p:spPr>
              <a:xfrm>
                <a:off x="1840829" y="5852360"/>
                <a:ext cx="282742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E1C85EE-3304-BCD8-8795-9043C800708D}"/>
                  </a:ext>
                </a:extLst>
              </p:cNvPr>
              <p:cNvSpPr/>
              <p:nvPr/>
            </p:nvSpPr>
            <p:spPr>
              <a:xfrm>
                <a:off x="2642934" y="5852359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85C2A8B-D25B-5587-543A-775CE627F12C}"/>
                  </a:ext>
                </a:extLst>
              </p:cNvPr>
              <p:cNvSpPr/>
              <p:nvPr/>
            </p:nvSpPr>
            <p:spPr>
              <a:xfrm>
                <a:off x="5153523" y="5852360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9CAAAB7-F803-321B-2D51-4589196EECA2}"/>
                  </a:ext>
                </a:extLst>
              </p:cNvPr>
              <p:cNvSpPr/>
              <p:nvPr/>
            </p:nvSpPr>
            <p:spPr>
              <a:xfrm>
                <a:off x="6364703" y="5852361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7B64F18-9FF9-C3F8-2615-739115D1CEA7}"/>
                  </a:ext>
                </a:extLst>
              </p:cNvPr>
              <p:cNvSpPr/>
              <p:nvPr/>
            </p:nvSpPr>
            <p:spPr>
              <a:xfrm>
                <a:off x="6553198" y="5852359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BE9FEC8-A7C1-C21F-1B4B-5110343B3863}"/>
                  </a:ext>
                </a:extLst>
              </p:cNvPr>
              <p:cNvSpPr/>
              <p:nvPr/>
            </p:nvSpPr>
            <p:spPr>
              <a:xfrm>
                <a:off x="2153653" y="5852358"/>
                <a:ext cx="282742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48A45F3-E2E4-12E7-4E7D-C11D19284A59}"/>
                  </a:ext>
                </a:extLst>
              </p:cNvPr>
              <p:cNvSpPr/>
              <p:nvPr/>
            </p:nvSpPr>
            <p:spPr>
              <a:xfrm>
                <a:off x="3917096" y="5852357"/>
                <a:ext cx="110473" cy="138366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grpSp>
          <p:nvGrpSpPr>
            <p:cNvPr id="17" name="Group 212">
              <a:extLst>
                <a:ext uri="{FF2B5EF4-FFF2-40B4-BE49-F238E27FC236}">
                  <a16:creationId xmlns:a16="http://schemas.microsoft.com/office/drawing/2014/main" id="{BECE3F14-AC7D-8A1C-75B0-67E9E7245286}"/>
                </a:ext>
              </a:extLst>
            </p:cNvPr>
            <p:cNvGrpSpPr/>
            <p:nvPr/>
          </p:nvGrpSpPr>
          <p:grpSpPr>
            <a:xfrm>
              <a:off x="1500274" y="4924506"/>
              <a:ext cx="5095038" cy="138365"/>
              <a:chOff x="1530350" y="5852358"/>
              <a:chExt cx="5095038" cy="138365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F995F39-29C0-84A7-254A-B76DC098B0C7}"/>
                  </a:ext>
                </a:extLst>
              </p:cNvPr>
              <p:cNvSpPr/>
              <p:nvPr/>
            </p:nvSpPr>
            <p:spPr>
              <a:xfrm>
                <a:off x="1530350" y="5852361"/>
                <a:ext cx="116304" cy="138361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4663105-B4FA-1E29-30F4-2196E6183BA4}"/>
                  </a:ext>
                </a:extLst>
              </p:cNvPr>
              <p:cNvSpPr/>
              <p:nvPr/>
            </p:nvSpPr>
            <p:spPr>
              <a:xfrm>
                <a:off x="2642934" y="5852359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F842EA3-2C6E-4467-C32D-9B7DB99F33D0}"/>
                  </a:ext>
                </a:extLst>
              </p:cNvPr>
              <p:cNvSpPr/>
              <p:nvPr/>
            </p:nvSpPr>
            <p:spPr>
              <a:xfrm>
                <a:off x="5153523" y="5852360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98B1864-BB23-7D34-162D-8C6F930037FA}"/>
                  </a:ext>
                </a:extLst>
              </p:cNvPr>
              <p:cNvSpPr/>
              <p:nvPr/>
            </p:nvSpPr>
            <p:spPr>
              <a:xfrm>
                <a:off x="6364703" y="5852361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EEBE1F8-F222-FCF0-6A22-C44D66256F68}"/>
                  </a:ext>
                </a:extLst>
              </p:cNvPr>
              <p:cNvSpPr/>
              <p:nvPr/>
            </p:nvSpPr>
            <p:spPr>
              <a:xfrm>
                <a:off x="6553198" y="5852359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6121C93-CB6A-5400-8866-F76C031113C2}"/>
                  </a:ext>
                </a:extLst>
              </p:cNvPr>
              <p:cNvSpPr/>
              <p:nvPr/>
            </p:nvSpPr>
            <p:spPr>
              <a:xfrm>
                <a:off x="1843169" y="5852358"/>
                <a:ext cx="593226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grpSp>
        <p:nvGrpSpPr>
          <p:cNvPr id="31" name="Group 226">
            <a:extLst>
              <a:ext uri="{FF2B5EF4-FFF2-40B4-BE49-F238E27FC236}">
                <a16:creationId xmlns:a16="http://schemas.microsoft.com/office/drawing/2014/main" id="{0615CACB-03EC-7369-429C-6663BA3C3B9D}"/>
              </a:ext>
            </a:extLst>
          </p:cNvPr>
          <p:cNvGrpSpPr/>
          <p:nvPr/>
        </p:nvGrpSpPr>
        <p:grpSpPr>
          <a:xfrm>
            <a:off x="2849360" y="3958783"/>
            <a:ext cx="6442698" cy="741948"/>
            <a:chOff x="1239252" y="5210265"/>
            <a:chExt cx="6442698" cy="741948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2BB1DC8-D0FE-831F-B94D-94D3AEC60320}"/>
                </a:ext>
              </a:extLst>
            </p:cNvPr>
            <p:cNvSpPr/>
            <p:nvPr/>
          </p:nvSpPr>
          <p:spPr>
            <a:xfrm>
              <a:off x="2642937" y="5210265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A082FC9-85FD-FE05-B893-E29340F5108A}"/>
                </a:ext>
              </a:extLst>
            </p:cNvPr>
            <p:cNvSpPr/>
            <p:nvPr/>
          </p:nvSpPr>
          <p:spPr>
            <a:xfrm>
              <a:off x="5153526" y="5210266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0122396-5F2D-8BC4-72DB-840CFB184CE3}"/>
                </a:ext>
              </a:extLst>
            </p:cNvPr>
            <p:cNvSpPr/>
            <p:nvPr/>
          </p:nvSpPr>
          <p:spPr>
            <a:xfrm>
              <a:off x="6364706" y="5210267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4B8517-7770-5BF8-2EB7-FEC9410B3E01}"/>
                </a:ext>
              </a:extLst>
            </p:cNvPr>
            <p:cNvSpPr/>
            <p:nvPr/>
          </p:nvSpPr>
          <p:spPr>
            <a:xfrm>
              <a:off x="6553201" y="5210265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C8E6DDB-1D93-B75C-654F-C2440922AB59}"/>
                </a:ext>
              </a:extLst>
            </p:cNvPr>
            <p:cNvSpPr/>
            <p:nvPr/>
          </p:nvSpPr>
          <p:spPr>
            <a:xfrm>
              <a:off x="1840830" y="5549156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979850-A607-7B16-9B5C-ABABE532DFC1}"/>
                </a:ext>
              </a:extLst>
            </p:cNvPr>
            <p:cNvSpPr/>
            <p:nvPr/>
          </p:nvSpPr>
          <p:spPr>
            <a:xfrm>
              <a:off x="2719137" y="5549155"/>
              <a:ext cx="489284" cy="138364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89B7BAB-34E3-5956-4E09-A9252BFE5740}"/>
                </a:ext>
              </a:extLst>
            </p:cNvPr>
            <p:cNvSpPr/>
            <p:nvPr/>
          </p:nvSpPr>
          <p:spPr>
            <a:xfrm>
              <a:off x="5153525" y="5549156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C3E3DDE-6C8C-20A8-FFFD-130C8231BAFB}"/>
                </a:ext>
              </a:extLst>
            </p:cNvPr>
            <p:cNvSpPr/>
            <p:nvPr/>
          </p:nvSpPr>
          <p:spPr>
            <a:xfrm>
              <a:off x="6364705" y="5549157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0882820-BE77-3D30-E7B2-9F55C11BF653}"/>
                </a:ext>
              </a:extLst>
            </p:cNvPr>
            <p:cNvSpPr/>
            <p:nvPr/>
          </p:nvSpPr>
          <p:spPr>
            <a:xfrm>
              <a:off x="1239252" y="5544145"/>
              <a:ext cx="405063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8FEF69-D2FE-2190-5968-6D29A4B0B7BD}"/>
                </a:ext>
              </a:extLst>
            </p:cNvPr>
            <p:cNvSpPr/>
            <p:nvPr/>
          </p:nvSpPr>
          <p:spPr>
            <a:xfrm>
              <a:off x="2642936" y="5813849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7B83BBC-0E96-3E71-57C3-2A37A3E2D468}"/>
                </a:ext>
              </a:extLst>
            </p:cNvPr>
            <p:cNvSpPr/>
            <p:nvPr/>
          </p:nvSpPr>
          <p:spPr>
            <a:xfrm>
              <a:off x="5153525" y="5813850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2453548-9042-351D-97D4-DA209CDABFDF}"/>
                </a:ext>
              </a:extLst>
            </p:cNvPr>
            <p:cNvSpPr/>
            <p:nvPr/>
          </p:nvSpPr>
          <p:spPr>
            <a:xfrm>
              <a:off x="6364705" y="581385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46FA2C2-EAA7-274A-D44F-413AD62C08AA}"/>
                </a:ext>
              </a:extLst>
            </p:cNvPr>
            <p:cNvSpPr/>
            <p:nvPr/>
          </p:nvSpPr>
          <p:spPr>
            <a:xfrm>
              <a:off x="6553200" y="581384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1492779-7864-B760-902E-EF94029F11EA}"/>
                </a:ext>
              </a:extLst>
            </p:cNvPr>
            <p:cNvSpPr/>
            <p:nvPr/>
          </p:nvSpPr>
          <p:spPr>
            <a:xfrm>
              <a:off x="7297153" y="5813849"/>
              <a:ext cx="384797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45D0D48-6449-F318-5526-1976EC8EB511}"/>
                </a:ext>
              </a:extLst>
            </p:cNvPr>
            <p:cNvSpPr/>
            <p:nvPr/>
          </p:nvSpPr>
          <p:spPr>
            <a:xfrm>
              <a:off x="1239252" y="5813849"/>
              <a:ext cx="405063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6871B53-4A00-D0E0-1BC4-510A8C0EA8DA}"/>
                </a:ext>
              </a:extLst>
            </p:cNvPr>
            <p:cNvSpPr/>
            <p:nvPr/>
          </p:nvSpPr>
          <p:spPr>
            <a:xfrm>
              <a:off x="3807998" y="5813848"/>
              <a:ext cx="20854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48" name="Group 243">
            <a:extLst>
              <a:ext uri="{FF2B5EF4-FFF2-40B4-BE49-F238E27FC236}">
                <a16:creationId xmlns:a16="http://schemas.microsoft.com/office/drawing/2014/main" id="{A7B50DDD-B8EC-D57C-73D8-5B8726EFCF43}"/>
              </a:ext>
            </a:extLst>
          </p:cNvPr>
          <p:cNvGrpSpPr/>
          <p:nvPr/>
        </p:nvGrpSpPr>
        <p:grpSpPr>
          <a:xfrm>
            <a:off x="2849360" y="3105900"/>
            <a:ext cx="6442698" cy="2904940"/>
            <a:chOff x="1194802" y="3776160"/>
            <a:chExt cx="6442698" cy="2959100"/>
          </a:xfrm>
        </p:grpSpPr>
        <p:cxnSp>
          <p:nvCxnSpPr>
            <p:cNvPr id="49" name="Straight Connector 244">
              <a:extLst>
                <a:ext uri="{FF2B5EF4-FFF2-40B4-BE49-F238E27FC236}">
                  <a16:creationId xmlns:a16="http://schemas.microsoft.com/office/drawing/2014/main" id="{F01B863E-DCD2-6324-E246-CA998A386CE5}"/>
                </a:ext>
              </a:extLst>
            </p:cNvPr>
            <p:cNvCxnSpPr/>
            <p:nvPr/>
          </p:nvCxnSpPr>
          <p:spPr>
            <a:xfrm>
              <a:off x="1194802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245">
              <a:extLst>
                <a:ext uri="{FF2B5EF4-FFF2-40B4-BE49-F238E27FC236}">
                  <a16:creationId xmlns:a16="http://schemas.microsoft.com/office/drawing/2014/main" id="{AEC7818C-37DD-25B8-FE42-C0A6C4CCE090}"/>
                </a:ext>
              </a:extLst>
            </p:cNvPr>
            <p:cNvCxnSpPr/>
            <p:nvPr/>
          </p:nvCxnSpPr>
          <p:spPr>
            <a:xfrm>
              <a:off x="1599865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246">
              <a:extLst>
                <a:ext uri="{FF2B5EF4-FFF2-40B4-BE49-F238E27FC236}">
                  <a16:creationId xmlns:a16="http://schemas.microsoft.com/office/drawing/2014/main" id="{FD3027BA-DAD5-6199-14EE-68AB7ABCF67B}"/>
                </a:ext>
              </a:extLst>
            </p:cNvPr>
            <p:cNvCxnSpPr/>
            <p:nvPr/>
          </p:nvCxnSpPr>
          <p:spPr>
            <a:xfrm>
              <a:off x="1483561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247">
              <a:extLst>
                <a:ext uri="{FF2B5EF4-FFF2-40B4-BE49-F238E27FC236}">
                  <a16:creationId xmlns:a16="http://schemas.microsoft.com/office/drawing/2014/main" id="{50D5201E-6AE1-ADFA-B9F4-7C44C947A01D}"/>
                </a:ext>
              </a:extLst>
            </p:cNvPr>
            <p:cNvCxnSpPr/>
            <p:nvPr/>
          </p:nvCxnSpPr>
          <p:spPr>
            <a:xfrm>
              <a:off x="1797047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248">
              <a:extLst>
                <a:ext uri="{FF2B5EF4-FFF2-40B4-BE49-F238E27FC236}">
                  <a16:creationId xmlns:a16="http://schemas.microsoft.com/office/drawing/2014/main" id="{09A96FE0-FFD8-0009-516B-BA1FB1E1A42B}"/>
                </a:ext>
              </a:extLst>
            </p:cNvPr>
            <p:cNvCxnSpPr/>
            <p:nvPr/>
          </p:nvCxnSpPr>
          <p:spPr>
            <a:xfrm>
              <a:off x="2361864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249">
              <a:extLst>
                <a:ext uri="{FF2B5EF4-FFF2-40B4-BE49-F238E27FC236}">
                  <a16:creationId xmlns:a16="http://schemas.microsoft.com/office/drawing/2014/main" id="{5554C78D-CA90-88B0-00A8-AD7414FC3CED}"/>
                </a:ext>
              </a:extLst>
            </p:cNvPr>
            <p:cNvCxnSpPr/>
            <p:nvPr/>
          </p:nvCxnSpPr>
          <p:spPr>
            <a:xfrm>
              <a:off x="2596145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250">
              <a:extLst>
                <a:ext uri="{FF2B5EF4-FFF2-40B4-BE49-F238E27FC236}">
                  <a16:creationId xmlns:a16="http://schemas.microsoft.com/office/drawing/2014/main" id="{71499269-80E5-3BA1-7D58-477E1E42F928}"/>
                </a:ext>
              </a:extLst>
            </p:cNvPr>
            <p:cNvCxnSpPr/>
            <p:nvPr/>
          </p:nvCxnSpPr>
          <p:spPr>
            <a:xfrm>
              <a:off x="3161630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251">
              <a:extLst>
                <a:ext uri="{FF2B5EF4-FFF2-40B4-BE49-F238E27FC236}">
                  <a16:creationId xmlns:a16="http://schemas.microsoft.com/office/drawing/2014/main" id="{4CF1B69C-CEB6-557E-9E5F-655273DAFC61}"/>
                </a:ext>
              </a:extLst>
            </p:cNvPr>
            <p:cNvCxnSpPr/>
            <p:nvPr/>
          </p:nvCxnSpPr>
          <p:spPr>
            <a:xfrm>
              <a:off x="5109076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252">
              <a:extLst>
                <a:ext uri="{FF2B5EF4-FFF2-40B4-BE49-F238E27FC236}">
                  <a16:creationId xmlns:a16="http://schemas.microsoft.com/office/drawing/2014/main" id="{DB2908F5-08F6-6EEF-011B-59FF41D39DB5}"/>
                </a:ext>
              </a:extLst>
            </p:cNvPr>
            <p:cNvCxnSpPr/>
            <p:nvPr/>
          </p:nvCxnSpPr>
          <p:spPr>
            <a:xfrm>
              <a:off x="5674559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253">
              <a:extLst>
                <a:ext uri="{FF2B5EF4-FFF2-40B4-BE49-F238E27FC236}">
                  <a16:creationId xmlns:a16="http://schemas.microsoft.com/office/drawing/2014/main" id="{38967F3F-3E89-42AC-8161-7079D1D83CA9}"/>
                </a:ext>
              </a:extLst>
            </p:cNvPr>
            <p:cNvCxnSpPr/>
            <p:nvPr/>
          </p:nvCxnSpPr>
          <p:spPr>
            <a:xfrm>
              <a:off x="6317914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254">
              <a:extLst>
                <a:ext uri="{FF2B5EF4-FFF2-40B4-BE49-F238E27FC236}">
                  <a16:creationId xmlns:a16="http://schemas.microsoft.com/office/drawing/2014/main" id="{F846B035-E840-FDA8-8AB7-A9C1F99FC73D}"/>
                </a:ext>
              </a:extLst>
            </p:cNvPr>
            <p:cNvCxnSpPr/>
            <p:nvPr/>
          </p:nvCxnSpPr>
          <p:spPr>
            <a:xfrm>
              <a:off x="6389768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255">
              <a:extLst>
                <a:ext uri="{FF2B5EF4-FFF2-40B4-BE49-F238E27FC236}">
                  <a16:creationId xmlns:a16="http://schemas.microsoft.com/office/drawing/2014/main" id="{FB812BC6-69D9-FC9C-FB82-E05B0D7AC0CA}"/>
                </a:ext>
              </a:extLst>
            </p:cNvPr>
            <p:cNvCxnSpPr/>
            <p:nvPr/>
          </p:nvCxnSpPr>
          <p:spPr>
            <a:xfrm>
              <a:off x="6508751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256">
              <a:extLst>
                <a:ext uri="{FF2B5EF4-FFF2-40B4-BE49-F238E27FC236}">
                  <a16:creationId xmlns:a16="http://schemas.microsoft.com/office/drawing/2014/main" id="{F324546A-DD73-66A3-C9CC-530A18D846B9}"/>
                </a:ext>
              </a:extLst>
            </p:cNvPr>
            <p:cNvCxnSpPr/>
            <p:nvPr/>
          </p:nvCxnSpPr>
          <p:spPr>
            <a:xfrm>
              <a:off x="6578599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257">
              <a:extLst>
                <a:ext uri="{FF2B5EF4-FFF2-40B4-BE49-F238E27FC236}">
                  <a16:creationId xmlns:a16="http://schemas.microsoft.com/office/drawing/2014/main" id="{4C500367-3224-59B2-07AE-F24864712EB0}"/>
                </a:ext>
              </a:extLst>
            </p:cNvPr>
            <p:cNvCxnSpPr/>
            <p:nvPr/>
          </p:nvCxnSpPr>
          <p:spPr>
            <a:xfrm>
              <a:off x="7252703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258">
              <a:extLst>
                <a:ext uri="{FF2B5EF4-FFF2-40B4-BE49-F238E27FC236}">
                  <a16:creationId xmlns:a16="http://schemas.microsoft.com/office/drawing/2014/main" id="{1BF6414F-0753-886F-37FB-4F7821A85248}"/>
                </a:ext>
              </a:extLst>
            </p:cNvPr>
            <p:cNvCxnSpPr/>
            <p:nvPr/>
          </p:nvCxnSpPr>
          <p:spPr>
            <a:xfrm>
              <a:off x="7637500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272">
            <a:extLst>
              <a:ext uri="{FF2B5EF4-FFF2-40B4-BE49-F238E27FC236}">
                <a16:creationId xmlns:a16="http://schemas.microsoft.com/office/drawing/2014/main" id="{1A50DCFB-D9FD-893D-1D78-1F02C2951621}"/>
              </a:ext>
            </a:extLst>
          </p:cNvPr>
          <p:cNvGrpSpPr/>
          <p:nvPr/>
        </p:nvGrpSpPr>
        <p:grpSpPr>
          <a:xfrm>
            <a:off x="2849360" y="5648596"/>
            <a:ext cx="6130091" cy="142876"/>
            <a:chOff x="1239252" y="5330489"/>
            <a:chExt cx="6130091" cy="142876"/>
          </a:xfrm>
          <a:solidFill>
            <a:schemeClr val="accent2">
              <a:lumMod val="75000"/>
            </a:schemeClr>
          </a:solidFill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977E4BA-60BE-C4CC-2EA4-384AE4C0C947}"/>
                </a:ext>
              </a:extLst>
            </p:cNvPr>
            <p:cNvSpPr/>
            <p:nvPr/>
          </p:nvSpPr>
          <p:spPr>
            <a:xfrm>
              <a:off x="1608222" y="5365080"/>
              <a:ext cx="5688932" cy="691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255E1B1-E70B-1D7C-759F-D7C037E00F4A}"/>
                </a:ext>
              </a:extLst>
            </p:cNvPr>
            <p:cNvSpPr/>
            <p:nvPr/>
          </p:nvSpPr>
          <p:spPr>
            <a:xfrm>
              <a:off x="3733800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021DAF0-2651-C063-64B5-33D4C629FFE4}"/>
                </a:ext>
              </a:extLst>
            </p:cNvPr>
            <p:cNvSpPr/>
            <p:nvPr/>
          </p:nvSpPr>
          <p:spPr>
            <a:xfrm>
              <a:off x="2642935" y="5335001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D516FA0-E991-8FBD-0BF7-3395D69F294D}"/>
                </a:ext>
              </a:extLst>
            </p:cNvPr>
            <p:cNvSpPr/>
            <p:nvPr/>
          </p:nvSpPr>
          <p:spPr>
            <a:xfrm>
              <a:off x="5153524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8FF2EA9-37F6-3233-EB0A-CBC9B582D3E7}"/>
                </a:ext>
              </a:extLst>
            </p:cNvPr>
            <p:cNvSpPr/>
            <p:nvPr/>
          </p:nvSpPr>
          <p:spPr>
            <a:xfrm>
              <a:off x="6364704" y="5335003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06A4C83-AEBE-8DFF-F80E-401A52D20FD3}"/>
                </a:ext>
              </a:extLst>
            </p:cNvPr>
            <p:cNvSpPr/>
            <p:nvPr/>
          </p:nvSpPr>
          <p:spPr>
            <a:xfrm>
              <a:off x="6553199" y="533500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B87808F-E737-1FB6-402F-75FBFABB3838}"/>
                </a:ext>
              </a:extLst>
            </p:cNvPr>
            <p:cNvSpPr/>
            <p:nvPr/>
          </p:nvSpPr>
          <p:spPr>
            <a:xfrm>
              <a:off x="7297153" y="533048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B3B60F7-43E9-14AA-5D29-5245B61E7300}"/>
                </a:ext>
              </a:extLst>
            </p:cNvPr>
            <p:cNvSpPr/>
            <p:nvPr/>
          </p:nvSpPr>
          <p:spPr>
            <a:xfrm>
              <a:off x="1239252" y="5335003"/>
              <a:ext cx="405063" cy="133848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73" name="Group 293">
            <a:extLst>
              <a:ext uri="{FF2B5EF4-FFF2-40B4-BE49-F238E27FC236}">
                <a16:creationId xmlns:a16="http://schemas.microsoft.com/office/drawing/2014/main" id="{7B1EBD32-2132-93BC-44BB-9F9ECBF8BE1C}"/>
              </a:ext>
            </a:extLst>
          </p:cNvPr>
          <p:cNvGrpSpPr/>
          <p:nvPr/>
        </p:nvGrpSpPr>
        <p:grpSpPr>
          <a:xfrm>
            <a:off x="3138119" y="5861203"/>
            <a:ext cx="5836319" cy="143681"/>
            <a:chOff x="1533024" y="5329684"/>
            <a:chExt cx="5836319" cy="143681"/>
          </a:xfrm>
          <a:solidFill>
            <a:schemeClr val="accent2">
              <a:lumMod val="75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195E188-CB58-CE61-CEDF-ACBEB138273C}"/>
                </a:ext>
              </a:extLst>
            </p:cNvPr>
            <p:cNvSpPr/>
            <p:nvPr/>
          </p:nvSpPr>
          <p:spPr>
            <a:xfrm>
              <a:off x="1608222" y="5365080"/>
              <a:ext cx="5688932" cy="691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FA9EF21-AE30-1CFE-B490-0233CB851B77}"/>
                </a:ext>
              </a:extLst>
            </p:cNvPr>
            <p:cNvSpPr/>
            <p:nvPr/>
          </p:nvSpPr>
          <p:spPr>
            <a:xfrm>
              <a:off x="3733800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9847BD8-45D1-5507-1F02-9214C1CCB891}"/>
                </a:ext>
              </a:extLst>
            </p:cNvPr>
            <p:cNvSpPr/>
            <p:nvPr/>
          </p:nvSpPr>
          <p:spPr>
            <a:xfrm>
              <a:off x="1850807" y="5329684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3C408F2-9B18-D2C9-19F5-46870DE63B73}"/>
                </a:ext>
              </a:extLst>
            </p:cNvPr>
            <p:cNvSpPr/>
            <p:nvPr/>
          </p:nvSpPr>
          <p:spPr>
            <a:xfrm>
              <a:off x="5153524" y="5335002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6230863-749A-3EFF-EC93-897F92A09650}"/>
                </a:ext>
              </a:extLst>
            </p:cNvPr>
            <p:cNvSpPr/>
            <p:nvPr/>
          </p:nvSpPr>
          <p:spPr>
            <a:xfrm>
              <a:off x="6364704" y="5335003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1D7FEEF-B34F-D455-39EE-AC3C77B55251}"/>
                </a:ext>
              </a:extLst>
            </p:cNvPr>
            <p:cNvSpPr/>
            <p:nvPr/>
          </p:nvSpPr>
          <p:spPr>
            <a:xfrm>
              <a:off x="6553199" y="533500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F3BAB36-E60F-7C79-C13A-D644FE231B21}"/>
                </a:ext>
              </a:extLst>
            </p:cNvPr>
            <p:cNvSpPr/>
            <p:nvPr/>
          </p:nvSpPr>
          <p:spPr>
            <a:xfrm>
              <a:off x="7297153" y="533048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693E1F5-E1BC-72C0-E9BA-12E0CD957694}"/>
                </a:ext>
              </a:extLst>
            </p:cNvPr>
            <p:cNvSpPr/>
            <p:nvPr/>
          </p:nvSpPr>
          <p:spPr>
            <a:xfrm>
              <a:off x="1533024" y="5335003"/>
              <a:ext cx="111291" cy="133848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82" name="TextBox 126">
            <a:extLst>
              <a:ext uri="{FF2B5EF4-FFF2-40B4-BE49-F238E27FC236}">
                <a16:creationId xmlns:a16="http://schemas.microsoft.com/office/drawing/2014/main" id="{C45AD973-4B7B-32EC-D95E-15E3F1BB1BE8}"/>
              </a:ext>
            </a:extLst>
          </p:cNvPr>
          <p:cNvSpPr txBox="1"/>
          <p:nvPr/>
        </p:nvSpPr>
        <p:spPr>
          <a:xfrm>
            <a:off x="2548493" y="1161267"/>
            <a:ext cx="4021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Evidence</a:t>
            </a:r>
            <a:r>
              <a:rPr lang="sv-SE" dirty="0"/>
              <a:t>: ESTs / Transcripts / Proteins</a:t>
            </a:r>
          </a:p>
        </p:txBody>
      </p:sp>
      <p:grpSp>
        <p:nvGrpSpPr>
          <p:cNvPr id="83" name="Group 2">
            <a:extLst>
              <a:ext uri="{FF2B5EF4-FFF2-40B4-BE49-F238E27FC236}">
                <a16:creationId xmlns:a16="http://schemas.microsoft.com/office/drawing/2014/main" id="{EA98A22C-E9A7-6DBC-10F0-3C3238ADF23D}"/>
              </a:ext>
            </a:extLst>
          </p:cNvPr>
          <p:cNvGrpSpPr/>
          <p:nvPr/>
        </p:nvGrpSpPr>
        <p:grpSpPr>
          <a:xfrm>
            <a:off x="2849360" y="3386759"/>
            <a:ext cx="6442698" cy="143378"/>
            <a:chOff x="1194802" y="4111179"/>
            <a:chExt cx="6442698" cy="143378"/>
          </a:xfrm>
        </p:grpSpPr>
        <p:grpSp>
          <p:nvGrpSpPr>
            <p:cNvPr id="84" name="Group 197">
              <a:extLst>
                <a:ext uri="{FF2B5EF4-FFF2-40B4-BE49-F238E27FC236}">
                  <a16:creationId xmlns:a16="http://schemas.microsoft.com/office/drawing/2014/main" id="{4525F4A7-5E87-6336-3224-E8A5B428B81C}"/>
                </a:ext>
              </a:extLst>
            </p:cNvPr>
            <p:cNvGrpSpPr/>
            <p:nvPr/>
          </p:nvGrpSpPr>
          <p:grpSpPr>
            <a:xfrm>
              <a:off x="1194802" y="4111681"/>
              <a:ext cx="6442698" cy="142876"/>
              <a:chOff x="1239252" y="4042701"/>
              <a:chExt cx="6442698" cy="142876"/>
            </a:xfrm>
          </p:grpSpPr>
          <p:grpSp>
            <p:nvGrpSpPr>
              <p:cNvPr id="86" name="Group 198">
                <a:extLst>
                  <a:ext uri="{FF2B5EF4-FFF2-40B4-BE49-F238E27FC236}">
                    <a16:creationId xmlns:a16="http://schemas.microsoft.com/office/drawing/2014/main" id="{3CE8ACFF-396E-86F6-554C-017F9ED1D71B}"/>
                  </a:ext>
                </a:extLst>
              </p:cNvPr>
              <p:cNvGrpSpPr/>
              <p:nvPr/>
            </p:nvGrpSpPr>
            <p:grpSpPr>
              <a:xfrm>
                <a:off x="1239252" y="4042701"/>
                <a:ext cx="6130091" cy="142876"/>
                <a:chOff x="1239252" y="3365341"/>
                <a:chExt cx="6130091" cy="142876"/>
              </a:xfrm>
            </p:grpSpPr>
            <p:grpSp>
              <p:nvGrpSpPr>
                <p:cNvPr id="88" name="Group 200">
                  <a:extLst>
                    <a:ext uri="{FF2B5EF4-FFF2-40B4-BE49-F238E27FC236}">
                      <a16:creationId xmlns:a16="http://schemas.microsoft.com/office/drawing/2014/main" id="{2ED76EF3-324E-F666-F1F6-8101289E3578}"/>
                    </a:ext>
                  </a:extLst>
                </p:cNvPr>
                <p:cNvGrpSpPr/>
                <p:nvPr/>
              </p:nvGrpSpPr>
              <p:grpSpPr>
                <a:xfrm>
                  <a:off x="1528011" y="3365341"/>
                  <a:ext cx="5841332" cy="142876"/>
                  <a:chOff x="1528011" y="5330489"/>
                  <a:chExt cx="5841332" cy="142876"/>
                </a:xfrm>
                <a:solidFill>
                  <a:schemeClr val="accent2">
                    <a:lumMod val="75000"/>
                  </a:schemeClr>
                </a:solidFill>
              </p:grpSpPr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BB490562-C669-7E7B-6F28-809DDF62D9D0}"/>
                      </a:ext>
                    </a:extLst>
                  </p:cNvPr>
                  <p:cNvSpPr/>
                  <p:nvPr/>
                </p:nvSpPr>
                <p:spPr>
                  <a:xfrm>
                    <a:off x="1608222" y="5365080"/>
                    <a:ext cx="5688932" cy="69181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v-SE"/>
                  </a:p>
                </p:txBody>
              </p:sp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56892004-1456-78DB-6A77-0DA440BAC090}"/>
                      </a:ext>
                    </a:extLst>
                  </p:cNvPr>
                  <p:cNvSpPr/>
                  <p:nvPr/>
                </p:nvSpPr>
                <p:spPr>
                  <a:xfrm>
                    <a:off x="1840829" y="5335002"/>
                    <a:ext cx="565485" cy="138363"/>
                  </a:xfrm>
                  <a:prstGeom prst="rect">
                    <a:avLst/>
                  </a:prstGeom>
                  <a:grpFill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v-SE"/>
                  </a:p>
                </p:txBody>
              </p:sp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9DEFEACC-1420-C22E-4124-215395E2FB85}"/>
                      </a:ext>
                    </a:extLst>
                  </p:cNvPr>
                  <p:cNvSpPr/>
                  <p:nvPr/>
                </p:nvSpPr>
                <p:spPr>
                  <a:xfrm>
                    <a:off x="2642935" y="5335001"/>
                    <a:ext cx="565485" cy="138363"/>
                  </a:xfrm>
                  <a:prstGeom prst="rect">
                    <a:avLst/>
                  </a:prstGeom>
                  <a:grpFill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v-SE"/>
                  </a:p>
                </p:txBody>
              </p:sp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B30EA8F3-5D97-C2EE-912B-0E2247DE7FB4}"/>
                      </a:ext>
                    </a:extLst>
                  </p:cNvPr>
                  <p:cNvSpPr/>
                  <p:nvPr/>
                </p:nvSpPr>
                <p:spPr>
                  <a:xfrm>
                    <a:off x="5151184" y="5335002"/>
                    <a:ext cx="565485" cy="138363"/>
                  </a:xfrm>
                  <a:prstGeom prst="rect">
                    <a:avLst/>
                  </a:prstGeom>
                  <a:grpFill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v-SE"/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BDAD63F1-4CB2-5E85-71F1-07FA328DA8B3}"/>
                      </a:ext>
                    </a:extLst>
                  </p:cNvPr>
                  <p:cNvSpPr/>
                  <p:nvPr/>
                </p:nvSpPr>
                <p:spPr>
                  <a:xfrm>
                    <a:off x="6362364" y="5335003"/>
                    <a:ext cx="74530" cy="138362"/>
                  </a:xfrm>
                  <a:prstGeom prst="rect">
                    <a:avLst/>
                  </a:prstGeom>
                  <a:grpFill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v-SE"/>
                  </a:p>
                </p:txBody>
              </p:sp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7184274B-07FE-5F3E-7B04-01E9C95B1EEF}"/>
                      </a:ext>
                    </a:extLst>
                  </p:cNvPr>
                  <p:cNvSpPr/>
                  <p:nvPr/>
                </p:nvSpPr>
                <p:spPr>
                  <a:xfrm>
                    <a:off x="6553199" y="5335001"/>
                    <a:ext cx="72190" cy="138362"/>
                  </a:xfrm>
                  <a:prstGeom prst="rect">
                    <a:avLst/>
                  </a:prstGeom>
                  <a:grpFill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v-SE"/>
                  </a:p>
                </p:txBody>
              </p:sp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56CA74AC-282F-CAFF-0FA0-10DC25BD0339}"/>
                      </a:ext>
                    </a:extLst>
                  </p:cNvPr>
                  <p:cNvSpPr/>
                  <p:nvPr/>
                </p:nvSpPr>
                <p:spPr>
                  <a:xfrm>
                    <a:off x="7297153" y="5330489"/>
                    <a:ext cx="72190" cy="138362"/>
                  </a:xfrm>
                  <a:prstGeom prst="rect">
                    <a:avLst/>
                  </a:prstGeom>
                  <a:grpFill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v-SE"/>
                  </a:p>
                </p:txBody>
              </p: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D2C966EC-9454-3A3F-BD5E-CF55CF46E83D}"/>
                      </a:ext>
                    </a:extLst>
                  </p:cNvPr>
                  <p:cNvSpPr/>
                  <p:nvPr/>
                </p:nvSpPr>
                <p:spPr>
                  <a:xfrm>
                    <a:off x="1528011" y="5335003"/>
                    <a:ext cx="116304" cy="138362"/>
                  </a:xfrm>
                  <a:prstGeom prst="rect">
                    <a:avLst/>
                  </a:prstGeom>
                  <a:grpFill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v-SE"/>
                  </a:p>
                </p:txBody>
              </p:sp>
            </p:grp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3C2D28E7-9B44-24C1-12A6-A5AED49EDF8C}"/>
                    </a:ext>
                  </a:extLst>
                </p:cNvPr>
                <p:cNvSpPr/>
                <p:nvPr/>
              </p:nvSpPr>
              <p:spPr>
                <a:xfrm>
                  <a:off x="1239252" y="3383389"/>
                  <a:ext cx="288759" cy="103772"/>
                </a:xfrm>
                <a:prstGeom prst="rect">
                  <a:avLst/>
                </a:prstGeom>
                <a:solidFill>
                  <a:srgbClr val="FF9300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CF5B723B-0226-D9DF-AF20-D708539353FE}"/>
                  </a:ext>
                </a:extLst>
              </p:cNvPr>
              <p:cNvSpPr/>
              <p:nvPr/>
            </p:nvSpPr>
            <p:spPr>
              <a:xfrm>
                <a:off x="7369343" y="4060749"/>
                <a:ext cx="312607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B61F764-57F6-4751-B050-ABCEFA8349A8}"/>
                </a:ext>
              </a:extLst>
            </p:cNvPr>
            <p:cNvSpPr/>
            <p:nvPr/>
          </p:nvSpPr>
          <p:spPr>
            <a:xfrm flipV="1">
              <a:off x="3684337" y="4111179"/>
              <a:ext cx="565485" cy="13886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98" name="TextBox 143">
            <a:extLst>
              <a:ext uri="{FF2B5EF4-FFF2-40B4-BE49-F238E27FC236}">
                <a16:creationId xmlns:a16="http://schemas.microsoft.com/office/drawing/2014/main" id="{A91C4AE8-8389-90C3-7262-C204F228A71D}"/>
              </a:ext>
            </a:extLst>
          </p:cNvPr>
          <p:cNvSpPr txBox="1"/>
          <p:nvPr/>
        </p:nvSpPr>
        <p:spPr>
          <a:xfrm>
            <a:off x="1654559" y="240480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b="1" dirty="0"/>
              <a:t>=&gt; S</a:t>
            </a:r>
            <a:r>
              <a:rPr lang="en-US" b="1" dirty="0"/>
              <a:t>elect the best possible set of exons and combine them in a consensus gene model</a:t>
            </a:r>
            <a:endParaRPr lang="sv-SE" b="1" dirty="0"/>
          </a:p>
        </p:txBody>
      </p:sp>
      <p:sp>
        <p:nvSpPr>
          <p:cNvPr id="99" name="TextBox 101">
            <a:extLst>
              <a:ext uri="{FF2B5EF4-FFF2-40B4-BE49-F238E27FC236}">
                <a16:creationId xmlns:a16="http://schemas.microsoft.com/office/drawing/2014/main" id="{EC92F636-B73B-3B9F-BE4C-9891170485CF}"/>
              </a:ext>
            </a:extLst>
          </p:cNvPr>
          <p:cNvSpPr txBox="1"/>
          <p:nvPr/>
        </p:nvSpPr>
        <p:spPr>
          <a:xfrm>
            <a:off x="1866999" y="447511"/>
            <a:ext cx="893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Combiner concept: </a:t>
            </a:r>
            <a:r>
              <a:rPr lang="sv-SE" sz="2000" dirty="0" err="1"/>
              <a:t>combining</a:t>
            </a:r>
            <a:r>
              <a:rPr lang="sv-SE" sz="2000" dirty="0"/>
              <a:t> different </a:t>
            </a:r>
            <a:r>
              <a:rPr lang="sv-SE" sz="2000" dirty="0" err="1"/>
              <a:t>lines</a:t>
            </a:r>
            <a:r>
              <a:rPr lang="sv-SE" sz="2000" dirty="0"/>
              <a:t> </a:t>
            </a:r>
            <a:r>
              <a:rPr lang="sv-SE" sz="2000" dirty="0" err="1"/>
              <a:t>of</a:t>
            </a:r>
            <a:r>
              <a:rPr lang="sv-SE" sz="2000" dirty="0"/>
              <a:t> </a:t>
            </a:r>
            <a:r>
              <a:rPr lang="sv-SE" sz="2000" dirty="0" err="1"/>
              <a:t>evidence</a:t>
            </a:r>
            <a:r>
              <a:rPr lang="sv-SE" sz="2000" dirty="0"/>
              <a:t> </a:t>
            </a:r>
            <a:r>
              <a:rPr lang="sv-SE" sz="2000" dirty="0" err="1"/>
              <a:t>into</a:t>
            </a:r>
            <a:r>
              <a:rPr lang="sv-SE" sz="2000" dirty="0"/>
              <a:t> gene </a:t>
            </a:r>
            <a:r>
              <a:rPr lang="sv-SE" sz="2000" dirty="0" err="1"/>
              <a:t>models</a:t>
            </a:r>
            <a:endParaRPr lang="sv-SE" sz="2000" dirty="0"/>
          </a:p>
        </p:txBody>
      </p:sp>
      <p:cxnSp>
        <p:nvCxnSpPr>
          <p:cNvPr id="100" name="Straight Connector 105">
            <a:extLst>
              <a:ext uri="{FF2B5EF4-FFF2-40B4-BE49-F238E27FC236}">
                <a16:creationId xmlns:a16="http://schemas.microsoft.com/office/drawing/2014/main" id="{0E7AFA8C-1D80-C59A-2347-ED23A3E0C9F2}"/>
              </a:ext>
            </a:extLst>
          </p:cNvPr>
          <p:cNvCxnSpPr/>
          <p:nvPr/>
        </p:nvCxnSpPr>
        <p:spPr>
          <a:xfrm>
            <a:off x="5338283" y="3105900"/>
            <a:ext cx="0" cy="2904940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6">
            <a:extLst>
              <a:ext uri="{FF2B5EF4-FFF2-40B4-BE49-F238E27FC236}">
                <a16:creationId xmlns:a16="http://schemas.microsoft.com/office/drawing/2014/main" id="{96231047-7CA5-5268-96A8-CBA781BAFC50}"/>
              </a:ext>
            </a:extLst>
          </p:cNvPr>
          <p:cNvCxnSpPr/>
          <p:nvPr/>
        </p:nvCxnSpPr>
        <p:spPr>
          <a:xfrm>
            <a:off x="5914727" y="3109899"/>
            <a:ext cx="0" cy="2904940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Espace réservé du contenu 1">
            <a:extLst>
              <a:ext uri="{FF2B5EF4-FFF2-40B4-BE49-F238E27FC236}">
                <a16:creationId xmlns:a16="http://schemas.microsoft.com/office/drawing/2014/main" id="{E8A2C8DA-8DFB-A7BE-3BEC-434FD7FFB1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Chooser / combiner</a:t>
            </a:r>
          </a:p>
        </p:txBody>
      </p:sp>
      <p:sp>
        <p:nvSpPr>
          <p:cNvPr id="103" name="Espace réservé du numéro de diapositive 2">
            <a:extLst>
              <a:ext uri="{FF2B5EF4-FFF2-40B4-BE49-F238E27FC236}">
                <a16:creationId xmlns:a16="http://schemas.microsoft.com/office/drawing/2014/main" id="{8D932C7E-700B-E8F4-4128-5E1F562E71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3807" y="6413961"/>
            <a:ext cx="854119" cy="309659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1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FDC76390-D3B2-8007-7810-81BA6F1D32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1996" cy="444500"/>
          </a:xfrm>
        </p:spPr>
        <p:txBody>
          <a:bodyPr/>
          <a:lstStyle/>
          <a:p>
            <a:r>
              <a:rPr lang="en-GB" dirty="0"/>
              <a:t>Chooser / combiner</a:t>
            </a:r>
          </a:p>
        </p:txBody>
      </p:sp>
      <p:sp>
        <p:nvSpPr>
          <p:cNvPr id="5" name="TextBox 93">
            <a:extLst>
              <a:ext uri="{FF2B5EF4-FFF2-40B4-BE49-F238E27FC236}">
                <a16:creationId xmlns:a16="http://schemas.microsoft.com/office/drawing/2014/main" id="{53DFF5D4-4EEE-0762-B42E-C9753F721DC3}"/>
              </a:ext>
            </a:extLst>
          </p:cNvPr>
          <p:cNvSpPr txBox="1"/>
          <p:nvPr/>
        </p:nvSpPr>
        <p:spPr>
          <a:xfrm>
            <a:off x="1862316" y="447511"/>
            <a:ext cx="4610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Chooser concept: </a:t>
            </a:r>
            <a:r>
              <a:rPr lang="sv-SE" sz="2000" dirty="0" err="1"/>
              <a:t>Select</a:t>
            </a:r>
            <a:r>
              <a:rPr lang="sv-SE" sz="2000" dirty="0"/>
              <a:t> best gene </a:t>
            </a:r>
            <a:r>
              <a:rPr lang="sv-SE" sz="2000" dirty="0" err="1"/>
              <a:t>models</a:t>
            </a:r>
            <a:endParaRPr lang="sv-SE" sz="2000" dirty="0"/>
          </a:p>
        </p:txBody>
      </p:sp>
      <p:sp>
        <p:nvSpPr>
          <p:cNvPr id="6" name="TextBox 95">
            <a:extLst>
              <a:ext uri="{FF2B5EF4-FFF2-40B4-BE49-F238E27FC236}">
                <a16:creationId xmlns:a16="http://schemas.microsoft.com/office/drawing/2014/main" id="{282F3B58-5FB9-84CD-09BC-CA7EEB72A81D}"/>
              </a:ext>
            </a:extLst>
          </p:cNvPr>
          <p:cNvSpPr txBox="1"/>
          <p:nvPr/>
        </p:nvSpPr>
        <p:spPr>
          <a:xfrm>
            <a:off x="2543810" y="847621"/>
            <a:ext cx="4021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Evidence</a:t>
            </a:r>
            <a:r>
              <a:rPr lang="sv-SE" dirty="0"/>
              <a:t>: ESTs / Transcripts / Proteins</a:t>
            </a:r>
          </a:p>
        </p:txBody>
      </p:sp>
      <p:sp>
        <p:nvSpPr>
          <p:cNvPr id="7" name="TextBox 97">
            <a:extLst>
              <a:ext uri="{FF2B5EF4-FFF2-40B4-BE49-F238E27FC236}">
                <a16:creationId xmlns:a16="http://schemas.microsoft.com/office/drawing/2014/main" id="{7CCB18FD-90C0-D642-A10B-739644D56FCC}"/>
              </a:ext>
            </a:extLst>
          </p:cNvPr>
          <p:cNvSpPr txBox="1"/>
          <p:nvPr/>
        </p:nvSpPr>
        <p:spPr>
          <a:xfrm>
            <a:off x="2534644" y="1163513"/>
            <a:ext cx="1418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Gene </a:t>
            </a:r>
            <a:r>
              <a:rPr lang="sv-SE" dirty="0" err="1"/>
              <a:t>models</a:t>
            </a:r>
            <a:endParaRPr lang="sv-S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FAFFB-6F0E-C817-4F01-0DAEF31EAE0B}"/>
              </a:ext>
            </a:extLst>
          </p:cNvPr>
          <p:cNvSpPr/>
          <p:nvPr/>
        </p:nvSpPr>
        <p:spPr>
          <a:xfrm>
            <a:off x="1940973" y="3670698"/>
            <a:ext cx="8728911" cy="16844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9" name="Group 197">
            <a:extLst>
              <a:ext uri="{FF2B5EF4-FFF2-40B4-BE49-F238E27FC236}">
                <a16:creationId xmlns:a16="http://schemas.microsoft.com/office/drawing/2014/main" id="{C7321D9A-E21F-4D3B-1FC4-C9FBC9FACF22}"/>
              </a:ext>
            </a:extLst>
          </p:cNvPr>
          <p:cNvGrpSpPr/>
          <p:nvPr/>
        </p:nvGrpSpPr>
        <p:grpSpPr>
          <a:xfrm>
            <a:off x="2844677" y="3332817"/>
            <a:ext cx="6442698" cy="142876"/>
            <a:chOff x="1239252" y="4042701"/>
            <a:chExt cx="6442698" cy="142876"/>
          </a:xfrm>
        </p:grpSpPr>
        <p:grpSp>
          <p:nvGrpSpPr>
            <p:cNvPr id="10" name="Group 198">
              <a:extLst>
                <a:ext uri="{FF2B5EF4-FFF2-40B4-BE49-F238E27FC236}">
                  <a16:creationId xmlns:a16="http://schemas.microsoft.com/office/drawing/2014/main" id="{962839D0-B78F-77E9-2556-2D44CDA54C4B}"/>
                </a:ext>
              </a:extLst>
            </p:cNvPr>
            <p:cNvGrpSpPr/>
            <p:nvPr/>
          </p:nvGrpSpPr>
          <p:grpSpPr>
            <a:xfrm>
              <a:off x="1239252" y="4042701"/>
              <a:ext cx="6130091" cy="142876"/>
              <a:chOff x="1239252" y="3365341"/>
              <a:chExt cx="6130091" cy="142876"/>
            </a:xfrm>
          </p:grpSpPr>
          <p:grpSp>
            <p:nvGrpSpPr>
              <p:cNvPr id="12" name="Group 200">
                <a:extLst>
                  <a:ext uri="{FF2B5EF4-FFF2-40B4-BE49-F238E27FC236}">
                    <a16:creationId xmlns:a16="http://schemas.microsoft.com/office/drawing/2014/main" id="{823FBA9E-EF83-50B9-C828-8E8CE3BF955C}"/>
                  </a:ext>
                </a:extLst>
              </p:cNvPr>
              <p:cNvGrpSpPr/>
              <p:nvPr/>
            </p:nvGrpSpPr>
            <p:grpSpPr>
              <a:xfrm>
                <a:off x="1528011" y="3365341"/>
                <a:ext cx="5841332" cy="142876"/>
                <a:chOff x="1528011" y="5330489"/>
                <a:chExt cx="5841332" cy="142876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360ECE8-6409-1EEA-83D9-1FC417A3BA02}"/>
                    </a:ext>
                  </a:extLst>
                </p:cNvPr>
                <p:cNvSpPr/>
                <p:nvPr/>
              </p:nvSpPr>
              <p:spPr>
                <a:xfrm>
                  <a:off x="1608222" y="5365080"/>
                  <a:ext cx="5688932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25F5E14-BD2E-F527-35CE-881737B24EB5}"/>
                    </a:ext>
                  </a:extLst>
                </p:cNvPr>
                <p:cNvSpPr/>
                <p:nvPr/>
              </p:nvSpPr>
              <p:spPr>
                <a:xfrm>
                  <a:off x="1840829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66C7B247-4A63-1EA5-F71F-1890AF2AE010}"/>
                    </a:ext>
                  </a:extLst>
                </p:cNvPr>
                <p:cNvSpPr/>
                <p:nvPr/>
              </p:nvSpPr>
              <p:spPr>
                <a:xfrm>
                  <a:off x="2642935" y="5335001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E5DBBFC-A2FD-1A59-18B8-BD0850B4964A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BFE8E380-C7E5-F209-3778-0E967C4A2E91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A647C99-B973-00E0-06E1-5772D85CD94D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49AA17D-8629-5C5D-6CE4-D13EE25BE476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74878CB9-B846-50D6-EFF9-F0AF90100C63}"/>
                    </a:ext>
                  </a:extLst>
                </p:cNvPr>
                <p:cNvSpPr/>
                <p:nvPr/>
              </p:nvSpPr>
              <p:spPr>
                <a:xfrm>
                  <a:off x="1528011" y="5335003"/>
                  <a:ext cx="116304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4315708-FD19-ECA8-BF88-AE0965B53226}"/>
                  </a:ext>
                </a:extLst>
              </p:cNvPr>
              <p:cNvSpPr/>
              <p:nvPr/>
            </p:nvSpPr>
            <p:spPr>
              <a:xfrm>
                <a:off x="1239252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1BF0EA-E4E4-04BB-AE49-87906FA88108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2" name="Group 210">
            <a:extLst>
              <a:ext uri="{FF2B5EF4-FFF2-40B4-BE49-F238E27FC236}">
                <a16:creationId xmlns:a16="http://schemas.microsoft.com/office/drawing/2014/main" id="{E9B9CF82-77BC-9B47-520A-A2F40184E6E6}"/>
              </a:ext>
            </a:extLst>
          </p:cNvPr>
          <p:cNvGrpSpPr/>
          <p:nvPr/>
        </p:nvGrpSpPr>
        <p:grpSpPr>
          <a:xfrm>
            <a:off x="3133436" y="4816033"/>
            <a:ext cx="5095038" cy="379668"/>
            <a:chOff x="1500274" y="4683203"/>
            <a:chExt cx="5095038" cy="379668"/>
          </a:xfrm>
          <a:solidFill>
            <a:schemeClr val="accent5"/>
          </a:solidFill>
        </p:grpSpPr>
        <p:grpSp>
          <p:nvGrpSpPr>
            <p:cNvPr id="23" name="Group 211">
              <a:extLst>
                <a:ext uri="{FF2B5EF4-FFF2-40B4-BE49-F238E27FC236}">
                  <a16:creationId xmlns:a16="http://schemas.microsoft.com/office/drawing/2014/main" id="{846DA13F-4933-BF64-974A-6B8CA94DE942}"/>
                </a:ext>
              </a:extLst>
            </p:cNvPr>
            <p:cNvGrpSpPr/>
            <p:nvPr/>
          </p:nvGrpSpPr>
          <p:grpSpPr>
            <a:xfrm>
              <a:off x="1810753" y="4683203"/>
              <a:ext cx="4784559" cy="138366"/>
              <a:chOff x="1840829" y="5852357"/>
              <a:chExt cx="4784559" cy="138366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A1C47C-CC56-1BE5-C63D-D7913FA6BB8C}"/>
                  </a:ext>
                </a:extLst>
              </p:cNvPr>
              <p:cNvSpPr/>
              <p:nvPr/>
            </p:nvSpPr>
            <p:spPr>
              <a:xfrm>
                <a:off x="1840829" y="5852360"/>
                <a:ext cx="282742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E227F9A-77AD-D2FC-EE62-CB19CC32D319}"/>
                  </a:ext>
                </a:extLst>
              </p:cNvPr>
              <p:cNvSpPr/>
              <p:nvPr/>
            </p:nvSpPr>
            <p:spPr>
              <a:xfrm>
                <a:off x="2642934" y="5852359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108BBD3-D0F7-D452-E0BC-3DF253873715}"/>
                  </a:ext>
                </a:extLst>
              </p:cNvPr>
              <p:cNvSpPr/>
              <p:nvPr/>
            </p:nvSpPr>
            <p:spPr>
              <a:xfrm>
                <a:off x="5153523" y="5852360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3F29D14-300F-5078-8FF9-D733FEF0DFAA}"/>
                  </a:ext>
                </a:extLst>
              </p:cNvPr>
              <p:cNvSpPr/>
              <p:nvPr/>
            </p:nvSpPr>
            <p:spPr>
              <a:xfrm>
                <a:off x="6364703" y="5852361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CB1CDE0-AF91-6038-1292-7F9A8A8D5F4C}"/>
                  </a:ext>
                </a:extLst>
              </p:cNvPr>
              <p:cNvSpPr/>
              <p:nvPr/>
            </p:nvSpPr>
            <p:spPr>
              <a:xfrm>
                <a:off x="6553198" y="5852359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BAD77721-D55E-A234-5245-17E09E88F1E6}"/>
                  </a:ext>
                </a:extLst>
              </p:cNvPr>
              <p:cNvSpPr/>
              <p:nvPr/>
            </p:nvSpPr>
            <p:spPr>
              <a:xfrm>
                <a:off x="2153653" y="5852358"/>
                <a:ext cx="282742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E33DCE5-58A1-8CFC-AF15-DD90F0CB102A}"/>
                  </a:ext>
                </a:extLst>
              </p:cNvPr>
              <p:cNvSpPr/>
              <p:nvPr/>
            </p:nvSpPr>
            <p:spPr>
              <a:xfrm>
                <a:off x="3917096" y="5852357"/>
                <a:ext cx="110473" cy="138366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grpSp>
          <p:nvGrpSpPr>
            <p:cNvPr id="24" name="Group 212">
              <a:extLst>
                <a:ext uri="{FF2B5EF4-FFF2-40B4-BE49-F238E27FC236}">
                  <a16:creationId xmlns:a16="http://schemas.microsoft.com/office/drawing/2014/main" id="{277913C5-13D9-8E41-8823-61BB4B63F205}"/>
                </a:ext>
              </a:extLst>
            </p:cNvPr>
            <p:cNvGrpSpPr/>
            <p:nvPr/>
          </p:nvGrpSpPr>
          <p:grpSpPr>
            <a:xfrm>
              <a:off x="1500274" y="4924506"/>
              <a:ext cx="5095038" cy="138365"/>
              <a:chOff x="1530350" y="5852358"/>
              <a:chExt cx="5095038" cy="138365"/>
            </a:xfrm>
            <a:grpFill/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CF4375A-13EA-C3E0-C9B2-B96236AFA721}"/>
                  </a:ext>
                </a:extLst>
              </p:cNvPr>
              <p:cNvSpPr/>
              <p:nvPr/>
            </p:nvSpPr>
            <p:spPr>
              <a:xfrm>
                <a:off x="1530350" y="5852361"/>
                <a:ext cx="116304" cy="138361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F661968-09B9-3689-F99C-B00A9D0FE4E7}"/>
                  </a:ext>
                </a:extLst>
              </p:cNvPr>
              <p:cNvSpPr/>
              <p:nvPr/>
            </p:nvSpPr>
            <p:spPr>
              <a:xfrm>
                <a:off x="2642934" y="5852359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844CBA7-313F-A8EE-517A-518FE169A23C}"/>
                  </a:ext>
                </a:extLst>
              </p:cNvPr>
              <p:cNvSpPr/>
              <p:nvPr/>
            </p:nvSpPr>
            <p:spPr>
              <a:xfrm>
                <a:off x="5153523" y="5852360"/>
                <a:ext cx="565485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9724471-B16A-FEBD-2A9B-2661081FA348}"/>
                  </a:ext>
                </a:extLst>
              </p:cNvPr>
              <p:cNvSpPr/>
              <p:nvPr/>
            </p:nvSpPr>
            <p:spPr>
              <a:xfrm>
                <a:off x="6364703" y="5852361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89893B2-C977-EE65-D6CB-6013AF99211A}"/>
                  </a:ext>
                </a:extLst>
              </p:cNvPr>
              <p:cNvSpPr/>
              <p:nvPr/>
            </p:nvSpPr>
            <p:spPr>
              <a:xfrm>
                <a:off x="6553198" y="5852359"/>
                <a:ext cx="72190" cy="138362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42D31DC-B102-1760-6930-2BD2E045B988}"/>
                  </a:ext>
                </a:extLst>
              </p:cNvPr>
              <p:cNvSpPr/>
              <p:nvPr/>
            </p:nvSpPr>
            <p:spPr>
              <a:xfrm>
                <a:off x="1843169" y="5852358"/>
                <a:ext cx="593226" cy="138363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grpSp>
        <p:nvGrpSpPr>
          <p:cNvPr id="38" name="Group 226">
            <a:extLst>
              <a:ext uri="{FF2B5EF4-FFF2-40B4-BE49-F238E27FC236}">
                <a16:creationId xmlns:a16="http://schemas.microsoft.com/office/drawing/2014/main" id="{9D2B2258-F0A0-D1E5-FDFB-04FF8AA06A18}"/>
              </a:ext>
            </a:extLst>
          </p:cNvPr>
          <p:cNvGrpSpPr/>
          <p:nvPr/>
        </p:nvGrpSpPr>
        <p:grpSpPr>
          <a:xfrm>
            <a:off x="2844677" y="3958783"/>
            <a:ext cx="6442698" cy="741948"/>
            <a:chOff x="1239252" y="5210265"/>
            <a:chExt cx="6442698" cy="741948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2FF75D7-5C1A-600B-1F41-B58A663CA468}"/>
                </a:ext>
              </a:extLst>
            </p:cNvPr>
            <p:cNvSpPr/>
            <p:nvPr/>
          </p:nvSpPr>
          <p:spPr>
            <a:xfrm>
              <a:off x="2642937" y="5210265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7919BCC-3F46-1CD8-3545-595FB8E88FAE}"/>
                </a:ext>
              </a:extLst>
            </p:cNvPr>
            <p:cNvSpPr/>
            <p:nvPr/>
          </p:nvSpPr>
          <p:spPr>
            <a:xfrm>
              <a:off x="5153526" y="5210266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6A9EAB9-CE9F-EA87-1CEF-EF3B09EA11FA}"/>
                </a:ext>
              </a:extLst>
            </p:cNvPr>
            <p:cNvSpPr/>
            <p:nvPr/>
          </p:nvSpPr>
          <p:spPr>
            <a:xfrm>
              <a:off x="6364706" y="5210267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45C5850-093A-B2D6-372E-719D09760BA0}"/>
                </a:ext>
              </a:extLst>
            </p:cNvPr>
            <p:cNvSpPr/>
            <p:nvPr/>
          </p:nvSpPr>
          <p:spPr>
            <a:xfrm>
              <a:off x="6553201" y="5210265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158EA9E-AD39-EF30-0E16-13AF31DD8726}"/>
                </a:ext>
              </a:extLst>
            </p:cNvPr>
            <p:cNvSpPr/>
            <p:nvPr/>
          </p:nvSpPr>
          <p:spPr>
            <a:xfrm>
              <a:off x="1840830" y="5549156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8BF9283-C9C0-8F19-5472-23D74A2E79F9}"/>
                </a:ext>
              </a:extLst>
            </p:cNvPr>
            <p:cNvSpPr/>
            <p:nvPr/>
          </p:nvSpPr>
          <p:spPr>
            <a:xfrm>
              <a:off x="2719137" y="5549155"/>
              <a:ext cx="489284" cy="138364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0910DE5-30F4-35E1-A84E-CC8F0995013E}"/>
                </a:ext>
              </a:extLst>
            </p:cNvPr>
            <p:cNvSpPr/>
            <p:nvPr/>
          </p:nvSpPr>
          <p:spPr>
            <a:xfrm>
              <a:off x="5153525" y="5549156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2D30B13-549A-399A-434B-B15D5DE36A09}"/>
                </a:ext>
              </a:extLst>
            </p:cNvPr>
            <p:cNvSpPr/>
            <p:nvPr/>
          </p:nvSpPr>
          <p:spPr>
            <a:xfrm>
              <a:off x="6364705" y="5549157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9583E64-716D-DABD-9B35-705FB2F81063}"/>
                </a:ext>
              </a:extLst>
            </p:cNvPr>
            <p:cNvSpPr/>
            <p:nvPr/>
          </p:nvSpPr>
          <p:spPr>
            <a:xfrm>
              <a:off x="1239252" y="5544145"/>
              <a:ext cx="405063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F8F2A7B-8588-2AA0-D0D3-EC99415F8ABF}"/>
                </a:ext>
              </a:extLst>
            </p:cNvPr>
            <p:cNvSpPr/>
            <p:nvPr/>
          </p:nvSpPr>
          <p:spPr>
            <a:xfrm>
              <a:off x="2642936" y="5813849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598DD33-F27F-0E8F-9E20-10465EF42743}"/>
                </a:ext>
              </a:extLst>
            </p:cNvPr>
            <p:cNvSpPr/>
            <p:nvPr/>
          </p:nvSpPr>
          <p:spPr>
            <a:xfrm>
              <a:off x="5153525" y="5813850"/>
              <a:ext cx="56548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F5B829D-83EB-FDC4-F563-9574B690995A}"/>
                </a:ext>
              </a:extLst>
            </p:cNvPr>
            <p:cNvSpPr/>
            <p:nvPr/>
          </p:nvSpPr>
          <p:spPr>
            <a:xfrm>
              <a:off x="6364705" y="5813851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7A2F545-AD96-B949-0E4B-A53F361666EE}"/>
                </a:ext>
              </a:extLst>
            </p:cNvPr>
            <p:cNvSpPr/>
            <p:nvPr/>
          </p:nvSpPr>
          <p:spPr>
            <a:xfrm>
              <a:off x="6553200" y="5813849"/>
              <a:ext cx="72190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A2FB010-93DC-7629-5B1B-DB2243F6A618}"/>
                </a:ext>
              </a:extLst>
            </p:cNvPr>
            <p:cNvSpPr/>
            <p:nvPr/>
          </p:nvSpPr>
          <p:spPr>
            <a:xfrm>
              <a:off x="7297153" y="5813849"/>
              <a:ext cx="384797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E58D9DC-6AAD-402D-B9C6-345EC4AA6531}"/>
                </a:ext>
              </a:extLst>
            </p:cNvPr>
            <p:cNvSpPr/>
            <p:nvPr/>
          </p:nvSpPr>
          <p:spPr>
            <a:xfrm>
              <a:off x="1239252" y="5813849"/>
              <a:ext cx="405063" cy="138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B355E1-D1CA-06A2-AC71-F565FE69B4F7}"/>
                </a:ext>
              </a:extLst>
            </p:cNvPr>
            <p:cNvSpPr/>
            <p:nvPr/>
          </p:nvSpPr>
          <p:spPr>
            <a:xfrm>
              <a:off x="3807998" y="5813848"/>
              <a:ext cx="208545" cy="138363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55" name="Group 243">
            <a:extLst>
              <a:ext uri="{FF2B5EF4-FFF2-40B4-BE49-F238E27FC236}">
                <a16:creationId xmlns:a16="http://schemas.microsoft.com/office/drawing/2014/main" id="{510E1C41-71D5-E7F3-CDE5-42C540CC556F}"/>
              </a:ext>
            </a:extLst>
          </p:cNvPr>
          <p:cNvGrpSpPr/>
          <p:nvPr/>
        </p:nvGrpSpPr>
        <p:grpSpPr>
          <a:xfrm>
            <a:off x="2844677" y="2676379"/>
            <a:ext cx="6442698" cy="3334461"/>
            <a:chOff x="1194802" y="3776160"/>
            <a:chExt cx="6442698" cy="2959100"/>
          </a:xfrm>
        </p:grpSpPr>
        <p:cxnSp>
          <p:nvCxnSpPr>
            <p:cNvPr id="56" name="Straight Connector 244">
              <a:extLst>
                <a:ext uri="{FF2B5EF4-FFF2-40B4-BE49-F238E27FC236}">
                  <a16:creationId xmlns:a16="http://schemas.microsoft.com/office/drawing/2014/main" id="{6463FC2D-321E-02EB-44F7-032BD4B411B8}"/>
                </a:ext>
              </a:extLst>
            </p:cNvPr>
            <p:cNvCxnSpPr/>
            <p:nvPr/>
          </p:nvCxnSpPr>
          <p:spPr>
            <a:xfrm>
              <a:off x="1194802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245">
              <a:extLst>
                <a:ext uri="{FF2B5EF4-FFF2-40B4-BE49-F238E27FC236}">
                  <a16:creationId xmlns:a16="http://schemas.microsoft.com/office/drawing/2014/main" id="{5AB9EC87-C6D3-FF72-94F6-FA8C7D0188E6}"/>
                </a:ext>
              </a:extLst>
            </p:cNvPr>
            <p:cNvCxnSpPr/>
            <p:nvPr/>
          </p:nvCxnSpPr>
          <p:spPr>
            <a:xfrm>
              <a:off x="1599865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246">
              <a:extLst>
                <a:ext uri="{FF2B5EF4-FFF2-40B4-BE49-F238E27FC236}">
                  <a16:creationId xmlns:a16="http://schemas.microsoft.com/office/drawing/2014/main" id="{459DD4E8-BC50-969F-EF98-327AF3974A47}"/>
                </a:ext>
              </a:extLst>
            </p:cNvPr>
            <p:cNvCxnSpPr/>
            <p:nvPr/>
          </p:nvCxnSpPr>
          <p:spPr>
            <a:xfrm>
              <a:off x="1483561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247">
              <a:extLst>
                <a:ext uri="{FF2B5EF4-FFF2-40B4-BE49-F238E27FC236}">
                  <a16:creationId xmlns:a16="http://schemas.microsoft.com/office/drawing/2014/main" id="{F4C30D73-015E-7D0E-458C-61B824F36F4F}"/>
                </a:ext>
              </a:extLst>
            </p:cNvPr>
            <p:cNvCxnSpPr/>
            <p:nvPr/>
          </p:nvCxnSpPr>
          <p:spPr>
            <a:xfrm>
              <a:off x="1797047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248">
              <a:extLst>
                <a:ext uri="{FF2B5EF4-FFF2-40B4-BE49-F238E27FC236}">
                  <a16:creationId xmlns:a16="http://schemas.microsoft.com/office/drawing/2014/main" id="{026E0228-7E60-A8CC-F42F-0C1EBE40B845}"/>
                </a:ext>
              </a:extLst>
            </p:cNvPr>
            <p:cNvCxnSpPr/>
            <p:nvPr/>
          </p:nvCxnSpPr>
          <p:spPr>
            <a:xfrm>
              <a:off x="2361864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249">
              <a:extLst>
                <a:ext uri="{FF2B5EF4-FFF2-40B4-BE49-F238E27FC236}">
                  <a16:creationId xmlns:a16="http://schemas.microsoft.com/office/drawing/2014/main" id="{55BBED49-74B7-BE5C-2E9E-565D5AB63C95}"/>
                </a:ext>
              </a:extLst>
            </p:cNvPr>
            <p:cNvCxnSpPr/>
            <p:nvPr/>
          </p:nvCxnSpPr>
          <p:spPr>
            <a:xfrm>
              <a:off x="2596145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250">
              <a:extLst>
                <a:ext uri="{FF2B5EF4-FFF2-40B4-BE49-F238E27FC236}">
                  <a16:creationId xmlns:a16="http://schemas.microsoft.com/office/drawing/2014/main" id="{57F23422-9DE7-664F-D988-30DFC536FA75}"/>
                </a:ext>
              </a:extLst>
            </p:cNvPr>
            <p:cNvCxnSpPr/>
            <p:nvPr/>
          </p:nvCxnSpPr>
          <p:spPr>
            <a:xfrm>
              <a:off x="3161630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251">
              <a:extLst>
                <a:ext uri="{FF2B5EF4-FFF2-40B4-BE49-F238E27FC236}">
                  <a16:creationId xmlns:a16="http://schemas.microsoft.com/office/drawing/2014/main" id="{CC3AEB02-F9C8-C3F4-AB45-C208D254F230}"/>
                </a:ext>
              </a:extLst>
            </p:cNvPr>
            <p:cNvCxnSpPr/>
            <p:nvPr/>
          </p:nvCxnSpPr>
          <p:spPr>
            <a:xfrm>
              <a:off x="5109076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252">
              <a:extLst>
                <a:ext uri="{FF2B5EF4-FFF2-40B4-BE49-F238E27FC236}">
                  <a16:creationId xmlns:a16="http://schemas.microsoft.com/office/drawing/2014/main" id="{3ABA7375-0E9E-2ABB-3165-6D6D25FE97A7}"/>
                </a:ext>
              </a:extLst>
            </p:cNvPr>
            <p:cNvCxnSpPr/>
            <p:nvPr/>
          </p:nvCxnSpPr>
          <p:spPr>
            <a:xfrm>
              <a:off x="5674559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253">
              <a:extLst>
                <a:ext uri="{FF2B5EF4-FFF2-40B4-BE49-F238E27FC236}">
                  <a16:creationId xmlns:a16="http://schemas.microsoft.com/office/drawing/2014/main" id="{E4F191BF-209A-1FBE-C5BD-66B080DEEE77}"/>
                </a:ext>
              </a:extLst>
            </p:cNvPr>
            <p:cNvCxnSpPr/>
            <p:nvPr/>
          </p:nvCxnSpPr>
          <p:spPr>
            <a:xfrm>
              <a:off x="6317914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254">
              <a:extLst>
                <a:ext uri="{FF2B5EF4-FFF2-40B4-BE49-F238E27FC236}">
                  <a16:creationId xmlns:a16="http://schemas.microsoft.com/office/drawing/2014/main" id="{E093AF30-5C38-8963-1CCE-46B9DDC12734}"/>
                </a:ext>
              </a:extLst>
            </p:cNvPr>
            <p:cNvCxnSpPr/>
            <p:nvPr/>
          </p:nvCxnSpPr>
          <p:spPr>
            <a:xfrm>
              <a:off x="6389768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255">
              <a:extLst>
                <a:ext uri="{FF2B5EF4-FFF2-40B4-BE49-F238E27FC236}">
                  <a16:creationId xmlns:a16="http://schemas.microsoft.com/office/drawing/2014/main" id="{8DF46E1A-887A-FE07-CB65-9FE3B3D3084B}"/>
                </a:ext>
              </a:extLst>
            </p:cNvPr>
            <p:cNvCxnSpPr/>
            <p:nvPr/>
          </p:nvCxnSpPr>
          <p:spPr>
            <a:xfrm>
              <a:off x="6508751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256">
              <a:extLst>
                <a:ext uri="{FF2B5EF4-FFF2-40B4-BE49-F238E27FC236}">
                  <a16:creationId xmlns:a16="http://schemas.microsoft.com/office/drawing/2014/main" id="{0D7EB573-FB0F-FA1D-D63F-D9E36B716BBF}"/>
                </a:ext>
              </a:extLst>
            </p:cNvPr>
            <p:cNvCxnSpPr/>
            <p:nvPr/>
          </p:nvCxnSpPr>
          <p:spPr>
            <a:xfrm>
              <a:off x="6578599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257">
              <a:extLst>
                <a:ext uri="{FF2B5EF4-FFF2-40B4-BE49-F238E27FC236}">
                  <a16:creationId xmlns:a16="http://schemas.microsoft.com/office/drawing/2014/main" id="{85D1C23E-9057-45BD-FEBE-EFC57EAE0BA5}"/>
                </a:ext>
              </a:extLst>
            </p:cNvPr>
            <p:cNvCxnSpPr/>
            <p:nvPr/>
          </p:nvCxnSpPr>
          <p:spPr>
            <a:xfrm>
              <a:off x="7252703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258">
              <a:extLst>
                <a:ext uri="{FF2B5EF4-FFF2-40B4-BE49-F238E27FC236}">
                  <a16:creationId xmlns:a16="http://schemas.microsoft.com/office/drawing/2014/main" id="{7B29DC08-8526-6718-D35B-29B23B43BD06}"/>
                </a:ext>
              </a:extLst>
            </p:cNvPr>
            <p:cNvCxnSpPr/>
            <p:nvPr/>
          </p:nvCxnSpPr>
          <p:spPr>
            <a:xfrm>
              <a:off x="7637500" y="3776160"/>
              <a:ext cx="0" cy="29591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259">
            <a:extLst>
              <a:ext uri="{FF2B5EF4-FFF2-40B4-BE49-F238E27FC236}">
                <a16:creationId xmlns:a16="http://schemas.microsoft.com/office/drawing/2014/main" id="{3A232858-F26A-022E-309D-A2DB891EA293}"/>
              </a:ext>
            </a:extLst>
          </p:cNvPr>
          <p:cNvGrpSpPr/>
          <p:nvPr/>
        </p:nvGrpSpPr>
        <p:grpSpPr>
          <a:xfrm>
            <a:off x="2844677" y="3107138"/>
            <a:ext cx="6442698" cy="142876"/>
            <a:chOff x="1239252" y="4042701"/>
            <a:chExt cx="6442698" cy="142876"/>
          </a:xfrm>
        </p:grpSpPr>
        <p:grpSp>
          <p:nvGrpSpPr>
            <p:cNvPr id="72" name="Group 260">
              <a:extLst>
                <a:ext uri="{FF2B5EF4-FFF2-40B4-BE49-F238E27FC236}">
                  <a16:creationId xmlns:a16="http://schemas.microsoft.com/office/drawing/2014/main" id="{A159482F-D624-01C3-A998-51D3D5EDE2E8}"/>
                </a:ext>
              </a:extLst>
            </p:cNvPr>
            <p:cNvGrpSpPr/>
            <p:nvPr/>
          </p:nvGrpSpPr>
          <p:grpSpPr>
            <a:xfrm>
              <a:off x="1239252" y="4042701"/>
              <a:ext cx="6130091" cy="142876"/>
              <a:chOff x="1239252" y="3365341"/>
              <a:chExt cx="6130091" cy="142876"/>
            </a:xfrm>
          </p:grpSpPr>
          <p:grpSp>
            <p:nvGrpSpPr>
              <p:cNvPr id="74" name="Group 262">
                <a:extLst>
                  <a:ext uri="{FF2B5EF4-FFF2-40B4-BE49-F238E27FC236}">
                    <a16:creationId xmlns:a16="http://schemas.microsoft.com/office/drawing/2014/main" id="{BF804771-F5BF-1D36-6EB1-889E98DA0C00}"/>
                  </a:ext>
                </a:extLst>
              </p:cNvPr>
              <p:cNvGrpSpPr/>
              <p:nvPr/>
            </p:nvGrpSpPr>
            <p:grpSpPr>
              <a:xfrm>
                <a:off x="1528011" y="3365341"/>
                <a:ext cx="5841332" cy="142876"/>
                <a:chOff x="1528011" y="5330489"/>
                <a:chExt cx="5841332" cy="142876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72DB1A0F-A7A7-10CB-1549-6108B5B40354}"/>
                    </a:ext>
                  </a:extLst>
                </p:cNvPr>
                <p:cNvSpPr/>
                <p:nvPr/>
              </p:nvSpPr>
              <p:spPr>
                <a:xfrm>
                  <a:off x="1608222" y="5365080"/>
                  <a:ext cx="5688932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5F89D9CB-9846-9AD3-F8D4-54BF6E5EB302}"/>
                    </a:ext>
                  </a:extLst>
                </p:cNvPr>
                <p:cNvSpPr/>
                <p:nvPr/>
              </p:nvSpPr>
              <p:spPr>
                <a:xfrm>
                  <a:off x="3733800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6BE152A-2FB1-1998-BA14-A217C8688C3B}"/>
                    </a:ext>
                  </a:extLst>
                </p:cNvPr>
                <p:cNvSpPr/>
                <p:nvPr/>
              </p:nvSpPr>
              <p:spPr>
                <a:xfrm>
                  <a:off x="2642935" y="5335001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42902D3B-F53D-B4B4-7605-71DE94B0AE6F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BA2F5789-F5C9-50E9-0265-E9B4CA58E136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AA10A99A-7946-3402-5F88-79BB4CAFA6C5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BA8E9EFC-8214-EA7A-BF7F-0437042A8F4D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7825BDBB-B7F2-EC64-C054-0CAB11420C12}"/>
                    </a:ext>
                  </a:extLst>
                </p:cNvPr>
                <p:cNvSpPr/>
                <p:nvPr/>
              </p:nvSpPr>
              <p:spPr>
                <a:xfrm>
                  <a:off x="1528011" y="5335003"/>
                  <a:ext cx="116304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78672A3-863D-52CD-586F-07E54D64D9DC}"/>
                  </a:ext>
                </a:extLst>
              </p:cNvPr>
              <p:cNvSpPr/>
              <p:nvPr/>
            </p:nvSpPr>
            <p:spPr>
              <a:xfrm>
                <a:off x="1239252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CD7491E-2B27-6DBA-6DD8-EAECE050DED6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84" name="Group 281">
            <a:extLst>
              <a:ext uri="{FF2B5EF4-FFF2-40B4-BE49-F238E27FC236}">
                <a16:creationId xmlns:a16="http://schemas.microsoft.com/office/drawing/2014/main" id="{28D37A47-7F09-A8EB-91DB-C8786CE1863C}"/>
              </a:ext>
            </a:extLst>
          </p:cNvPr>
          <p:cNvGrpSpPr/>
          <p:nvPr/>
        </p:nvGrpSpPr>
        <p:grpSpPr>
          <a:xfrm>
            <a:off x="2844677" y="2841748"/>
            <a:ext cx="6442698" cy="142877"/>
            <a:chOff x="1239252" y="4042700"/>
            <a:chExt cx="6442698" cy="142877"/>
          </a:xfrm>
        </p:grpSpPr>
        <p:grpSp>
          <p:nvGrpSpPr>
            <p:cNvPr id="85" name="Group 282">
              <a:extLst>
                <a:ext uri="{FF2B5EF4-FFF2-40B4-BE49-F238E27FC236}">
                  <a16:creationId xmlns:a16="http://schemas.microsoft.com/office/drawing/2014/main" id="{25967429-CB1F-2C2E-D3DC-4B8E0BB76A9F}"/>
                </a:ext>
              </a:extLst>
            </p:cNvPr>
            <p:cNvGrpSpPr/>
            <p:nvPr/>
          </p:nvGrpSpPr>
          <p:grpSpPr>
            <a:xfrm>
              <a:off x="1239252" y="4042700"/>
              <a:ext cx="6130091" cy="142877"/>
              <a:chOff x="1239252" y="3365340"/>
              <a:chExt cx="6130091" cy="142877"/>
            </a:xfrm>
          </p:grpSpPr>
          <p:grpSp>
            <p:nvGrpSpPr>
              <p:cNvPr id="87" name="Group 284">
                <a:extLst>
                  <a:ext uri="{FF2B5EF4-FFF2-40B4-BE49-F238E27FC236}">
                    <a16:creationId xmlns:a16="http://schemas.microsoft.com/office/drawing/2014/main" id="{3906354A-EC96-9BA5-3192-020D8A618F13}"/>
                  </a:ext>
                </a:extLst>
              </p:cNvPr>
              <p:cNvGrpSpPr/>
              <p:nvPr/>
            </p:nvGrpSpPr>
            <p:grpSpPr>
              <a:xfrm>
                <a:off x="1528011" y="3365340"/>
                <a:ext cx="5841332" cy="142877"/>
                <a:chOff x="1528011" y="5330488"/>
                <a:chExt cx="5841332" cy="142877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A53562F9-594F-971C-F902-D66D756E81B2}"/>
                    </a:ext>
                  </a:extLst>
                </p:cNvPr>
                <p:cNvSpPr/>
                <p:nvPr/>
              </p:nvSpPr>
              <p:spPr>
                <a:xfrm>
                  <a:off x="1608222" y="5365080"/>
                  <a:ext cx="5688932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3D785B0B-F981-FBD1-37A8-A1EB325E99F9}"/>
                    </a:ext>
                  </a:extLst>
                </p:cNvPr>
                <p:cNvSpPr/>
                <p:nvPr/>
              </p:nvSpPr>
              <p:spPr>
                <a:xfrm>
                  <a:off x="1834204" y="5330488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A05D4F70-C9E9-03E4-EBF5-EC19FCBC8B30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8481963E-EF40-CD42-A844-54E085087F07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10EAF083-E47B-D787-CCBD-53D876689510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1D9C6A42-F4E1-1E0B-FBA8-1C50083687F9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1E9A7B78-B3BF-C163-557A-86CFB1882BFD}"/>
                    </a:ext>
                  </a:extLst>
                </p:cNvPr>
                <p:cNvSpPr/>
                <p:nvPr/>
              </p:nvSpPr>
              <p:spPr>
                <a:xfrm>
                  <a:off x="1528011" y="5335003"/>
                  <a:ext cx="116304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2F22184-0DCB-27F5-ABD3-1D730AEE7E36}"/>
                  </a:ext>
                </a:extLst>
              </p:cNvPr>
              <p:cNvSpPr/>
              <p:nvPr/>
            </p:nvSpPr>
            <p:spPr>
              <a:xfrm>
                <a:off x="1239252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2A7A9D1-23DA-D295-CB01-DB105E4B515C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</p:grpSp>
      <p:sp>
        <p:nvSpPr>
          <p:cNvPr id="96" name="TextBox 303">
            <a:extLst>
              <a:ext uri="{FF2B5EF4-FFF2-40B4-BE49-F238E27FC236}">
                <a16:creationId xmlns:a16="http://schemas.microsoft.com/office/drawing/2014/main" id="{F89D444E-5753-9626-2970-C4C0C8208A4D}"/>
              </a:ext>
            </a:extLst>
          </p:cNvPr>
          <p:cNvSpPr txBox="1"/>
          <p:nvPr/>
        </p:nvSpPr>
        <p:spPr>
          <a:xfrm>
            <a:off x="2527098" y="2035474"/>
            <a:ext cx="5868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=&gt; </a:t>
            </a:r>
            <a:r>
              <a:rPr lang="en-US" b="1" dirty="0"/>
              <a:t>Choose the prediction whose best matches the evidence </a:t>
            </a:r>
            <a:endParaRPr lang="sv-SE" b="1" dirty="0"/>
          </a:p>
        </p:txBody>
      </p:sp>
      <p:sp>
        <p:nvSpPr>
          <p:cNvPr id="99" name="Espace réservé du numéro de diapositive 2">
            <a:extLst>
              <a:ext uri="{FF2B5EF4-FFF2-40B4-BE49-F238E27FC236}">
                <a16:creationId xmlns:a16="http://schemas.microsoft.com/office/drawing/2014/main" id="{9DEF1DE3-EFA4-49C7-FFBA-37BB03647C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3807" y="6413961"/>
            <a:ext cx="854119" cy="309659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99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370498F-7925-2756-F0FD-86083B3006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939997" y="5658102"/>
            <a:ext cx="854119" cy="309659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TextBox 93">
            <a:extLst>
              <a:ext uri="{FF2B5EF4-FFF2-40B4-BE49-F238E27FC236}">
                <a16:creationId xmlns:a16="http://schemas.microsoft.com/office/drawing/2014/main" id="{0CE0210E-3F69-06A3-1C70-B83221AB1A8D}"/>
              </a:ext>
            </a:extLst>
          </p:cNvPr>
          <p:cNvSpPr txBox="1"/>
          <p:nvPr/>
        </p:nvSpPr>
        <p:spPr>
          <a:xfrm>
            <a:off x="1844178" y="453779"/>
            <a:ext cx="4610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Chooser concept: </a:t>
            </a:r>
            <a:r>
              <a:rPr lang="sv-SE" sz="2000" dirty="0" err="1"/>
              <a:t>Select</a:t>
            </a:r>
            <a:r>
              <a:rPr lang="sv-SE" sz="2000" dirty="0"/>
              <a:t> best gene </a:t>
            </a:r>
            <a:r>
              <a:rPr lang="sv-SE" sz="2000" dirty="0" err="1"/>
              <a:t>models</a:t>
            </a:r>
            <a:endParaRPr lang="sv-SE" sz="2000" dirty="0"/>
          </a:p>
        </p:txBody>
      </p:sp>
      <p:sp>
        <p:nvSpPr>
          <p:cNvPr id="5" name="TextBox 184">
            <a:extLst>
              <a:ext uri="{FF2B5EF4-FFF2-40B4-BE49-F238E27FC236}">
                <a16:creationId xmlns:a16="http://schemas.microsoft.com/office/drawing/2014/main" id="{9344C279-8FCC-8BE9-3F48-45E4CF6B755D}"/>
              </a:ext>
            </a:extLst>
          </p:cNvPr>
          <p:cNvSpPr txBox="1"/>
          <p:nvPr/>
        </p:nvSpPr>
        <p:spPr>
          <a:xfrm>
            <a:off x="2523950" y="2034247"/>
            <a:ext cx="7137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=&gt; </a:t>
            </a:r>
            <a:r>
              <a:rPr lang="en-US" b="1" dirty="0"/>
              <a:t>Choose the prediction whose structure best represents the consensus</a:t>
            </a:r>
            <a:r>
              <a:rPr lang="sv-SE" b="1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E4BE19-68BB-8002-E03A-8E7FADF97BDD}"/>
              </a:ext>
            </a:extLst>
          </p:cNvPr>
          <p:cNvSpPr/>
          <p:nvPr/>
        </p:nvSpPr>
        <p:spPr>
          <a:xfrm>
            <a:off x="1937825" y="3669471"/>
            <a:ext cx="8728911" cy="16844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7" name="Group 197">
            <a:extLst>
              <a:ext uri="{FF2B5EF4-FFF2-40B4-BE49-F238E27FC236}">
                <a16:creationId xmlns:a16="http://schemas.microsoft.com/office/drawing/2014/main" id="{DC25B04D-E1B6-413D-FB79-707F2198BACE}"/>
              </a:ext>
            </a:extLst>
          </p:cNvPr>
          <p:cNvGrpSpPr/>
          <p:nvPr/>
        </p:nvGrpSpPr>
        <p:grpSpPr>
          <a:xfrm>
            <a:off x="2841529" y="3331590"/>
            <a:ext cx="6442698" cy="142876"/>
            <a:chOff x="1239252" y="4042701"/>
            <a:chExt cx="6442698" cy="142876"/>
          </a:xfrm>
        </p:grpSpPr>
        <p:grpSp>
          <p:nvGrpSpPr>
            <p:cNvPr id="8" name="Group 198">
              <a:extLst>
                <a:ext uri="{FF2B5EF4-FFF2-40B4-BE49-F238E27FC236}">
                  <a16:creationId xmlns:a16="http://schemas.microsoft.com/office/drawing/2014/main" id="{2F406EFB-4197-1016-01FA-BE21EB4DF2A2}"/>
                </a:ext>
              </a:extLst>
            </p:cNvPr>
            <p:cNvGrpSpPr/>
            <p:nvPr/>
          </p:nvGrpSpPr>
          <p:grpSpPr>
            <a:xfrm>
              <a:off x="1239252" y="4042701"/>
              <a:ext cx="6130091" cy="142876"/>
              <a:chOff x="1239252" y="3365341"/>
              <a:chExt cx="6130091" cy="142876"/>
            </a:xfrm>
          </p:grpSpPr>
          <p:grpSp>
            <p:nvGrpSpPr>
              <p:cNvPr id="10" name="Group 200">
                <a:extLst>
                  <a:ext uri="{FF2B5EF4-FFF2-40B4-BE49-F238E27FC236}">
                    <a16:creationId xmlns:a16="http://schemas.microsoft.com/office/drawing/2014/main" id="{006A6E6D-BB41-E64F-1AA3-20BF845CF6A4}"/>
                  </a:ext>
                </a:extLst>
              </p:cNvPr>
              <p:cNvGrpSpPr/>
              <p:nvPr/>
            </p:nvGrpSpPr>
            <p:grpSpPr>
              <a:xfrm>
                <a:off x="1528011" y="3365341"/>
                <a:ext cx="5841332" cy="142876"/>
                <a:chOff x="1528011" y="5330489"/>
                <a:chExt cx="5841332" cy="142876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6B6F753-4E23-9D08-8AF3-4F9C8A4992F9}"/>
                    </a:ext>
                  </a:extLst>
                </p:cNvPr>
                <p:cNvSpPr/>
                <p:nvPr/>
              </p:nvSpPr>
              <p:spPr>
                <a:xfrm>
                  <a:off x="1608222" y="5365080"/>
                  <a:ext cx="5688932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AC56E9C-2663-9B00-2761-30B8805378FE}"/>
                    </a:ext>
                  </a:extLst>
                </p:cNvPr>
                <p:cNvSpPr/>
                <p:nvPr/>
              </p:nvSpPr>
              <p:spPr>
                <a:xfrm>
                  <a:off x="1840829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2AA960CB-DC2C-90DB-015D-489BA66A2246}"/>
                    </a:ext>
                  </a:extLst>
                </p:cNvPr>
                <p:cNvSpPr/>
                <p:nvPr/>
              </p:nvSpPr>
              <p:spPr>
                <a:xfrm>
                  <a:off x="2642935" y="5335001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82F92C3-BF46-BBB7-C00F-12333537EBC5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D5D7457D-7A88-2F74-A27A-8CE8DC72D756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AE71199-F915-3CA4-C067-6212C1EF9381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65CB7127-27DA-F35F-1A67-08CAE85D4497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5605633-7DB1-971B-8E9C-6DB6FA6B7AA4}"/>
                    </a:ext>
                  </a:extLst>
                </p:cNvPr>
                <p:cNvSpPr/>
                <p:nvPr/>
              </p:nvSpPr>
              <p:spPr>
                <a:xfrm>
                  <a:off x="1528011" y="5335003"/>
                  <a:ext cx="116304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660F484-249F-919F-52D0-00EF03EB38C0}"/>
                  </a:ext>
                </a:extLst>
              </p:cNvPr>
              <p:cNvSpPr/>
              <p:nvPr/>
            </p:nvSpPr>
            <p:spPr>
              <a:xfrm>
                <a:off x="1239252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5F8CD7-1AA6-0CBB-1D16-5C92164DFF11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</p:grpSp>
      <p:grpSp>
        <p:nvGrpSpPr>
          <p:cNvPr id="20" name="Group 259">
            <a:extLst>
              <a:ext uri="{FF2B5EF4-FFF2-40B4-BE49-F238E27FC236}">
                <a16:creationId xmlns:a16="http://schemas.microsoft.com/office/drawing/2014/main" id="{C711357D-2EFD-F08A-F862-58CE5A3EC0F6}"/>
              </a:ext>
            </a:extLst>
          </p:cNvPr>
          <p:cNvGrpSpPr/>
          <p:nvPr/>
        </p:nvGrpSpPr>
        <p:grpSpPr>
          <a:xfrm>
            <a:off x="2841529" y="3105911"/>
            <a:ext cx="6442698" cy="142876"/>
            <a:chOff x="1239252" y="4042701"/>
            <a:chExt cx="6442698" cy="142876"/>
          </a:xfrm>
        </p:grpSpPr>
        <p:grpSp>
          <p:nvGrpSpPr>
            <p:cNvPr id="21" name="Group 260">
              <a:extLst>
                <a:ext uri="{FF2B5EF4-FFF2-40B4-BE49-F238E27FC236}">
                  <a16:creationId xmlns:a16="http://schemas.microsoft.com/office/drawing/2014/main" id="{03AC63B8-72DD-7B7D-8A70-8B28FF458EA4}"/>
                </a:ext>
              </a:extLst>
            </p:cNvPr>
            <p:cNvGrpSpPr/>
            <p:nvPr/>
          </p:nvGrpSpPr>
          <p:grpSpPr>
            <a:xfrm>
              <a:off x="1239252" y="4042701"/>
              <a:ext cx="6130091" cy="142876"/>
              <a:chOff x="1239252" y="3365341"/>
              <a:chExt cx="6130091" cy="142876"/>
            </a:xfrm>
          </p:grpSpPr>
          <p:grpSp>
            <p:nvGrpSpPr>
              <p:cNvPr id="23" name="Group 262">
                <a:extLst>
                  <a:ext uri="{FF2B5EF4-FFF2-40B4-BE49-F238E27FC236}">
                    <a16:creationId xmlns:a16="http://schemas.microsoft.com/office/drawing/2014/main" id="{F67DF76E-EE19-2484-F868-20F0548FCE22}"/>
                  </a:ext>
                </a:extLst>
              </p:cNvPr>
              <p:cNvGrpSpPr/>
              <p:nvPr/>
            </p:nvGrpSpPr>
            <p:grpSpPr>
              <a:xfrm>
                <a:off x="1528011" y="3365341"/>
                <a:ext cx="5841332" cy="142876"/>
                <a:chOff x="1528011" y="5330489"/>
                <a:chExt cx="5841332" cy="142876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02AD57D3-5732-6233-55C9-5381870AB077}"/>
                    </a:ext>
                  </a:extLst>
                </p:cNvPr>
                <p:cNvSpPr/>
                <p:nvPr/>
              </p:nvSpPr>
              <p:spPr>
                <a:xfrm>
                  <a:off x="1608222" y="5365080"/>
                  <a:ext cx="5688932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743E752-0D41-D129-9EF0-95B259F2DDE5}"/>
                    </a:ext>
                  </a:extLst>
                </p:cNvPr>
                <p:cNvSpPr/>
                <p:nvPr/>
              </p:nvSpPr>
              <p:spPr>
                <a:xfrm>
                  <a:off x="3733800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2166C27-64AF-9F5E-F8CA-C5E2FBBA0ECA}"/>
                    </a:ext>
                  </a:extLst>
                </p:cNvPr>
                <p:cNvSpPr/>
                <p:nvPr/>
              </p:nvSpPr>
              <p:spPr>
                <a:xfrm>
                  <a:off x="2642935" y="5335001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E38A1E3-0FA3-CF5D-9995-56FD19383BBD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52053B8-2D71-9592-DC09-FEA10CAFE5AC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D2A6C66-C58D-D54C-5E3B-B93C9FD0CC4E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AD4991A-C0ED-04D0-4562-89BD3B107CF8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BC31AC4-3BEA-1762-7AD7-3A0AD16643BC}"/>
                    </a:ext>
                  </a:extLst>
                </p:cNvPr>
                <p:cNvSpPr/>
                <p:nvPr/>
              </p:nvSpPr>
              <p:spPr>
                <a:xfrm>
                  <a:off x="1528011" y="5335003"/>
                  <a:ext cx="116304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7C1F1A1-823E-2220-D50A-7AD51FC9E16C}"/>
                  </a:ext>
                </a:extLst>
              </p:cNvPr>
              <p:cNvSpPr/>
              <p:nvPr/>
            </p:nvSpPr>
            <p:spPr>
              <a:xfrm>
                <a:off x="1239252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6404279-5E13-12BD-E282-3534A0549CC4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</p:grpSp>
      <p:grpSp>
        <p:nvGrpSpPr>
          <p:cNvPr id="33" name="Group 281">
            <a:extLst>
              <a:ext uri="{FF2B5EF4-FFF2-40B4-BE49-F238E27FC236}">
                <a16:creationId xmlns:a16="http://schemas.microsoft.com/office/drawing/2014/main" id="{A4E29BE6-A93C-F0B1-63C6-89C284747971}"/>
              </a:ext>
            </a:extLst>
          </p:cNvPr>
          <p:cNvGrpSpPr/>
          <p:nvPr/>
        </p:nvGrpSpPr>
        <p:grpSpPr>
          <a:xfrm>
            <a:off x="2841529" y="2840521"/>
            <a:ext cx="6442698" cy="142877"/>
            <a:chOff x="1239252" y="4042700"/>
            <a:chExt cx="6442698" cy="142877"/>
          </a:xfrm>
        </p:grpSpPr>
        <p:grpSp>
          <p:nvGrpSpPr>
            <p:cNvPr id="34" name="Group 282">
              <a:extLst>
                <a:ext uri="{FF2B5EF4-FFF2-40B4-BE49-F238E27FC236}">
                  <a16:creationId xmlns:a16="http://schemas.microsoft.com/office/drawing/2014/main" id="{0D1CAB04-E6A6-12A6-0EE3-EEC49CCCAB9E}"/>
                </a:ext>
              </a:extLst>
            </p:cNvPr>
            <p:cNvGrpSpPr/>
            <p:nvPr/>
          </p:nvGrpSpPr>
          <p:grpSpPr>
            <a:xfrm>
              <a:off x="1239252" y="4042700"/>
              <a:ext cx="6130091" cy="142877"/>
              <a:chOff x="1239252" y="3365340"/>
              <a:chExt cx="6130091" cy="142877"/>
            </a:xfrm>
          </p:grpSpPr>
          <p:grpSp>
            <p:nvGrpSpPr>
              <p:cNvPr id="36" name="Group 284">
                <a:extLst>
                  <a:ext uri="{FF2B5EF4-FFF2-40B4-BE49-F238E27FC236}">
                    <a16:creationId xmlns:a16="http://schemas.microsoft.com/office/drawing/2014/main" id="{1A04F34A-4951-F608-B250-776815044A3B}"/>
                  </a:ext>
                </a:extLst>
              </p:cNvPr>
              <p:cNvGrpSpPr/>
              <p:nvPr/>
            </p:nvGrpSpPr>
            <p:grpSpPr>
              <a:xfrm>
                <a:off x="1528011" y="3365340"/>
                <a:ext cx="5841332" cy="142877"/>
                <a:chOff x="1528011" y="5330488"/>
                <a:chExt cx="5841332" cy="142877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D615E82-7B55-9F9B-5C49-B688369539F3}"/>
                    </a:ext>
                  </a:extLst>
                </p:cNvPr>
                <p:cNvSpPr/>
                <p:nvPr/>
              </p:nvSpPr>
              <p:spPr>
                <a:xfrm>
                  <a:off x="1608222" y="5365080"/>
                  <a:ext cx="5688932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150ED3C8-D9EE-548B-001D-DFC66C305F1E}"/>
                    </a:ext>
                  </a:extLst>
                </p:cNvPr>
                <p:cNvSpPr/>
                <p:nvPr/>
              </p:nvSpPr>
              <p:spPr>
                <a:xfrm>
                  <a:off x="1834204" y="5330488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FE2D052F-E2B1-9614-6365-C033278F10F8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0EFB3431-4253-9E0E-8400-71346E7F9F55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200F2DCF-2DEF-B938-469C-5FC5CFA8219C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E70D26BB-44F0-7C10-434A-8DAE7C7AB826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7BE71B43-5C17-FAB0-37E3-985232F8B841}"/>
                    </a:ext>
                  </a:extLst>
                </p:cNvPr>
                <p:cNvSpPr/>
                <p:nvPr/>
              </p:nvSpPr>
              <p:spPr>
                <a:xfrm>
                  <a:off x="1528011" y="5335003"/>
                  <a:ext cx="116304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0CBC5EF-F796-566C-78A1-A4DB4020976D}"/>
                  </a:ext>
                </a:extLst>
              </p:cNvPr>
              <p:cNvSpPr/>
              <p:nvPr/>
            </p:nvSpPr>
            <p:spPr>
              <a:xfrm>
                <a:off x="1239252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871E79-C0CD-C9A9-B088-8C08C222F810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</p:grpSp>
      <p:sp>
        <p:nvSpPr>
          <p:cNvPr id="45" name="TextBox 126">
            <a:extLst>
              <a:ext uri="{FF2B5EF4-FFF2-40B4-BE49-F238E27FC236}">
                <a16:creationId xmlns:a16="http://schemas.microsoft.com/office/drawing/2014/main" id="{D3DDD5E7-9D9D-601B-CACD-BF5E87E28D46}"/>
              </a:ext>
            </a:extLst>
          </p:cNvPr>
          <p:cNvSpPr txBox="1"/>
          <p:nvPr/>
        </p:nvSpPr>
        <p:spPr>
          <a:xfrm>
            <a:off x="2517210" y="1169781"/>
            <a:ext cx="1418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Gene </a:t>
            </a:r>
            <a:r>
              <a:rPr lang="sv-SE" dirty="0" err="1"/>
              <a:t>models</a:t>
            </a:r>
            <a:endParaRPr lang="sv-SE" dirty="0"/>
          </a:p>
        </p:txBody>
      </p:sp>
      <p:sp>
        <p:nvSpPr>
          <p:cNvPr id="51" name="Espace réservé du contenu 1">
            <a:extLst>
              <a:ext uri="{FF2B5EF4-FFF2-40B4-BE49-F238E27FC236}">
                <a16:creationId xmlns:a16="http://schemas.microsoft.com/office/drawing/2014/main" id="{DE8B51AA-559D-FDC7-860C-6F50D27B8F0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Chooser / combiner</a:t>
            </a:r>
          </a:p>
        </p:txBody>
      </p:sp>
    </p:spTree>
    <p:extLst>
      <p:ext uri="{BB962C8B-B14F-4D97-AF65-F5344CB8AC3E}">
        <p14:creationId xmlns:p14="http://schemas.microsoft.com/office/powerpoint/2010/main" val="104744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E125E8-0C23-5E0C-C7AD-6A919AAB58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Chooser / combiner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8DFFDC2-270B-6CB8-F583-BAD3B838BC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1F28A7-8F02-0B86-9050-FDB29CF99488}"/>
              </a:ext>
            </a:extLst>
          </p:cNvPr>
          <p:cNvSpPr/>
          <p:nvPr/>
        </p:nvSpPr>
        <p:spPr>
          <a:xfrm>
            <a:off x="1419798" y="671220"/>
            <a:ext cx="90149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Use battery of gene finders and evidence (transcript,  protein) alignments and: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C733C514-3396-722C-0A9A-ACD423F4C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314593"/>
              </p:ext>
            </p:extLst>
          </p:nvPr>
        </p:nvGraphicFramePr>
        <p:xfrm>
          <a:off x="1685270" y="1062499"/>
          <a:ext cx="8484026" cy="4492158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650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47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Consensus</a:t>
                      </a:r>
                      <a:r>
                        <a:rPr lang="en-US" sz="1400" baseline="0" dirty="0"/>
                        <a:t> based chooser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Evidence </a:t>
                      </a:r>
                      <a:r>
                        <a:rPr lang="en-US" sz="1400" baseline="0" dirty="0"/>
                        <a:t>based chooser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weight of different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963">
                <a:tc gridSpan="5"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400" dirty="0"/>
                        <a:t>A) Choose</a:t>
                      </a:r>
                      <a:r>
                        <a:rPr lang="en-US" sz="1400" baseline="0" dirty="0"/>
                        <a:t> the prediction whose best matches the evidence</a:t>
                      </a:r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562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MAKER</a:t>
                      </a:r>
                      <a:r>
                        <a:rPr lang="en-US" sz="14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0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/>
                        <a:t>PASA*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0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 err="1"/>
                        <a:t>GeMoMa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can weight on presence in multiple genome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441988"/>
                  </a:ext>
                </a:extLst>
              </a:tr>
              <a:tr h="367349">
                <a:tc gridSpan="5"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400" dirty="0"/>
                        <a:t>B) Choose the best possible set of exons and combine them in a new consensus gene model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0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/>
                        <a:t>JIGSAW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9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/>
                        <a:t>EVM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err="1"/>
                        <a:t>Evidencemodeler</a:t>
                      </a:r>
                      <a:r>
                        <a:rPr lang="en-US" sz="1400" dirty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dirty="0"/>
                        <a:t>User can set the expected evidence error rate manually or/and learn from a training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 err="1"/>
                        <a:t>Evigan</a:t>
                      </a:r>
                      <a:r>
                        <a:rPr lang="en-US" sz="1400" b="1" dirty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Unsupervised learning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4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 err="1"/>
                        <a:t>Ipred</a:t>
                      </a:r>
                      <a:r>
                        <a:rPr lang="en-US" sz="1400" b="1" dirty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dirty="0"/>
                        <a:t>Does not require any a priori knowledge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dirty="0"/>
                        <a:t>Can also combine</a:t>
                      </a:r>
                      <a:r>
                        <a:rPr lang="en-US" sz="1200" baseline="0" dirty="0"/>
                        <a:t> only evidences to create a gene model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7CF289D-27DD-A6FA-DD01-F622AD971D9B}"/>
              </a:ext>
            </a:extLst>
          </p:cNvPr>
          <p:cNvSpPr/>
          <p:nvPr/>
        </p:nvSpPr>
        <p:spPr>
          <a:xfrm>
            <a:off x="4702565" y="5621403"/>
            <a:ext cx="6711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Strength =&gt; </a:t>
            </a:r>
            <a:r>
              <a:rPr lang="en-US" dirty="0"/>
              <a:t>They</a:t>
            </a:r>
            <a:r>
              <a:rPr lang="en-US" b="1" dirty="0"/>
              <a:t> </a:t>
            </a:r>
            <a:r>
              <a:rPr lang="en-US" dirty="0"/>
              <a:t>improve on the underlying gene prediction models</a:t>
            </a:r>
          </a:p>
        </p:txBody>
      </p:sp>
    </p:spTree>
    <p:extLst>
      <p:ext uri="{BB962C8B-B14F-4D97-AF65-F5344CB8AC3E}">
        <p14:creationId xmlns:p14="http://schemas.microsoft.com/office/powerpoint/2010/main" val="26541944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886056-5E92-FCBF-622B-7AE2D28A105F}"/>
              </a:ext>
            </a:extLst>
          </p:cNvPr>
          <p:cNvSpPr txBox="1"/>
          <p:nvPr/>
        </p:nvSpPr>
        <p:spPr>
          <a:xfrm>
            <a:off x="3044858" y="3241977"/>
            <a:ext cx="6108568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Exercise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238439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0" y="16287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Pipelines</a:t>
            </a:r>
          </a:p>
          <a:p>
            <a:pPr algn="ctr"/>
            <a:r>
              <a:rPr lang="en-US" sz="2400" dirty="0"/>
              <a:t>(The ultimate step)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CCECB-00D6-BCD7-08F5-7B014F13F980}"/>
              </a:ext>
            </a:extLst>
          </p:cNvPr>
          <p:cNvSpPr/>
          <p:nvPr/>
        </p:nvSpPr>
        <p:spPr>
          <a:xfrm>
            <a:off x="0" y="4121267"/>
            <a:ext cx="9144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i="1" dirty="0"/>
              <a:t>Align evidence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add annotation (UTR, score, gene name)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train ab initio models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Annotation of other features (Repeat, tRNA, </a:t>
            </a:r>
            <a:r>
              <a:rPr lang="en-US" sz="2000" i="1" dirty="0" err="1"/>
              <a:t>etc</a:t>
            </a:r>
            <a:r>
              <a:rPr lang="en-US" sz="2000" i="1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Add functions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And more</a:t>
            </a:r>
            <a:r>
              <a:rPr lang="mr-IN" sz="2000" i="1" dirty="0"/>
              <a:t>…</a:t>
            </a:r>
            <a:endParaRPr lang="en-US" sz="2000" i="1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185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102DBA7-72A5-1821-013F-944CDAFA36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A41D5A9-63B4-9BD0-841D-31585DDE6F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51</a:t>
            </a:fld>
            <a:endParaRPr lang="en-US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2BC7012E-4ABF-645F-D972-A8223169F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844118"/>
              </p:ext>
            </p:extLst>
          </p:nvPr>
        </p:nvGraphicFramePr>
        <p:xfrm>
          <a:off x="309290" y="1188837"/>
          <a:ext cx="11573419" cy="4426173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60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2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0268">
                  <a:extLst>
                    <a:ext uri="{9D8B030D-6E8A-4147-A177-3AD203B41FA5}">
                      <a16:colId xmlns:a16="http://schemas.microsoft.com/office/drawing/2014/main" val="2455486726"/>
                    </a:ext>
                  </a:extLst>
                </a:gridCol>
                <a:gridCol w="1022176">
                  <a:extLst>
                    <a:ext uri="{9D8B030D-6E8A-4147-A177-3AD203B41FA5}">
                      <a16:colId xmlns:a16="http://schemas.microsoft.com/office/drawing/2014/main" val="200144732"/>
                    </a:ext>
                  </a:extLst>
                </a:gridCol>
                <a:gridCol w="10372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555">
                  <a:extLst>
                    <a:ext uri="{9D8B030D-6E8A-4147-A177-3AD203B41FA5}">
                      <a16:colId xmlns:a16="http://schemas.microsoft.com/office/drawing/2014/main" val="3004257340"/>
                    </a:ext>
                  </a:extLst>
                </a:gridCol>
                <a:gridCol w="1951925">
                  <a:extLst>
                    <a:ext uri="{9D8B030D-6E8A-4147-A177-3AD203B41FA5}">
                      <a16:colId xmlns:a16="http://schemas.microsoft.com/office/drawing/2014/main" val="652416527"/>
                    </a:ext>
                  </a:extLst>
                </a:gridCol>
              </a:tblGrid>
              <a:tr h="3577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Transcript / </a:t>
                      </a:r>
                      <a:r>
                        <a:rPr lang="en-US" sz="1400" dirty="0" err="1"/>
                        <a:t>RNAseq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Comparative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Ab </a:t>
                      </a:r>
                      <a:r>
                        <a:rPr lang="en-US" sz="1400" i="1" dirty="0" err="1"/>
                        <a:t>inito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79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hlinkClick r:id="rId3"/>
                        </a:rPr>
                        <a:t>PASA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77811"/>
                  </a:ext>
                </a:extLst>
              </a:tr>
              <a:tr h="35779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hlinkClick r:id="rId4"/>
                        </a:rPr>
                        <a:t>MAKER3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Can be used to improve an existing annotation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7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hlinkClick r:id="rId5"/>
                        </a:rPr>
                        <a:t>EGAPx</a:t>
                      </a:r>
                      <a:r>
                        <a:rPr lang="en-US" sz="1400" b="1" dirty="0"/>
                        <a:t> (NCBI)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tRNA, RFAM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6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hlinkClick r:id="rId6"/>
                        </a:rPr>
                        <a:t>Comparative Annotation Toolkit (CAT)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6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hlinkClick r:id="rId7"/>
                        </a:rPr>
                        <a:t>Ensembl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14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Rfam</a:t>
                      </a:r>
                      <a:endParaRPr lang="fr-FR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14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Pseudogenes</a:t>
                      </a:r>
                      <a:endParaRPr lang="fr-FR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14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lncRNA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Difficult to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5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hlinkClick r:id="rId8"/>
                        </a:rPr>
                        <a:t>Funannotate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Originally for Fungi.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7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hlinkClick r:id="rId9"/>
                        </a:rPr>
                        <a:t>BRAKER3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hlinkClick r:id="rId10"/>
                        </a:rPr>
                        <a:t>EASL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BUSCO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Automated with </a:t>
                      </a:r>
                      <a:r>
                        <a:rPr lang="en-US" sz="1400" dirty="0" err="1"/>
                        <a:t>Nextflow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417377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693A919E-5926-19C8-F397-65FD044125C7}"/>
              </a:ext>
            </a:extLst>
          </p:cNvPr>
          <p:cNvSpPr txBox="1"/>
          <p:nvPr/>
        </p:nvSpPr>
        <p:spPr>
          <a:xfrm>
            <a:off x="10071100" y="5841187"/>
            <a:ext cx="2120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More or less automated…</a:t>
            </a:r>
          </a:p>
        </p:txBody>
      </p:sp>
    </p:spTree>
    <p:extLst>
      <p:ext uri="{BB962C8B-B14F-4D97-AF65-F5344CB8AC3E}">
        <p14:creationId xmlns:p14="http://schemas.microsoft.com/office/powerpoint/2010/main" val="15126817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886056-5E92-FCBF-622B-7AE2D28A105F}"/>
              </a:ext>
            </a:extLst>
          </p:cNvPr>
          <p:cNvSpPr txBox="1"/>
          <p:nvPr/>
        </p:nvSpPr>
        <p:spPr>
          <a:xfrm>
            <a:off x="3044858" y="3241977"/>
            <a:ext cx="6108568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Exercise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6945384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886056-5E92-FCBF-622B-7AE2D28A105F}"/>
              </a:ext>
            </a:extLst>
          </p:cNvPr>
          <p:cNvSpPr txBox="1"/>
          <p:nvPr/>
        </p:nvSpPr>
        <p:spPr>
          <a:xfrm>
            <a:off x="3044858" y="3241977"/>
            <a:ext cx="6108568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Closing remarks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3314596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80C3D033-E69C-AB04-0940-D417D5F8F4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Closing remarks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219F675-FB92-C402-0756-829314FE08B0}"/>
              </a:ext>
            </a:extLst>
          </p:cNvPr>
          <p:cNvSpPr txBox="1"/>
          <p:nvPr/>
        </p:nvSpPr>
        <p:spPr>
          <a:xfrm>
            <a:off x="2016293" y="1323942"/>
            <a:ext cx="81594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to choose your Method?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Scientific question behind ( need of a </a:t>
            </a:r>
            <a:r>
              <a:rPr lang="en-US" u="sng" dirty="0"/>
              <a:t>conservative</a:t>
            </a:r>
            <a:r>
              <a:rPr lang="en-US" dirty="0"/>
              <a:t> annotation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u="sng" dirty="0"/>
              <a:t>exhaustive</a:t>
            </a:r>
            <a:r>
              <a:rPr lang="en-US" dirty="0"/>
              <a:t>)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Species dependent ( Fungi / Eukaryotes / Prokaryotes)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phylogenetic relationship of the investigated genome to other annotated genomes (Terra incognita, close, already annotated).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Data available (hmm profile, </a:t>
            </a:r>
            <a:r>
              <a:rPr lang="en-US" dirty="0" err="1"/>
              <a:t>RNAseq</a:t>
            </a:r>
            <a:r>
              <a:rPr lang="en-US" dirty="0"/>
              <a:t>, etc…)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Depending on computing resources (</a:t>
            </a:r>
            <a:r>
              <a:rPr lang="en-US" i="1" dirty="0"/>
              <a:t>ab initio </a:t>
            </a:r>
            <a:r>
              <a:rPr lang="en-US" sz="2400" dirty="0">
                <a:solidFill>
                  <a:schemeClr val="accent6"/>
                </a:solidFill>
              </a:rPr>
              <a:t>vs </a:t>
            </a:r>
            <a:r>
              <a:rPr lang="en-US" dirty="0"/>
              <a:t>pipeline)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217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Closing remarks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DD690-739F-2354-9A49-06BE88A8505D}"/>
              </a:ext>
            </a:extLst>
          </p:cNvPr>
          <p:cNvSpPr/>
          <p:nvPr/>
        </p:nvSpPr>
        <p:spPr>
          <a:xfrm>
            <a:off x="2305701" y="642890"/>
            <a:ext cx="9298470" cy="1289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&gt;100 annotation tools  many methods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6 main class of approaches (Similarity-based, </a:t>
            </a:r>
            <a:r>
              <a:rPr lang="en-US" i="1" dirty="0"/>
              <a:t>ab initio</a:t>
            </a:r>
            <a:r>
              <a:rPr lang="en-US" dirty="0"/>
              <a:t>, hybrid, comparative, combiner, pipeline 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Many combination of tools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FCFF320-7D86-E722-4BF8-F7185DFCA1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" t="6767" r="11544" b="7576"/>
          <a:stretch/>
        </p:blipFill>
        <p:spPr>
          <a:xfrm>
            <a:off x="1584613" y="539526"/>
            <a:ext cx="646331" cy="64633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B45FAAE-4145-5738-9335-29FD0956E2CB}"/>
              </a:ext>
            </a:extLst>
          </p:cNvPr>
          <p:cNvSpPr txBox="1"/>
          <p:nvPr/>
        </p:nvSpPr>
        <p:spPr>
          <a:xfrm>
            <a:off x="1219199" y="2166644"/>
            <a:ext cx="10486571" cy="378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Several </a:t>
            </a:r>
            <a:r>
              <a:rPr lang="en-US" sz="1800" i="1" dirty="0"/>
              <a:t>ab-initio</a:t>
            </a:r>
            <a:r>
              <a:rPr lang="en-US" sz="1800" dirty="0"/>
              <a:t> tools together give better result that one alone (complement each other)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Pipelines ease the task and give good results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Most methods only build gene models, no </a:t>
            </a:r>
            <a:r>
              <a:rPr lang="en-US" sz="1800" b="1" dirty="0"/>
              <a:t>functional inference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No annotation method is perfect, they do mistakes !!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Annotation requires </a:t>
            </a:r>
            <a:r>
              <a:rPr lang="en-US" sz="1800" b="1" dirty="0"/>
              <a:t>manual curation </a:t>
            </a:r>
            <a:r>
              <a:rPr lang="en-US" sz="1800" dirty="0"/>
              <a:t>to be close to perfect</a:t>
            </a:r>
            <a:endParaRPr lang="en-US" sz="18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An annotation (as assembly) is never finished, it can always be improved =&gt; </a:t>
            </a:r>
            <a:r>
              <a:rPr lang="en-US" sz="1800" b="1" dirty="0"/>
              <a:t>to know how when to stop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b="1" dirty="0"/>
              <a:t>QC after annotation </a:t>
            </a:r>
            <a:r>
              <a:rPr lang="en-US" dirty="0"/>
              <a:t>(and before)</a:t>
            </a:r>
            <a:r>
              <a:rPr lang="en-US" b="1" dirty="0"/>
              <a:t>!!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Submit your annotation in public archive </a:t>
            </a:r>
            <a:r>
              <a:rPr lang="en-US" b="1" dirty="0"/>
              <a:t>!!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800" dirty="0"/>
          </a:p>
        </p:txBody>
      </p:sp>
      <p:pic>
        <p:nvPicPr>
          <p:cNvPr id="16" name="Picture 6" descr="Screen Shot 2018-02-28 at 17.17.00.png">
            <a:extLst>
              <a:ext uri="{FF2B5EF4-FFF2-40B4-BE49-F238E27FC236}">
                <a16:creationId xmlns:a16="http://schemas.microsoft.com/office/drawing/2014/main" id="{7D76DC23-8CB2-42C1-1C08-9EBC5F1ED8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77" t="547" r="21143" b="52895"/>
          <a:stretch/>
        </p:blipFill>
        <p:spPr>
          <a:xfrm>
            <a:off x="9521026" y="2708968"/>
            <a:ext cx="2083145" cy="1440064"/>
          </a:xfrm>
          <a:prstGeom prst="rect">
            <a:avLst/>
          </a:prstGeom>
        </p:spPr>
      </p:pic>
      <p:pic>
        <p:nvPicPr>
          <p:cNvPr id="17" name="Picture 2" descr="Screen Shot 2016-04-25 at 14.03.24.png">
            <a:extLst>
              <a:ext uri="{FF2B5EF4-FFF2-40B4-BE49-F238E27FC236}">
                <a16:creationId xmlns:a16="http://schemas.microsoft.com/office/drawing/2014/main" id="{38DF5342-9B8E-E352-9458-43F677ADABE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765" y="4695806"/>
            <a:ext cx="10685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23953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6D94D-7AA5-2B3C-A6EE-862067C58A1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E24F68-DB8C-4590-8CA9-5AB178F701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" r="5513"/>
          <a:stretch/>
        </p:blipFill>
        <p:spPr>
          <a:xfrm>
            <a:off x="2644000" y="240631"/>
            <a:ext cx="6903995" cy="52057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154CB8-EF6E-DC1B-97D5-375C388BB404}"/>
              </a:ext>
            </a:extLst>
          </p:cNvPr>
          <p:cNvSpPr/>
          <p:nvPr/>
        </p:nvSpPr>
        <p:spPr>
          <a:xfrm>
            <a:off x="2644001" y="4468170"/>
            <a:ext cx="6903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chemeClr val="bg1"/>
                </a:solidFill>
              </a:rPr>
              <a:t>Thank you for your attention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512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11E8FDF-756B-F69E-ADDE-FEB6792D0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To go further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683B9F1-79F7-46EA-D015-1288922AE4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14D0647-2A5F-1CA4-CBE6-B1E043F18AE7}"/>
              </a:ext>
            </a:extLst>
          </p:cNvPr>
          <p:cNvSpPr txBox="1"/>
          <p:nvPr/>
        </p:nvSpPr>
        <p:spPr>
          <a:xfrm>
            <a:off x="2092751" y="3103478"/>
            <a:ext cx="70630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 u="none" strike="noStrike" dirty="0">
                <a:solidFill>
                  <a:srgbClr val="131313"/>
                </a:solidFill>
                <a:effectLst/>
                <a:latin typeface="GillSansRegular"/>
              </a:rPr>
              <a:t>Building </a:t>
            </a:r>
            <a:r>
              <a:rPr lang="fr-FR" b="1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better</a:t>
            </a:r>
            <a:r>
              <a:rPr lang="fr-FR" b="1" i="0" u="none" strike="noStrike" dirty="0">
                <a:solidFill>
                  <a:srgbClr val="131313"/>
                </a:solidFill>
                <a:effectLst/>
                <a:latin typeface="GillSansRegular"/>
              </a:rPr>
              <a:t> </a:t>
            </a:r>
            <a:r>
              <a:rPr lang="fr-FR" b="1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genome</a:t>
            </a:r>
            <a:r>
              <a:rPr lang="fr-FR" b="1" i="0" u="none" strike="noStrike" dirty="0">
                <a:solidFill>
                  <a:srgbClr val="131313"/>
                </a:solidFill>
                <a:effectLst/>
                <a:latin typeface="GillSansRegular"/>
              </a:rPr>
              <a:t> annotations </a:t>
            </a:r>
            <a:r>
              <a:rPr lang="fr-FR" b="1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across</a:t>
            </a:r>
            <a:r>
              <a:rPr lang="fr-FR" b="1" i="0" u="none" strike="noStrike" dirty="0">
                <a:solidFill>
                  <a:srgbClr val="131313"/>
                </a:solidFill>
                <a:effectLst/>
                <a:latin typeface="GillSansRegular"/>
              </a:rPr>
              <a:t> the </a:t>
            </a:r>
            <a:r>
              <a:rPr lang="fr-FR" b="1" i="0" u="none" strike="noStrike" dirty="0" err="1">
                <a:solidFill>
                  <a:srgbClr val="131313"/>
                </a:solidFill>
                <a:effectLst/>
                <a:latin typeface="GillSansRegular"/>
              </a:rPr>
              <a:t>tree</a:t>
            </a:r>
            <a:r>
              <a:rPr lang="fr-FR" b="1" i="0" u="none" strike="noStrike" dirty="0">
                <a:solidFill>
                  <a:srgbClr val="131313"/>
                </a:solidFill>
                <a:effectLst/>
                <a:latin typeface="GillSansRegular"/>
              </a:rPr>
              <a:t> of life</a:t>
            </a:r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www.biorxiv.org</a:t>
            </a:r>
            <a:r>
              <a:rPr lang="en-GB" dirty="0"/>
              <a:t>/content/10.1101/2024.04.12.589245v1.full</a:t>
            </a:r>
          </a:p>
        </p:txBody>
      </p:sp>
    </p:spTree>
    <p:extLst>
      <p:ext uri="{BB962C8B-B14F-4D97-AF65-F5344CB8AC3E}">
        <p14:creationId xmlns:p14="http://schemas.microsoft.com/office/powerpoint/2010/main" val="1412774188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64355</TotalTime>
  <Words>3049</Words>
  <Application>Microsoft Macintosh PowerPoint</Application>
  <PresentationFormat>Grand écran</PresentationFormat>
  <Paragraphs>747</Paragraphs>
  <Slides>57</Slides>
  <Notes>10</Notes>
  <HiddenSlides>4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57</vt:i4>
      </vt:variant>
    </vt:vector>
  </HeadingPairs>
  <TitlesOfParts>
    <vt:vector size="72" baseType="lpstr">
      <vt:lpstr>-apple-system</vt:lpstr>
      <vt:lpstr>-webkit-standard</vt:lpstr>
      <vt:lpstr>Arial</vt:lpstr>
      <vt:lpstr>Calibri</vt:lpstr>
      <vt:lpstr>Cambria</vt:lpstr>
      <vt:lpstr>Gill Sans MT</vt:lpstr>
      <vt:lpstr>GillSansRegular</vt:lpstr>
      <vt:lpstr>Helvetica</vt:lpstr>
      <vt:lpstr>Lucida Sans Unicode</vt:lpstr>
      <vt:lpstr>Merriweather</vt:lpstr>
      <vt:lpstr>Roboto</vt:lpstr>
      <vt:lpstr>Roboto Mono Web</vt:lpstr>
      <vt:lpstr>Symbol</vt:lpstr>
      <vt:lpstr>Wingdings</vt:lpstr>
      <vt:lpstr>Galerie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Bils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Jacques Dainat Ph.D.</dc:title>
  <dc:creator>Jacques Dainat</dc:creator>
  <cp:lastModifiedBy>Jacques DAINAT</cp:lastModifiedBy>
  <cp:revision>448</cp:revision>
  <cp:lastPrinted>2023-09-15T12:14:39Z</cp:lastPrinted>
  <dcterms:created xsi:type="dcterms:W3CDTF">2018-11-21T09:52:36Z</dcterms:created>
  <dcterms:modified xsi:type="dcterms:W3CDTF">2025-09-19T20:53:26Z</dcterms:modified>
</cp:coreProperties>
</file>