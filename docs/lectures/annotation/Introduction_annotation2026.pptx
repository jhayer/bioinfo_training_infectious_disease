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46" r:id="rId1"/>
  </p:sldMasterIdLst>
  <p:notesMasterIdLst>
    <p:notesMasterId r:id="rId24"/>
  </p:notesMasterIdLst>
  <p:handoutMasterIdLst>
    <p:handoutMasterId r:id="rId25"/>
  </p:handoutMasterIdLst>
  <p:sldIdLst>
    <p:sldId id="279" r:id="rId2"/>
    <p:sldId id="373" r:id="rId3"/>
    <p:sldId id="374" r:id="rId4"/>
    <p:sldId id="375" r:id="rId5"/>
    <p:sldId id="376" r:id="rId6"/>
    <p:sldId id="377" r:id="rId7"/>
    <p:sldId id="378" r:id="rId8"/>
    <p:sldId id="379" r:id="rId9"/>
    <p:sldId id="380" r:id="rId10"/>
    <p:sldId id="382" r:id="rId11"/>
    <p:sldId id="381" r:id="rId12"/>
    <p:sldId id="383" r:id="rId13"/>
    <p:sldId id="384" r:id="rId14"/>
    <p:sldId id="385" r:id="rId15"/>
    <p:sldId id="386" r:id="rId16"/>
    <p:sldId id="387" r:id="rId17"/>
    <p:sldId id="389" r:id="rId18"/>
    <p:sldId id="390" r:id="rId19"/>
    <p:sldId id="391" r:id="rId20"/>
    <p:sldId id="392" r:id="rId21"/>
    <p:sldId id="393" r:id="rId22"/>
    <p:sldId id="31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E6E4E0"/>
    <a:srgbClr val="1D4872"/>
    <a:srgbClr val="E0E0E0"/>
    <a:srgbClr val="0270C0"/>
    <a:srgbClr val="5894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/>
    <p:restoredTop sz="90232" autoAdjust="0"/>
  </p:normalViewPr>
  <p:slideViewPr>
    <p:cSldViewPr snapToGrid="0" snapToObjects="1">
      <p:cViewPr varScale="1">
        <p:scale>
          <a:sx n="140" d="100"/>
          <a:sy n="140" d="100"/>
        </p:scale>
        <p:origin x="208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1" d="100"/>
          <a:sy n="111" d="100"/>
        </p:scale>
        <p:origin x="412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0EB0726B-68AD-DDAB-A67B-992F369E5C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13C3575-040A-50B1-36EA-15DE126107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B93CDE-F4A9-1449-8906-9C685798F4D7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4FA33C-2485-B4EC-A361-86AC2D3FAB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8E0D0F-9233-FC3D-B5FF-0FB9AF03E9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173D1-22A5-1B4A-B3DF-E78F17583EB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12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141F-58C7-A14B-B7C4-4167B0731CCF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1648F-5206-084C-80CE-B104653B017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7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Question: Avez-vous une idée de comment procéder?</a:t>
            </a:r>
          </a:p>
          <a:p>
            <a:r>
              <a:rPr lang="fr-FR" dirty="0"/>
              <a:t>Je ne vais malheureusement pas aborder la thématique de comment coder de manière reproductible en 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85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sequence data is not useful for most biologist, to be meaningful to them it has to be</a:t>
            </a:r>
            <a:r>
              <a:rPr lang="en-US" baseline="0" dirty="0"/>
              <a:t> converted into biological significant knowledge =&gt; Gene, mRNAs </a:t>
            </a:r>
            <a:r>
              <a:rPr lang="en-US" baseline="0" dirty="0" err="1"/>
              <a:t>etc</a:t>
            </a:r>
            <a:r>
              <a:rPr lang="mr-IN" baseline="0" dirty="0"/>
              <a:t>…</a:t>
            </a:r>
            <a:r>
              <a:rPr lang="sv-SE" baseline="0" dirty="0"/>
              <a:t> </a:t>
            </a:r>
            <a:r>
              <a:rPr lang="sv-SE" baseline="0" dirty="0" err="1"/>
              <a:t>which</a:t>
            </a:r>
            <a:r>
              <a:rPr lang="sv-SE" baseline="0" dirty="0"/>
              <a:t> </a:t>
            </a:r>
            <a:r>
              <a:rPr lang="sv-SE" baseline="0" dirty="0" err="1"/>
              <a:t>are</a:t>
            </a:r>
            <a:r>
              <a:rPr lang="sv-SE" baseline="0" dirty="0"/>
              <a:t> the GOLDEN NUGGETS in the </a:t>
            </a:r>
            <a:r>
              <a:rPr lang="sv-SE" baseline="0" dirty="0" err="1"/>
              <a:t>middle</a:t>
            </a:r>
            <a:r>
              <a:rPr lang="sv-SE" baseline="0" dirty="0"/>
              <a:t> </a:t>
            </a:r>
            <a:r>
              <a:rPr lang="sv-SE" baseline="0" dirty="0" err="1"/>
              <a:t>of</a:t>
            </a:r>
            <a:r>
              <a:rPr lang="sv-SE" baseline="0" dirty="0"/>
              <a:t> </a:t>
            </a:r>
            <a:r>
              <a:rPr lang="sv-SE" baseline="0" dirty="0" err="1"/>
              <a:t>this</a:t>
            </a:r>
            <a:r>
              <a:rPr lang="sv-SE" baseline="0" dirty="0"/>
              <a:t> </a:t>
            </a:r>
            <a:r>
              <a:rPr lang="sv-SE" baseline="0" dirty="0" err="1"/>
              <a:t>hugue</a:t>
            </a:r>
            <a:r>
              <a:rPr lang="sv-SE" baseline="0" dirty="0"/>
              <a:t> </a:t>
            </a:r>
            <a:r>
              <a:rPr lang="sv-SE" baseline="0" dirty="0" err="1"/>
              <a:t>montain</a:t>
            </a:r>
            <a:r>
              <a:rPr lang="sv-SE" baseline="0" dirty="0"/>
              <a:t> </a:t>
            </a:r>
            <a:r>
              <a:rPr lang="sv-SE" baseline="0" dirty="0" err="1"/>
              <a:t>of</a:t>
            </a:r>
            <a:r>
              <a:rPr lang="sv-SE" baseline="0" dirty="0"/>
              <a:t> data !!</a:t>
            </a:r>
            <a:endParaRPr lang="en-US" baseline="0" dirty="0"/>
          </a:p>
          <a:p>
            <a:r>
              <a:rPr lang="en-US" baseline="0" dirty="0"/>
              <a:t>So annotation is the first step toward the knowledge acquisition (i.e. Leuven)</a:t>
            </a:r>
            <a:endParaRPr lang="en-US" dirty="0"/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83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﻿In top of</a:t>
            </a:r>
            <a:r>
              <a:rPr lang="en-US" baseline="0" dirty="0"/>
              <a:t> that the format has changed a lot through time.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Indeed, the development of this format has not been an easy task.</a:t>
            </a:r>
            <a:endParaRPr lang="en-US" dirty="0"/>
          </a:p>
          <a:p>
            <a:r>
              <a:rPr lang="en-US" dirty="0"/>
              <a:t>Facing some limitation using the original</a:t>
            </a:r>
            <a:r>
              <a:rPr lang="en-US" baseline="0" dirty="0"/>
              <a:t> </a:t>
            </a:r>
            <a:r>
              <a:rPr lang="en-US" dirty="0"/>
              <a:t>specification, GFF has evolved into different flavors depending on the different needs of different laboratories.</a:t>
            </a:r>
          </a:p>
          <a:p>
            <a:r>
              <a:rPr lang="en-US" dirty="0"/>
              <a:t>In 10 years (97-2007) the format has</a:t>
            </a:r>
            <a:r>
              <a:rPr lang="en-US" baseline="0" dirty="0"/>
              <a:t> evolved a lot. The GFF3 is stable stable since many years (2004).</a:t>
            </a:r>
            <a:endParaRPr lang="en-US" dirty="0"/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9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b="1" dirty="0"/>
              <a:t>How</a:t>
            </a:r>
            <a:r>
              <a:rPr lang="fi-FI" b="1" baseline="0" dirty="0"/>
              <a:t> look a GFF3 </a:t>
            </a:r>
            <a:r>
              <a:rPr lang="fi-FI" b="1" baseline="0" dirty="0" err="1"/>
              <a:t>file</a:t>
            </a:r>
            <a:r>
              <a:rPr lang="fi-FI" b="1" baseline="0" dirty="0"/>
              <a:t> 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b="1" baseline="0" dirty="0"/>
              <a:t>Here </a:t>
            </a:r>
            <a:r>
              <a:rPr lang="fi-FI" b="1" dirty="0"/>
              <a:t>One </a:t>
            </a:r>
            <a:r>
              <a:rPr lang="fi-FI" b="1" dirty="0" err="1"/>
              <a:t>gene</a:t>
            </a:r>
            <a:r>
              <a:rPr lang="fi-FI" b="1" dirty="0"/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parent / children relationship provides a mechanism allowing to group features at several hierarchical level allowing representing complex entities like here.</a:t>
            </a:r>
          </a:p>
          <a:p>
            <a:endParaRPr lang="en-US" dirty="0"/>
          </a:p>
          <a:p>
            <a:pPr marL="0" indent="0">
              <a:buFont typeface="Symbol" charset="0"/>
              <a:buNone/>
            </a:pPr>
            <a:r>
              <a:rPr lang="en-US" dirty="0"/>
              <a:t>The content can differ a lot according to the tool/group</a:t>
            </a:r>
            <a:r>
              <a:rPr lang="en-US" baseline="0" dirty="0"/>
              <a:t> producing the file. </a:t>
            </a:r>
          </a:p>
          <a:p>
            <a:pPr marL="0" indent="0">
              <a:buFont typeface="Symbol" charset="0"/>
              <a:buNone/>
            </a:pPr>
            <a:r>
              <a:rPr lang="en-US" baseline="0" dirty="0"/>
              <a:t>About the feature: One can write transcript instead of mRNA, or say UTR instead of 3’UTR and 5’UTR or the 3/5 number could also be written with letter and so one.</a:t>
            </a:r>
          </a:p>
          <a:p>
            <a:pPr marL="0" indent="0">
              <a:buFont typeface="Symbol" charset="0"/>
              <a:buNone/>
            </a:pPr>
            <a:r>
              <a:rPr lang="en-US" baseline="0" dirty="0"/>
              <a:t>About the attributes: There is actually no limit for naming the tag. You can use what ever you want.</a:t>
            </a:r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80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The formats can be seen as a 3 hierarchical levels structure.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GFF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deepest ... highest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GTF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deepest ... highest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GFF and GTF  format are very similar overall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Stop codon included in CDS for GFF.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83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0000"/>
                </a:solidFill>
                <a:latin typeface="Calibri" charset="0"/>
                <a:ea typeface="MS PGothic" charset="0"/>
              </a:rPr>
              <a:t>if a locus is completely missing from the assembly, it cannot be annotated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58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Calibri" charset="0"/>
                <a:ea typeface="MS PGothic" charset="0"/>
              </a:rPr>
              <a:t>Presence of Organelles</a:t>
            </a:r>
            <a:r>
              <a:rPr lang="en-GB" sz="1200" b="1" dirty="0">
                <a:solidFill>
                  <a:srgbClr val="000000"/>
                </a:solidFill>
                <a:latin typeface="Calibri" charset="0"/>
                <a:ea typeface="MS PGothic" charset="0"/>
              </a:rPr>
              <a:t> is important but we do not have time to investigate this</a:t>
            </a:r>
            <a:endParaRPr lang="en-US" sz="1200" b="1" dirty="0">
              <a:solidFill>
                <a:srgbClr val="000000"/>
              </a:solidFill>
              <a:latin typeface="Calibri" charset="0"/>
              <a:ea typeface="MS PGothic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54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Because it is important to increase the quality of the annotation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02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10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0E0D2-EBEA-4B4D-B471-D9E93B2D0A5F}" type="datetime1">
              <a:rPr lang="fr-FR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6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0B1A7-E63F-C945-BA0F-073149B16916}" type="datetime1">
              <a:rPr lang="fr-FR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47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498B-52B4-D248-AC7D-6C0430F78E61}" type="datetime1">
              <a:rPr lang="fr-FR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44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46C6-6131-3E46-855C-3DC38D8E7B01}" type="datetime1">
              <a:rPr lang="fr-FR" smtClean="0"/>
              <a:t>19/10/2026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829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B3D0-D467-2B41-9678-48D794215140}" type="datetime1">
              <a:rPr lang="fr-FR" smtClean="0"/>
              <a:t>19/10/2026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07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BEDC-7666-004E-BE91-E87BFD6169DB}" type="datetime1">
              <a:rPr lang="fr-FR" smtClean="0"/>
              <a:t>19/10/2026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451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3A66-96D5-924E-A36F-D0E492D74F3A}" type="datetime1">
              <a:rPr lang="fr-FR" smtClean="0"/>
              <a:t>19/10/2026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0523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0F2B-8FFA-8A41-B7B8-A9CC2655472A}" type="datetime1">
              <a:rPr lang="fr-FR" smtClean="0"/>
              <a:t>19/10/2026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09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607F8C7-317E-3A42-B629-4A50B731A1AC}" type="datetime1">
              <a:rPr lang="fr-FR" smtClean="0"/>
              <a:t>19/10/2026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664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9802-2785-FE4D-A07F-6610B026E8FB}" type="datetime1">
              <a:rPr lang="fr-FR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719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1AC4-02B8-A545-9B5B-0C3EE09FD627}" type="datetime1">
              <a:rPr lang="fr-FR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303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5C84F53A-35AA-A583-F69F-86369A24DEF0}"/>
              </a:ext>
            </a:extLst>
          </p:cNvPr>
          <p:cNvCxnSpPr/>
          <p:nvPr userDrawn="1"/>
        </p:nvCxnSpPr>
        <p:spPr>
          <a:xfrm>
            <a:off x="459517" y="444040"/>
            <a:ext cx="11224332" cy="0"/>
          </a:xfrm>
          <a:prstGeom prst="line">
            <a:avLst/>
          </a:prstGeom>
          <a:ln w="9525" cmpd="sng">
            <a:solidFill>
              <a:srgbClr val="8A8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8BFD074D-2582-B065-C767-BCAB89AD7D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0"/>
            <a:ext cx="12192000" cy="444500"/>
          </a:xfrm>
        </p:spPr>
        <p:txBody>
          <a:bodyPr/>
          <a:lstStyle>
            <a:lvl1pPr marL="0" indent="0" algn="ctr">
              <a:buNone/>
              <a:defRPr b="0" cap="none" spc="0">
                <a:ln w="0"/>
                <a:solidFill>
                  <a:srgbClr val="02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  <a:lvl2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2pPr>
            <a:lvl3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3pPr>
            <a:lvl4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4pPr>
            <a:lvl5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5pPr>
          </a:lstStyle>
          <a:p>
            <a:pPr lvl="0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374BB62F-3963-2B70-AEA5-B10FCFC49E8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617244" y="6413052"/>
            <a:ext cx="1421889" cy="309201"/>
          </a:xfrm>
        </p:spPr>
        <p:txBody>
          <a:bodyPr/>
          <a:lstStyle/>
          <a:p>
            <a:fld id="{D7D8D820-F334-8742-8AC7-66EEDAB2EAC2}" type="datetime1">
              <a:rPr lang="fr-FR" smtClean="0"/>
              <a:t>19/10/2026</a:t>
            </a:fld>
            <a:endParaRPr lang="en-US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E5310E98-F573-2FB9-D8FA-5D89B44521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73896" y="6413960"/>
            <a:ext cx="5378672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BFEA4EDD-33BF-CA1E-119C-F66477D6E28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3807" y="6413961"/>
            <a:ext cx="854119" cy="309659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CE8079A4-7AA8-4A4F-87E2-7781EC5097DD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2E207B9E-14FB-E537-1518-E74527A54A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074" y="6251046"/>
            <a:ext cx="1636749" cy="48416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0519749-FB4A-3542-E28D-042AF44C12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9" t="12227" r="12811" b="14127"/>
          <a:stretch/>
        </p:blipFill>
        <p:spPr>
          <a:xfrm>
            <a:off x="1857632" y="6248270"/>
            <a:ext cx="634193" cy="48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78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43A66-96D5-924E-A36F-D0E492D74F3A}" type="datetime1">
              <a:rPr lang="fr-FR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35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  <p:sldLayoutId id="214748395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uke34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4.jpeg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3.jpg"/><Relationship Id="rId9" Type="http://schemas.openxmlformats.org/officeDocument/2006/relationships/hyperlink" Target="https://freepngimg.com/png/80213-text-symbol-sign-black-arroba-white" TargetMode="External"/><Relationship Id="rId14" Type="http://schemas.openxmlformats.org/officeDocument/2006/relationships/image" Target="../media/image10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jpg"/><Relationship Id="rId7" Type="http://schemas.microsoft.com/office/2007/relationships/hdphoto" Target="../media/hdphoto3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microsoft.com/office/2007/relationships/hdphoto" Target="../media/hdphoto2.wdp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gat.readthedocs.io/en/latest/gxf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4.png"/><Relationship Id="rId4" Type="http://schemas.openxmlformats.org/officeDocument/2006/relationships/hyperlink" Target="https://pxhere.com/en/photo/854783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CD2EBC-5076-D24A-AEF9-B6A8AC11F049}"/>
              </a:ext>
            </a:extLst>
          </p:cNvPr>
          <p:cNvSpPr txBox="1"/>
          <p:nvPr/>
        </p:nvSpPr>
        <p:spPr>
          <a:xfrm>
            <a:off x="2800350" y="527050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 fontScale="25000" lnSpcReduction="20000"/>
          </a:bodyPr>
          <a:lstStyle/>
          <a:p>
            <a:pPr algn="l"/>
            <a:endParaRPr lang="en-GB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BEC24E-07D5-F740-A842-2F3820E97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42" y="237602"/>
            <a:ext cx="3287795" cy="972549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905B4075-878E-6653-889D-DC4137FDB9DC}"/>
              </a:ext>
            </a:extLst>
          </p:cNvPr>
          <p:cNvSpPr txBox="1"/>
          <p:nvPr/>
        </p:nvSpPr>
        <p:spPr>
          <a:xfrm>
            <a:off x="6524264" y="3032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3E5553A3-986F-37C2-2B42-6C930B1FF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309" y="4668743"/>
            <a:ext cx="337320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097A4089-15D0-0182-66C4-7A466A68AED9}"/>
              </a:ext>
            </a:extLst>
          </p:cNvPr>
          <p:cNvSpPr txBox="1">
            <a:spLocks/>
          </p:cNvSpPr>
          <p:nvPr/>
        </p:nvSpPr>
        <p:spPr>
          <a:xfrm>
            <a:off x="0" y="1979221"/>
            <a:ext cx="12192000" cy="2255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dirty="0">
                <a:solidFill>
                  <a:srgbClr val="000000"/>
                </a:solidFill>
              </a:rPr>
              <a:t>Introduction to genome annotation</a:t>
            </a:r>
            <a:endParaRPr lang="en-GB" dirty="0">
              <a:solidFill>
                <a:sysClr val="windowText" lastClr="000000"/>
              </a:solidFill>
              <a:latin typeface="Calibri Light" panose="020F0302020204030204"/>
            </a:endParaRPr>
          </a:p>
          <a:p>
            <a:pPr algn="ctr"/>
            <a:endParaRPr lang="en-GB" dirty="0">
              <a:solidFill>
                <a:sysClr val="windowText" lastClr="000000"/>
              </a:solidFill>
              <a:latin typeface="Calibri Light" panose="020F0302020204030204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EB056A61-CFD9-6140-5038-4884A1FBF7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9" t="12227" r="12811" b="14127"/>
          <a:stretch/>
        </p:blipFill>
        <p:spPr>
          <a:xfrm>
            <a:off x="3742895" y="237601"/>
            <a:ext cx="1266665" cy="972549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CA210819-9122-4D1F-58B8-CC249783DB6C}"/>
              </a:ext>
            </a:extLst>
          </p:cNvPr>
          <p:cNvSpPr txBox="1"/>
          <p:nvPr/>
        </p:nvSpPr>
        <p:spPr>
          <a:xfrm>
            <a:off x="0" y="6181445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22/09/2025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887C6DF-E142-F3B1-5D40-CD1824E487CA}"/>
              </a:ext>
            </a:extLst>
          </p:cNvPr>
          <p:cNvSpPr txBox="1"/>
          <p:nvPr/>
        </p:nvSpPr>
        <p:spPr>
          <a:xfrm>
            <a:off x="9929698" y="6555094"/>
            <a:ext cx="1669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Jacques Dainat Ph.D.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BED1E1B3-8F78-27EA-E2F1-CF1D91EC8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7513" y="6181445"/>
            <a:ext cx="642254" cy="642254"/>
          </a:xfrm>
          <a:prstGeom prst="ellipse">
            <a:avLst/>
          </a:prstGeom>
        </p:spPr>
      </p:pic>
      <p:pic>
        <p:nvPicPr>
          <p:cNvPr id="21" name="Picture 29">
            <a:hlinkClick r:id="rId6"/>
            <a:extLst>
              <a:ext uri="{FF2B5EF4-FFF2-40B4-BE49-F238E27FC236}">
                <a16:creationId xmlns:a16="http://schemas.microsoft.com/office/drawing/2014/main" id="{89EBB4B5-A8DC-AE03-1BD7-D0DF48AA5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92068" y="6532274"/>
            <a:ext cx="332120" cy="33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62A78C47-4245-D420-57CD-8BD9ED4B1A04}"/>
              </a:ext>
            </a:extLst>
          </p:cNvPr>
          <p:cNvSpPr txBox="1"/>
          <p:nvPr/>
        </p:nvSpPr>
        <p:spPr>
          <a:xfrm>
            <a:off x="3424123" y="6532274"/>
            <a:ext cx="21507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@</a:t>
            </a:r>
            <a:r>
              <a:rPr lang="en-US" sz="1200" dirty="0" err="1">
                <a:solidFill>
                  <a:schemeClr val="bg1"/>
                </a:solidFill>
                <a:latin typeface="Roboto" pitchFamily="2" charset="0"/>
              </a:rPr>
              <a:t>Jacquesdainat.bsky.social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AC803A2-D6B6-07EC-6C5E-9A07D0B4B01C}"/>
              </a:ext>
            </a:extLst>
          </p:cNvPr>
          <p:cNvSpPr txBox="1"/>
          <p:nvPr/>
        </p:nvSpPr>
        <p:spPr>
          <a:xfrm>
            <a:off x="2367039" y="6561814"/>
            <a:ext cx="1669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Juke34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70F70352-0DEF-6161-4152-81AC1DFB55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1362" y="6547249"/>
            <a:ext cx="276999" cy="276999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BCB7F09D-196E-B450-7AF1-9A9D0103DAAC}"/>
              </a:ext>
            </a:extLst>
          </p:cNvPr>
          <p:cNvSpPr txBox="1"/>
          <p:nvPr/>
        </p:nvSpPr>
        <p:spPr>
          <a:xfrm>
            <a:off x="287842" y="6548538"/>
            <a:ext cx="17431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Roboto" pitchFamily="2" charset="0"/>
              </a:rPr>
              <a:t>Jacques.dainat@ird.fr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D21230A3-709D-3E2B-F994-C2FACF1A01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3281" y="6471179"/>
            <a:ext cx="370989" cy="370989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6E0AF94A-E95B-00AF-19FC-268F3DCD5D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775" y="5210371"/>
            <a:ext cx="1068960" cy="1021213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6AD93107-6B79-6CB3-E21C-383A6827D63A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93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2915" b="96413" l="2200" r="97600">
                        <a14:foregroundMark x1="36400" y1="35426" x2="36400" y2="35426"/>
                        <a14:foregroundMark x1="42800" y1="36099" x2="42800" y2="36099"/>
                        <a14:foregroundMark x1="56400" y1="32960" x2="56400" y2="32960"/>
                        <a14:foregroundMark x1="68800" y1="28251" x2="68800" y2="28251"/>
                        <a14:foregroundMark x1="83400" y1="10762" x2="83400" y2="10762"/>
                        <a14:foregroundMark x1="92000" y1="21076" x2="92000" y2="21076"/>
                        <a14:foregroundMark x1="96000" y1="19955" x2="96000" y2="19955"/>
                        <a14:foregroundMark x1="92400" y1="36547" x2="92400" y2="36547"/>
                        <a14:foregroundMark x1="97600" y1="64126" x2="97600" y2="64126"/>
                        <a14:foregroundMark x1="88800" y1="61659" x2="88800" y2="61659"/>
                        <a14:foregroundMark x1="79800" y1="68161" x2="79800" y2="68161"/>
                        <a14:foregroundMark x1="64000" y1="80717" x2="64000" y2="80717"/>
                        <a14:foregroundMark x1="42200" y1="68834" x2="42200" y2="68834"/>
                        <a14:foregroundMark x1="16600" y1="67489" x2="16600" y2="67489"/>
                        <a14:foregroundMark x1="7200" y1="61211" x2="7200" y2="61211"/>
                        <a14:foregroundMark x1="2200" y1="63004" x2="2200" y2="63004"/>
                        <a14:foregroundMark x1="7600" y1="47085" x2="7600" y2="47085"/>
                        <a14:foregroundMark x1="3000" y1="30493" x2="3000" y2="30493"/>
                        <a14:foregroundMark x1="10600" y1="16592" x2="10600" y2="16592"/>
                        <a14:foregroundMark x1="19600" y1="8969" x2="19600" y2="8969"/>
                        <a14:foregroundMark x1="17400" y1="4933" x2="17400" y2="4933"/>
                        <a14:foregroundMark x1="32800" y1="2915" x2="32800" y2="2915"/>
                        <a14:foregroundMark x1="53600" y1="6502" x2="53600" y2="6502"/>
                        <a14:foregroundMark x1="63200" y1="10090" x2="63200" y2="10090"/>
                        <a14:foregroundMark x1="18000" y1="82287" x2="18000" y2="82287"/>
                        <a14:foregroundMark x1="27400" y1="95067" x2="27400" y2="95067"/>
                        <a14:foregroundMark x1="53000" y1="96413" x2="53000" y2="96413"/>
                        <a14:foregroundMark x1="64600" y1="95964" x2="64600" y2="95964"/>
                        <a14:foregroundMark x1="79200" y1="92377" x2="79200" y2="92377"/>
                        <a14:foregroundMark x1="87200" y1="84081" x2="87200" y2="84081"/>
                        <a14:foregroundMark x1="34400" y1="3139" x2="34400" y2="3139"/>
                        <a14:foregroundMark x1="69800" y1="32287" x2="69800" y2="32287"/>
                        <a14:foregroundMark x1="69600" y1="32511" x2="69600" y2="32511"/>
                        <a14:foregroundMark x1="69600" y1="32063" x2="69600" y2="32063"/>
                        <a14:foregroundMark x1="69800" y1="32511" x2="69800" y2="32511"/>
                        <a14:foregroundMark x1="69800" y1="32511" x2="69800" y2="32511"/>
                        <a14:foregroundMark x1="69800" y1="32287" x2="69800" y2="32287"/>
                        <a14:foregroundMark x1="69800" y1="32287" x2="69800" y2="32287"/>
                        <a14:foregroundMark x1="69800" y1="32287" x2="69800" y2="32287"/>
                        <a14:foregroundMark x1="69800" y1="32287" x2="69800" y2="32287"/>
                        <a14:foregroundMark x1="69600" y1="31839" x2="69600" y2="31839"/>
                        <a14:foregroundMark x1="69600" y1="32287" x2="69600" y2="32287"/>
                        <a14:foregroundMark x1="69800" y1="32511" x2="70000" y2="32960"/>
                        <a14:foregroundMark x1="70000" y1="33408" x2="68800" y2="32960"/>
                        <a14:foregroundMark x1="39400" y1="89910" x2="39400" y2="89910"/>
                        <a14:foregroundMark x1="39600" y1="89910" x2="39600" y2="89910"/>
                        <a14:foregroundMark x1="39600" y1="90135" x2="39600" y2="90135"/>
                        <a14:foregroundMark x1="39600" y1="90135" x2="39600" y2="90135"/>
                        <a14:foregroundMark x1="39600" y1="89686" x2="39600" y2="89686"/>
                        <a14:foregroundMark x1="39600" y1="89686" x2="39200" y2="89686"/>
                        <a14:foregroundMark x1="39600" y1="90135" x2="39600" y2="90135"/>
                        <a14:backgroundMark x1="40000" y1="89910" x2="40000" y2="89910"/>
                        <a14:backgroundMark x1="63200" y1="96413" x2="63200" y2="96413"/>
                        <a14:backgroundMark x1="63800" y1="96188" x2="63800" y2="96188"/>
                        <a14:backgroundMark x1="64200" y1="96188" x2="64200" y2="96188"/>
                        <a14:backgroundMark x1="64000" y1="95740" x2="64000" y2="95740"/>
                        <a14:backgroundMark x1="64000" y1="95740" x2="64000" y2="95740"/>
                        <a14:backgroundMark x1="64000" y1="95964" x2="64000" y2="95964"/>
                        <a14:backgroundMark x1="64200" y1="95964" x2="64200" y2="95964"/>
                        <a14:backgroundMark x1="64200" y1="96413" x2="64200" y2="96413"/>
                        <a14:backgroundMark x1="42600" y1="71525" x2="42600" y2="71525"/>
                        <a14:backgroundMark x1="42800" y1="71076" x2="42800" y2="71076"/>
                        <a14:backgroundMark x1="61400" y1="67937" x2="61400" y2="67937"/>
                        <a14:backgroundMark x1="70000" y1="32063" x2="70000" y2="32063"/>
                        <a14:backgroundMark x1="17000" y1="5381" x2="17000" y2="5381"/>
                        <a14:backgroundMark x1="17600" y1="5381" x2="17600" y2="5381"/>
                        <a14:backgroundMark x1="17000" y1="5157" x2="17000" y2="5157"/>
                        <a14:backgroundMark x1="17000" y1="4933" x2="17000" y2="4933"/>
                        <a14:backgroundMark x1="17000" y1="5157" x2="17000" y2="5157"/>
                        <a14:backgroundMark x1="17000" y1="5157" x2="17000" y2="5157"/>
                        <a14:backgroundMark x1="17200" y1="5157" x2="17200" y2="5157"/>
                        <a14:backgroundMark x1="17200" y1="5157" x2="17200" y2="5157"/>
                        <a14:backgroundMark x1="17200" y1="4933" x2="17200" y2="4933"/>
                        <a14:backgroundMark x1="17400" y1="5157" x2="17400" y2="5157"/>
                        <a14:backgroundMark x1="17400" y1="4933" x2="17400" y2="4933"/>
                        <a14:backgroundMark x1="17400" y1="5157" x2="17400" y2="5157"/>
                        <a14:backgroundMark x1="32400" y1="3363" x2="32400" y2="3363"/>
                        <a14:backgroundMark x1="32400" y1="2691" x2="32400" y2="2691"/>
                        <a14:backgroundMark x1="32400" y1="3587" x2="32400" y2="3587"/>
                        <a14:backgroundMark x1="32400" y1="3363" x2="32400" y2="3363"/>
                        <a14:backgroundMark x1="32400" y1="3587" x2="32400" y2="3587"/>
                        <a14:backgroundMark x1="32200" y1="3363" x2="32200" y2="3363"/>
                        <a14:backgroundMark x1="32200" y1="3363" x2="32200" y2="3363"/>
                        <a14:backgroundMark x1="32400" y1="3587" x2="32400" y2="3587"/>
                        <a14:backgroundMark x1="32400" y1="3587" x2="32400" y2="3587"/>
                        <a14:backgroundMark x1="32400" y1="3363" x2="32400" y2="3363"/>
                        <a14:backgroundMark x1="32400" y1="3363" x2="32400" y2="3363"/>
                        <a14:backgroundMark x1="32400" y1="3363" x2="32400" y2="3363"/>
                        <a14:backgroundMark x1="32600" y1="3363" x2="32600" y2="3363"/>
                        <a14:backgroundMark x1="32600" y1="3139" x2="32600" y2="31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362" y="5259565"/>
            <a:ext cx="785191" cy="700391"/>
          </a:xfrm>
          <a:prstGeom prst="rect">
            <a:avLst/>
          </a:prstGeom>
        </p:spPr>
      </p:pic>
      <p:pic>
        <p:nvPicPr>
          <p:cNvPr id="34" name="Graphique 33">
            <a:extLst>
              <a:ext uri="{FF2B5EF4-FFF2-40B4-BE49-F238E27FC236}">
                <a16:creationId xmlns:a16="http://schemas.microsoft.com/office/drawing/2014/main" id="{FAA25AA1-832A-8914-E46D-93A0F74209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38884" y="5430451"/>
            <a:ext cx="992125" cy="529505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6B86C17-C874-9546-64BA-73A4E494DE0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72214" y="5292444"/>
            <a:ext cx="959549" cy="72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3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D1470ED-BD10-E22E-14E9-44EE6D8F67F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perspective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F836CC-0688-C2F6-DD85-5A932DC6C7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B23A8E9-6F0E-A21A-6924-6A1071E54A44}"/>
              </a:ext>
            </a:extLst>
          </p:cNvPr>
          <p:cNvSpPr>
            <a:spLocks/>
          </p:cNvSpPr>
          <p:nvPr/>
        </p:nvSpPr>
        <p:spPr bwMode="auto">
          <a:xfrm>
            <a:off x="0" y="488334"/>
            <a:ext cx="3891403" cy="647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sv-SE" sz="3600" dirty="0">
                <a:latin typeface="Calibri" charset="0"/>
              </a:rPr>
              <a:t>… </a:t>
            </a:r>
            <a:r>
              <a:rPr lang="sv-SE" sz="3600" dirty="0" err="1">
                <a:latin typeface="Calibri" charset="0"/>
              </a:rPr>
              <a:t>prices</a:t>
            </a:r>
            <a:r>
              <a:rPr lang="sv-SE" sz="3600" dirty="0">
                <a:latin typeface="Calibri" charset="0"/>
              </a:rPr>
              <a:t> go down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A3CDA3B-FF70-2778-6CB7-67A2192EEC7E}"/>
              </a:ext>
            </a:extLst>
          </p:cNvPr>
          <p:cNvSpPr>
            <a:spLocks/>
          </p:cNvSpPr>
          <p:nvPr/>
        </p:nvSpPr>
        <p:spPr bwMode="auto">
          <a:xfrm>
            <a:off x="3282059" y="1321013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</a:pPr>
            <a:r>
              <a:rPr lang="sv-SE" sz="2800" dirty="0">
                <a:latin typeface="Calibri" charset="0"/>
              </a:rPr>
              <a:t>	Human </a:t>
            </a:r>
            <a:r>
              <a:rPr lang="sv-SE" sz="2800" dirty="0" err="1">
                <a:latin typeface="Calibri" charset="0"/>
              </a:rPr>
              <a:t>genome</a:t>
            </a:r>
            <a:r>
              <a:rPr lang="sv-SE" sz="2800" dirty="0">
                <a:latin typeface="Calibri" charset="0"/>
              </a:rPr>
              <a:t> </a:t>
            </a:r>
            <a:r>
              <a:rPr lang="sv-SE" sz="2800" dirty="0" err="1">
                <a:latin typeface="Calibri" charset="0"/>
              </a:rPr>
              <a:t>sequencing</a:t>
            </a:r>
            <a:r>
              <a:rPr lang="sv-SE" sz="2800" dirty="0">
                <a:latin typeface="Calibri" charset="0"/>
              </a:rPr>
              <a:t>:</a:t>
            </a:r>
          </a:p>
          <a:p>
            <a:pPr lvl="1">
              <a:spcBef>
                <a:spcPct val="20000"/>
              </a:spcBef>
            </a:pPr>
            <a:r>
              <a:rPr lang="sv-SE" sz="2400" dirty="0">
                <a:latin typeface="Calibri" charset="0"/>
              </a:rPr>
              <a:t>2004: </a:t>
            </a:r>
            <a:r>
              <a:rPr lang="sv-SE" sz="2400" dirty="0" err="1">
                <a:latin typeface="Calibri" charset="0"/>
              </a:rPr>
              <a:t>Genome</a:t>
            </a:r>
            <a:r>
              <a:rPr lang="sv-SE" sz="2400" dirty="0">
                <a:latin typeface="Calibri" charset="0"/>
              </a:rPr>
              <a:t> </a:t>
            </a:r>
            <a:r>
              <a:rPr lang="sv-SE" sz="2400" dirty="0" err="1">
                <a:latin typeface="Calibri" charset="0"/>
              </a:rPr>
              <a:t>of</a:t>
            </a:r>
            <a:r>
              <a:rPr lang="sv-SE" sz="2400" dirty="0">
                <a:latin typeface="Calibri" charset="0"/>
              </a:rPr>
              <a:t> Craig </a:t>
            </a:r>
            <a:r>
              <a:rPr lang="sv-SE" sz="2400" dirty="0" err="1">
                <a:latin typeface="Calibri" charset="0"/>
              </a:rPr>
              <a:t>Wenter</a:t>
            </a:r>
            <a:r>
              <a:rPr lang="sv-SE" sz="2400" dirty="0">
                <a:latin typeface="Calibri" charset="0"/>
              </a:rPr>
              <a:t> </a:t>
            </a:r>
            <a:r>
              <a:rPr lang="sv-SE" sz="2400" dirty="0" err="1">
                <a:latin typeface="Calibri" charset="0"/>
              </a:rPr>
              <a:t>costs</a:t>
            </a:r>
            <a:r>
              <a:rPr lang="sv-SE" sz="2400" dirty="0">
                <a:latin typeface="Calibri" charset="0"/>
              </a:rPr>
              <a:t> 70 </a:t>
            </a:r>
            <a:r>
              <a:rPr lang="sv-SE" sz="2400" dirty="0" err="1">
                <a:latin typeface="Calibri" charset="0"/>
              </a:rPr>
              <a:t>mln</a:t>
            </a:r>
            <a:r>
              <a:rPr lang="sv-SE" sz="2400" dirty="0">
                <a:latin typeface="Calibri" charset="0"/>
              </a:rPr>
              <a:t> $ 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</a:pPr>
            <a:r>
              <a:rPr lang="sv-SE" sz="1600" dirty="0" err="1">
                <a:latin typeface="Calibri" charset="0"/>
              </a:rPr>
              <a:t>Sanger’s</a:t>
            </a:r>
            <a:r>
              <a:rPr lang="sv-SE" sz="1600" dirty="0">
                <a:latin typeface="Calibri" charset="0"/>
              </a:rPr>
              <a:t> </a:t>
            </a:r>
            <a:r>
              <a:rPr lang="sv-SE" sz="1600" dirty="0" err="1">
                <a:latin typeface="Calibri" charset="0"/>
              </a:rPr>
              <a:t>sequencing</a:t>
            </a:r>
            <a:endParaRPr lang="sv-SE" sz="1600" dirty="0">
              <a:latin typeface="Calibri" charset="0"/>
            </a:endParaRP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</a:pPr>
            <a:endParaRPr lang="sv-SE" sz="1600" dirty="0">
              <a:latin typeface="Calibri" charset="0"/>
            </a:endParaRP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</a:pPr>
            <a:endParaRPr lang="sv-SE" sz="1600" dirty="0">
              <a:latin typeface="Calibri" charset="0"/>
            </a:endParaRPr>
          </a:p>
          <a:p>
            <a:pPr lvl="1">
              <a:spcBef>
                <a:spcPct val="20000"/>
              </a:spcBef>
            </a:pPr>
            <a:r>
              <a:rPr lang="sv-SE" sz="2400" dirty="0">
                <a:latin typeface="Calibri" charset="0"/>
              </a:rPr>
              <a:t>2007: </a:t>
            </a:r>
            <a:r>
              <a:rPr lang="sv-SE" sz="2400" dirty="0" err="1">
                <a:latin typeface="Calibri" charset="0"/>
              </a:rPr>
              <a:t>Genome</a:t>
            </a:r>
            <a:r>
              <a:rPr lang="sv-SE" sz="2400" dirty="0">
                <a:latin typeface="Calibri" charset="0"/>
              </a:rPr>
              <a:t> </a:t>
            </a:r>
            <a:r>
              <a:rPr lang="sv-SE" sz="2400" dirty="0" err="1">
                <a:latin typeface="Calibri" charset="0"/>
              </a:rPr>
              <a:t>of</a:t>
            </a:r>
            <a:r>
              <a:rPr lang="sv-SE" sz="2400" dirty="0">
                <a:latin typeface="Calibri" charset="0"/>
              </a:rPr>
              <a:t> James Watson </a:t>
            </a:r>
            <a:r>
              <a:rPr lang="sv-SE" sz="2400" dirty="0" err="1">
                <a:latin typeface="Calibri" charset="0"/>
              </a:rPr>
              <a:t>costs</a:t>
            </a:r>
            <a:r>
              <a:rPr lang="sv-SE" sz="2400" dirty="0">
                <a:latin typeface="Calibri" charset="0"/>
              </a:rPr>
              <a:t> 2 </a:t>
            </a:r>
            <a:r>
              <a:rPr lang="sv-SE" sz="2400" dirty="0" err="1">
                <a:latin typeface="Calibri" charset="0"/>
              </a:rPr>
              <a:t>mln</a:t>
            </a:r>
            <a:r>
              <a:rPr lang="sv-SE" sz="2400" dirty="0">
                <a:latin typeface="Calibri" charset="0"/>
              </a:rPr>
              <a:t> $ 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</a:pPr>
            <a:r>
              <a:rPr lang="sv-SE" sz="1600" dirty="0">
                <a:latin typeface="Calibri" charset="0"/>
              </a:rPr>
              <a:t>454 </a:t>
            </a:r>
            <a:r>
              <a:rPr lang="sv-SE" sz="1600" dirty="0" err="1">
                <a:latin typeface="Calibri" charset="0"/>
              </a:rPr>
              <a:t>pyrosequencing</a:t>
            </a:r>
            <a:endParaRPr lang="sv-SE" sz="1600" dirty="0">
              <a:latin typeface="Calibri" charset="0"/>
            </a:endParaRPr>
          </a:p>
          <a:p>
            <a:pPr lvl="1">
              <a:spcBef>
                <a:spcPct val="20000"/>
              </a:spcBef>
            </a:pPr>
            <a:endParaRPr lang="sv-SE" sz="1600" dirty="0">
              <a:latin typeface="Calibri" charset="0"/>
            </a:endParaRPr>
          </a:p>
          <a:p>
            <a:pPr lvl="1">
              <a:spcBef>
                <a:spcPct val="20000"/>
              </a:spcBef>
            </a:pPr>
            <a:endParaRPr lang="sv-SE" sz="1600" dirty="0">
              <a:latin typeface="Calibri" charset="0"/>
            </a:endParaRPr>
          </a:p>
          <a:p>
            <a:pPr lvl="1">
              <a:spcBef>
                <a:spcPct val="20000"/>
              </a:spcBef>
            </a:pPr>
            <a:r>
              <a:rPr lang="sv-SE" sz="2400" dirty="0">
                <a:latin typeface="Calibri" charset="0"/>
              </a:rPr>
              <a:t>2014: Ultimate </a:t>
            </a:r>
            <a:r>
              <a:rPr lang="sv-SE" sz="2400" dirty="0" err="1">
                <a:latin typeface="Calibri" charset="0"/>
              </a:rPr>
              <a:t>goal</a:t>
            </a:r>
            <a:r>
              <a:rPr lang="sv-SE" sz="2400" dirty="0">
                <a:latin typeface="Calibri" charset="0"/>
              </a:rPr>
              <a:t>: 1000 $ / </a:t>
            </a:r>
            <a:r>
              <a:rPr lang="sv-SE" sz="2400" dirty="0" err="1">
                <a:latin typeface="Calibri" charset="0"/>
              </a:rPr>
              <a:t>individual</a:t>
            </a:r>
            <a:endParaRPr lang="sv-SE" sz="2400" dirty="0">
              <a:latin typeface="Calibri" charset="0"/>
            </a:endParaRPr>
          </a:p>
          <a:p>
            <a:pPr lvl="1">
              <a:spcBef>
                <a:spcPct val="20000"/>
              </a:spcBef>
            </a:pPr>
            <a:r>
              <a:rPr lang="sv-SE" sz="2400" dirty="0">
                <a:latin typeface="Calibri" charset="0"/>
              </a:rPr>
              <a:t>2016: </a:t>
            </a:r>
            <a:r>
              <a:rPr lang="sv-SE" sz="2400" dirty="0" err="1">
                <a:latin typeface="Calibri" charset="0"/>
              </a:rPr>
              <a:t>Illumina</a:t>
            </a:r>
            <a:r>
              <a:rPr lang="sv-SE" sz="2400" dirty="0">
                <a:latin typeface="Calibri" charset="0"/>
              </a:rPr>
              <a:t> </a:t>
            </a:r>
            <a:r>
              <a:rPr lang="sv-SE" sz="2400" dirty="0" err="1">
                <a:latin typeface="Calibri" charset="0"/>
              </a:rPr>
              <a:t>Xten</a:t>
            </a:r>
            <a:r>
              <a:rPr lang="sv-SE" sz="2400" dirty="0">
                <a:latin typeface="Calibri" charset="0"/>
              </a:rPr>
              <a:t>: </a:t>
            </a:r>
            <a:r>
              <a:rPr lang="sv-SE" sz="2400" dirty="0" err="1">
                <a:latin typeface="Calibri" charset="0"/>
              </a:rPr>
              <a:t>Almost</a:t>
            </a:r>
            <a:r>
              <a:rPr lang="sv-SE" sz="2400" dirty="0">
                <a:latin typeface="Calibri" charset="0"/>
              </a:rPr>
              <a:t> </a:t>
            </a:r>
            <a:r>
              <a:rPr lang="sv-SE" sz="2400" dirty="0" err="1">
                <a:latin typeface="Calibri" charset="0"/>
              </a:rPr>
              <a:t>there</a:t>
            </a:r>
            <a:r>
              <a:rPr lang="sv-SE" sz="2400" dirty="0">
                <a:latin typeface="Calibri" charset="0"/>
              </a:rPr>
              <a:t>! (1200 $)</a:t>
            </a:r>
          </a:p>
          <a:p>
            <a:pPr lvl="1">
              <a:spcBef>
                <a:spcPct val="20000"/>
              </a:spcBef>
            </a:pPr>
            <a:r>
              <a:rPr lang="sv-SE" sz="2400" dirty="0">
                <a:latin typeface="Calibri" charset="0"/>
              </a:rPr>
              <a:t>2017: </a:t>
            </a:r>
            <a:r>
              <a:rPr lang="sv-SE" sz="2400" dirty="0" err="1">
                <a:latin typeface="Calibri" charset="0"/>
              </a:rPr>
              <a:t>NovaSeq</a:t>
            </a:r>
            <a:r>
              <a:rPr lang="sv-SE" sz="2400" dirty="0">
                <a:latin typeface="Calibri" charset="0"/>
              </a:rPr>
              <a:t>: ”</a:t>
            </a:r>
            <a:r>
              <a:rPr lang="sv-SE" sz="2400" dirty="0" err="1">
                <a:latin typeface="Calibri" charset="0"/>
              </a:rPr>
              <a:t>Hold</a:t>
            </a:r>
            <a:r>
              <a:rPr lang="sv-SE" sz="2400" dirty="0">
                <a:latin typeface="Calibri" charset="0"/>
              </a:rPr>
              <a:t> my </a:t>
            </a:r>
            <a:r>
              <a:rPr lang="sv-SE" sz="2400" dirty="0" err="1">
                <a:latin typeface="Calibri" charset="0"/>
              </a:rPr>
              <a:t>beer</a:t>
            </a:r>
            <a:r>
              <a:rPr lang="sv-SE" sz="2400" dirty="0">
                <a:latin typeface="Calibri" charset="0"/>
              </a:rPr>
              <a:t>…” (100 $)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</a:pPr>
            <a:endParaRPr lang="sv-SE" sz="1600" dirty="0">
              <a:latin typeface="Calibri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5636EC-4B94-0D76-348D-FB6E4138D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49234" y="1377616"/>
            <a:ext cx="1120679" cy="1452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01F93B-A237-1960-5258-32AD08EFA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9155" y="3138673"/>
            <a:ext cx="1661001" cy="1136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E81982-85FA-9B0B-7EA4-ACB0C7785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392" y="4514307"/>
            <a:ext cx="1918267" cy="127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636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D9FD63-CA0D-17F0-B9F9-25695F8EAC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495224B-8947-3A8C-41F2-6B4F8F04E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389" y="1411110"/>
            <a:ext cx="1919111" cy="2507639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36F48122-38E1-DED5-E1EC-CBBA589BC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396" y="1985526"/>
            <a:ext cx="6590530" cy="1933223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A989A368-C01F-F5EB-2963-5308CD637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389" y="4318781"/>
            <a:ext cx="7182555" cy="1690999"/>
          </a:xfrm>
          <a:prstGeom prst="rect">
            <a:avLst/>
          </a:prstGeom>
        </p:spPr>
      </p:pic>
      <p:sp>
        <p:nvSpPr>
          <p:cNvPr id="7" name="textruta 8">
            <a:extLst>
              <a:ext uri="{FF2B5EF4-FFF2-40B4-BE49-F238E27FC236}">
                <a16:creationId xmlns:a16="http://schemas.microsoft.com/office/drawing/2014/main" id="{72FAA1FB-D6E4-429D-8511-64D69FB53439}"/>
              </a:ext>
            </a:extLst>
          </p:cNvPr>
          <p:cNvSpPr txBox="1"/>
          <p:nvPr/>
        </p:nvSpPr>
        <p:spPr>
          <a:xfrm>
            <a:off x="6485054" y="4164267"/>
            <a:ext cx="693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rgbClr val="FF0000"/>
                </a:solidFill>
              </a:rPr>
              <a:t>IF 2.9</a:t>
            </a:r>
          </a:p>
        </p:txBody>
      </p:sp>
      <p:sp>
        <p:nvSpPr>
          <p:cNvPr id="8" name="textruta 9">
            <a:extLst>
              <a:ext uri="{FF2B5EF4-FFF2-40B4-BE49-F238E27FC236}">
                <a16:creationId xmlns:a16="http://schemas.microsoft.com/office/drawing/2014/main" id="{9E4940F8-698B-71A6-3124-A754ECF278EA}"/>
              </a:ext>
            </a:extLst>
          </p:cNvPr>
          <p:cNvSpPr txBox="1"/>
          <p:nvPr/>
        </p:nvSpPr>
        <p:spPr>
          <a:xfrm>
            <a:off x="8180366" y="1873275"/>
            <a:ext cx="810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rgbClr val="FF0000"/>
                </a:solidFill>
              </a:rPr>
              <a:t>IF 31.6</a:t>
            </a:r>
          </a:p>
        </p:txBody>
      </p:sp>
      <p:sp>
        <p:nvSpPr>
          <p:cNvPr id="9" name="Ellips 10">
            <a:extLst>
              <a:ext uri="{FF2B5EF4-FFF2-40B4-BE49-F238E27FC236}">
                <a16:creationId xmlns:a16="http://schemas.microsoft.com/office/drawing/2014/main" id="{7D59556A-BE60-0641-5222-F29F492A3FF5}"/>
              </a:ext>
            </a:extLst>
          </p:cNvPr>
          <p:cNvSpPr/>
          <p:nvPr/>
        </p:nvSpPr>
        <p:spPr>
          <a:xfrm>
            <a:off x="5467396" y="1873276"/>
            <a:ext cx="1732074" cy="409223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Ellips 11">
            <a:extLst>
              <a:ext uri="{FF2B5EF4-FFF2-40B4-BE49-F238E27FC236}">
                <a16:creationId xmlns:a16="http://schemas.microsoft.com/office/drawing/2014/main" id="{C37C5ADC-7F1D-1888-1D45-1835F5694D93}"/>
              </a:ext>
            </a:extLst>
          </p:cNvPr>
          <p:cNvSpPr/>
          <p:nvPr/>
        </p:nvSpPr>
        <p:spPr>
          <a:xfrm>
            <a:off x="3099499" y="4174042"/>
            <a:ext cx="1919111" cy="493888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313FBD9-5A38-C04E-7335-9E95BF384CC2}"/>
              </a:ext>
            </a:extLst>
          </p:cNvPr>
          <p:cNvSpPr>
            <a:spLocks/>
          </p:cNvSpPr>
          <p:nvPr/>
        </p:nvSpPr>
        <p:spPr bwMode="auto">
          <a:xfrm>
            <a:off x="0" y="488334"/>
            <a:ext cx="5641145" cy="647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600" dirty="0"/>
              <a:t>… scientific value diminishes</a:t>
            </a:r>
          </a:p>
        </p:txBody>
      </p:sp>
      <p:sp>
        <p:nvSpPr>
          <p:cNvPr id="14" name="Espace réservé du contenu 1">
            <a:extLst>
              <a:ext uri="{FF2B5EF4-FFF2-40B4-BE49-F238E27FC236}">
                <a16:creationId xmlns:a16="http://schemas.microsoft.com/office/drawing/2014/main" id="{5E84ACF4-9FD4-5F4E-9AFA-B6A180DC40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/>
          <a:lstStyle/>
          <a:p>
            <a:r>
              <a:rPr lang="en-GB" dirty="0"/>
              <a:t>perspective</a:t>
            </a:r>
          </a:p>
        </p:txBody>
      </p:sp>
    </p:spTree>
    <p:extLst>
      <p:ext uri="{BB962C8B-B14F-4D97-AF65-F5344CB8AC3E}">
        <p14:creationId xmlns:p14="http://schemas.microsoft.com/office/powerpoint/2010/main" val="863369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A17B6AF-F2F0-D9B5-5B56-C7ADDC152B3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perspective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DE49B06-C7FA-C094-AAD8-32321F8E218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D531BDA-2466-E575-D1F2-17C8CCE602A0}"/>
              </a:ext>
            </a:extLst>
          </p:cNvPr>
          <p:cNvGrpSpPr/>
          <p:nvPr/>
        </p:nvGrpSpPr>
        <p:grpSpPr>
          <a:xfrm>
            <a:off x="1524000" y="444500"/>
            <a:ext cx="9144000" cy="5140991"/>
            <a:chOff x="1524000" y="1013626"/>
            <a:chExt cx="9144000" cy="5140991"/>
          </a:xfrm>
        </p:grpSpPr>
        <p:pic>
          <p:nvPicPr>
            <p:cNvPr id="6" name="Picture 19" descr="mountain-height-blue-lake-rocks-huge-valley-cliffs-asia-mountains-water-lakes-wallpaper-for-mac-1366x768.jpg">
              <a:extLst>
                <a:ext uri="{FF2B5EF4-FFF2-40B4-BE49-F238E27FC236}">
                  <a16:creationId xmlns:a16="http://schemas.microsoft.com/office/drawing/2014/main" id="{92F623DF-5781-C32C-761F-6005DE02B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1013626"/>
              <a:ext cx="9144000" cy="5140990"/>
            </a:xfrm>
            <a:prstGeom prst="rect">
              <a:avLst/>
            </a:prstGeom>
          </p:spPr>
        </p:pic>
        <p:pic>
          <p:nvPicPr>
            <p:cNvPr id="7" name="Picture 20">
              <a:extLst>
                <a:ext uri="{FF2B5EF4-FFF2-40B4-BE49-F238E27FC236}">
                  <a16:creationId xmlns:a16="http://schemas.microsoft.com/office/drawing/2014/main" id="{DDFD7B07-0582-9ED3-B795-0FFFFF33E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65" b="99567" l="450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5131701" y="3560910"/>
              <a:ext cx="2245634" cy="2593707"/>
            </a:xfrm>
            <a:prstGeom prst="rect">
              <a:avLst/>
            </a:prstGeom>
          </p:spPr>
        </p:pic>
        <p:pic>
          <p:nvPicPr>
            <p:cNvPr id="8" name="Picture 21">
              <a:extLst>
                <a:ext uri="{FF2B5EF4-FFF2-40B4-BE49-F238E27FC236}">
                  <a16:creationId xmlns:a16="http://schemas.microsoft.com/office/drawing/2014/main" id="{FBAB0BA3-A52B-99A1-255C-2D55E3E1EF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0" b="100000" l="2462" r="99538">
                          <a14:foregroundMark x1="52308" y1="24946" x2="52308" y2="24946"/>
                          <a14:backgroundMark x1="44308" y1="37364" x2="44308" y2="37364"/>
                          <a14:backgroundMark x1="43462" y1="47386" x2="43462" y2="47386"/>
                          <a14:backgroundMark x1="63692" y1="28322" x2="63692" y2="28322"/>
                        </a14:backgroundRemoval>
                      </a14:imgEffect>
                    </a14:imgLayer>
                  </a14:imgProps>
                </a:ext>
              </a:extLst>
            </a:blip>
            <a:srcRect b="12397"/>
            <a:stretch/>
          </p:blipFill>
          <p:spPr>
            <a:xfrm rot="19630601" flipH="1">
              <a:off x="6809733" y="5181468"/>
              <a:ext cx="1119812" cy="692729"/>
            </a:xfrm>
            <a:prstGeom prst="rect">
              <a:avLst/>
            </a:prstGeom>
          </p:spPr>
        </p:pic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C169E3E5-BA90-9908-3169-C36DDA796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24000" y="3043967"/>
              <a:ext cx="2560471" cy="3078429"/>
            </a:xfrm>
            <a:prstGeom prst="rect">
              <a:avLst/>
            </a:prstGeom>
          </p:spPr>
        </p:pic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7BFAB270-96F9-6E61-E21D-A4F465EB1241}"/>
              </a:ext>
            </a:extLst>
          </p:cNvPr>
          <p:cNvSpPr txBox="1"/>
          <p:nvPr/>
        </p:nvSpPr>
        <p:spPr>
          <a:xfrm>
            <a:off x="2037470" y="5660658"/>
            <a:ext cx="8117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It is the </a:t>
            </a:r>
            <a:r>
              <a:rPr lang="en-US" b="1" i="1" dirty="0"/>
              <a:t>annotation</a:t>
            </a:r>
            <a:r>
              <a:rPr lang="en-US" i="1" dirty="0"/>
              <a:t> that bridges the gap from the sequence to the biology of the organism</a:t>
            </a:r>
          </a:p>
        </p:txBody>
      </p:sp>
    </p:spTree>
    <p:extLst>
      <p:ext uri="{BB962C8B-B14F-4D97-AF65-F5344CB8AC3E}">
        <p14:creationId xmlns:p14="http://schemas.microsoft.com/office/powerpoint/2010/main" val="973169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Introduction to annotation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5296430-8D1F-D5F8-3A85-96C6DD0D6B4B}"/>
              </a:ext>
            </a:extLst>
          </p:cNvPr>
          <p:cNvSpPr txBox="1">
            <a:spLocks/>
          </p:cNvSpPr>
          <p:nvPr/>
        </p:nvSpPr>
        <p:spPr>
          <a:xfrm>
            <a:off x="1863969" y="1166249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>
                <a:latin typeface="Calibri" charset="0"/>
                <a:ea typeface="MS PGothic" charset="0"/>
              </a:rPr>
              <a:t>What is annotation ?</a:t>
            </a:r>
            <a:endParaRPr lang="en-US" sz="2400" dirty="0">
              <a:latin typeface="Calibri" charset="0"/>
              <a:ea typeface="MS PGothic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C73511-CFAF-7A28-39A4-EEBEC0D878CE}"/>
              </a:ext>
            </a:extLst>
          </p:cNvPr>
          <p:cNvSpPr/>
          <p:nvPr/>
        </p:nvSpPr>
        <p:spPr>
          <a:xfrm>
            <a:off x="1863969" y="2510534"/>
            <a:ext cx="4118736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u="sng" dirty="0"/>
              <a:t>Structural annotation:</a:t>
            </a:r>
            <a:endParaRPr lang="en-US" sz="2400" dirty="0"/>
          </a:p>
          <a:p>
            <a:endParaRPr lang="sv-SE" sz="2000" dirty="0">
              <a:latin typeface="Calibri" charset="0"/>
              <a:ea typeface="MS PGothic" charset="0"/>
            </a:endParaRPr>
          </a:p>
          <a:p>
            <a:r>
              <a:rPr lang="sv-SE" sz="2000" dirty="0" err="1">
                <a:latin typeface="Calibri" charset="0"/>
                <a:ea typeface="MS PGothic" charset="0"/>
              </a:rPr>
              <a:t>Find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out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where</a:t>
            </a:r>
            <a:r>
              <a:rPr lang="sv-SE" sz="2000" dirty="0">
                <a:latin typeface="Calibri" charset="0"/>
                <a:ea typeface="MS PGothic" charset="0"/>
              </a:rPr>
              <a:t> the regions </a:t>
            </a:r>
            <a:r>
              <a:rPr lang="sv-SE" sz="2000" dirty="0" err="1">
                <a:latin typeface="Calibri" charset="0"/>
                <a:ea typeface="MS PGothic" charset="0"/>
              </a:rPr>
              <a:t>of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interest</a:t>
            </a:r>
            <a:r>
              <a:rPr lang="sv-SE" sz="2000" dirty="0">
                <a:latin typeface="Calibri" charset="0"/>
                <a:ea typeface="MS PGothic" charset="0"/>
              </a:rPr>
              <a:t> (</a:t>
            </a:r>
            <a:r>
              <a:rPr lang="sv-SE" sz="2000" dirty="0" err="1">
                <a:latin typeface="Calibri" charset="0"/>
                <a:ea typeface="MS PGothic" charset="0"/>
              </a:rPr>
              <a:t>usually</a:t>
            </a:r>
            <a:r>
              <a:rPr lang="sv-SE" sz="2000" dirty="0">
                <a:latin typeface="Calibri" charset="0"/>
                <a:ea typeface="MS PGothic" charset="0"/>
              </a:rPr>
              <a:t> genes) </a:t>
            </a:r>
            <a:r>
              <a:rPr lang="sv-SE" sz="2000" dirty="0" err="1">
                <a:latin typeface="Calibri" charset="0"/>
                <a:ea typeface="MS PGothic" charset="0"/>
              </a:rPr>
              <a:t>are</a:t>
            </a:r>
            <a:r>
              <a:rPr lang="sv-SE" sz="2000" dirty="0">
                <a:latin typeface="Calibri" charset="0"/>
                <a:ea typeface="MS PGothic" charset="0"/>
              </a:rPr>
              <a:t> in the </a:t>
            </a:r>
            <a:r>
              <a:rPr lang="sv-SE" sz="2000" dirty="0" err="1">
                <a:latin typeface="Calibri" charset="0"/>
                <a:ea typeface="MS PGothic" charset="0"/>
              </a:rPr>
              <a:t>sequence</a:t>
            </a:r>
            <a:r>
              <a:rPr lang="sv-SE" sz="2000" dirty="0">
                <a:latin typeface="Calibri" charset="0"/>
                <a:ea typeface="MS PGothic" charset="0"/>
              </a:rPr>
              <a:t> data and </a:t>
            </a:r>
            <a:r>
              <a:rPr lang="sv-SE" sz="2000" dirty="0" err="1">
                <a:latin typeface="Calibri" charset="0"/>
                <a:ea typeface="MS PGothic" charset="0"/>
              </a:rPr>
              <a:t>what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they</a:t>
            </a:r>
            <a:r>
              <a:rPr lang="sv-SE" sz="2000" dirty="0">
                <a:latin typeface="Calibri" charset="0"/>
                <a:ea typeface="MS PGothic" charset="0"/>
              </a:rPr>
              <a:t> look like.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73583C-D851-32FA-61FD-14F6B4E8A6F8}"/>
              </a:ext>
            </a:extLst>
          </p:cNvPr>
          <p:cNvSpPr/>
          <p:nvPr/>
        </p:nvSpPr>
        <p:spPr>
          <a:xfrm>
            <a:off x="6893825" y="2512507"/>
            <a:ext cx="36569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functional annotation:</a:t>
            </a:r>
          </a:p>
          <a:p>
            <a:pPr algn="ctr"/>
            <a:endParaRPr lang="sv-SE" sz="2000" dirty="0">
              <a:latin typeface="Calibri" charset="0"/>
              <a:ea typeface="MS PGothic" charset="0"/>
            </a:endParaRPr>
          </a:p>
          <a:p>
            <a:r>
              <a:rPr lang="sv-SE" sz="2000" dirty="0" err="1">
                <a:latin typeface="Calibri" charset="0"/>
                <a:ea typeface="MS PGothic" charset="0"/>
              </a:rPr>
              <a:t>Find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out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what</a:t>
            </a:r>
            <a:r>
              <a:rPr lang="sv-SE" sz="2000" dirty="0">
                <a:latin typeface="Calibri" charset="0"/>
                <a:ea typeface="MS PGothic" charset="0"/>
              </a:rPr>
              <a:t> the regions do. </a:t>
            </a:r>
            <a:r>
              <a:rPr lang="sv-SE" sz="2000" dirty="0" err="1">
                <a:latin typeface="Calibri" charset="0"/>
                <a:ea typeface="MS PGothic" charset="0"/>
              </a:rPr>
              <a:t>What</a:t>
            </a:r>
            <a:r>
              <a:rPr lang="sv-SE" sz="2000" dirty="0">
                <a:latin typeface="Calibri" charset="0"/>
                <a:ea typeface="MS PGothic" charset="0"/>
              </a:rPr>
              <a:t> do </a:t>
            </a:r>
            <a:r>
              <a:rPr lang="sv-SE" sz="2000" dirty="0" err="1">
                <a:latin typeface="Calibri" charset="0"/>
                <a:ea typeface="MS PGothic" charset="0"/>
              </a:rPr>
              <a:t>they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code</a:t>
            </a:r>
            <a:r>
              <a:rPr lang="sv-SE" sz="2000" dirty="0">
                <a:latin typeface="Calibri" charset="0"/>
                <a:ea typeface="MS PGothic" charset="0"/>
              </a:rPr>
              <a:t> for?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9196C3-F62B-C11A-7245-47F2007B8EEF}"/>
              </a:ext>
            </a:extLst>
          </p:cNvPr>
          <p:cNvSpPr/>
          <p:nvPr/>
        </p:nvSpPr>
        <p:spPr>
          <a:xfrm>
            <a:off x="6176290" y="2666310"/>
            <a:ext cx="520670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VS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967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Introduction to annotation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F4C726-C195-8CEC-A3B9-7B9DE8A30551}"/>
              </a:ext>
            </a:extLst>
          </p:cNvPr>
          <p:cNvSpPr txBox="1">
            <a:spLocks/>
          </p:cNvSpPr>
          <p:nvPr/>
        </p:nvSpPr>
        <p:spPr>
          <a:xfrm>
            <a:off x="1230385" y="953087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>
                <a:latin typeface="Calibri" charset="0"/>
                <a:ea typeface="MS PGothic" charset="0"/>
              </a:rPr>
              <a:t>Organisms differ in genomic complexity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200">
              <a:latin typeface="Calibri" charset="0"/>
              <a:ea typeface="MS PGothic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alibri" charset="0"/>
                <a:ea typeface="MS PGothic" charset="0"/>
              </a:rPr>
              <a:t>A yeast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alibri" charset="0"/>
              <a:ea typeface="MS PGothic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alibri" charset="0"/>
              <a:ea typeface="MS PGothic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alibri" charset="0"/>
              <a:ea typeface="MS PGothic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alibri" charset="0"/>
              <a:ea typeface="MS PGothic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alibri" charset="0"/>
                <a:ea typeface="MS PGothic" charset="0"/>
              </a:rPr>
              <a:t>A crustacean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Calibri" charset="0"/>
              <a:ea typeface="MS PGothic" charset="0"/>
            </a:endParaRP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AA8501DF-AD1D-3E05-784C-D54E76F89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075" y="1654471"/>
            <a:ext cx="5905849" cy="1219272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9DDB5298-1463-BE6E-FB87-65CAC2914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075" y="3096898"/>
            <a:ext cx="6316910" cy="2470194"/>
          </a:xfrm>
          <a:prstGeom prst="rect">
            <a:avLst/>
          </a:prstGeom>
        </p:spPr>
      </p:pic>
      <p:cxnSp>
        <p:nvCxnSpPr>
          <p:cNvPr id="11" name="Straight Connector 12">
            <a:extLst>
              <a:ext uri="{FF2B5EF4-FFF2-40B4-BE49-F238E27FC236}">
                <a16:creationId xmlns:a16="http://schemas.microsoft.com/office/drawing/2014/main" id="{0F84E1BE-B503-AE25-F0F4-2137C30F2108}"/>
              </a:ext>
            </a:extLst>
          </p:cNvPr>
          <p:cNvCxnSpPr/>
          <p:nvPr/>
        </p:nvCxnSpPr>
        <p:spPr>
          <a:xfrm>
            <a:off x="1230385" y="2985320"/>
            <a:ext cx="83680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92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Introduction to annotation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DB0057-BD73-DDCE-6F75-2813E268B80E}"/>
              </a:ext>
            </a:extLst>
          </p:cNvPr>
          <p:cNvSpPr/>
          <p:nvPr/>
        </p:nvSpPr>
        <p:spPr>
          <a:xfrm>
            <a:off x="1971068" y="363868"/>
            <a:ext cx="1817400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charset="0"/>
                <a:ea typeface="MS PGothic" charset="0"/>
              </a:rPr>
              <a:t>From a genome…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FASTA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Screen Shot 2014-03-20 at 1.34.55 PM.png">
            <a:extLst>
              <a:ext uri="{FF2B5EF4-FFF2-40B4-BE49-F238E27FC236}">
                <a16:creationId xmlns:a16="http://schemas.microsoft.com/office/drawing/2014/main" id="{484C7130-87FF-F563-DB17-ACF4B70197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9" t="5481" r="54601" b="56281"/>
          <a:stretch/>
        </p:blipFill>
        <p:spPr bwMode="auto">
          <a:xfrm>
            <a:off x="1361116" y="1072501"/>
            <a:ext cx="2427352" cy="2846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BD4DCE-1726-D2B7-DB07-A8EDF58795AD}"/>
              </a:ext>
            </a:extLst>
          </p:cNvPr>
          <p:cNvSpPr/>
          <p:nvPr/>
        </p:nvSpPr>
        <p:spPr>
          <a:xfrm>
            <a:off x="6310678" y="395393"/>
            <a:ext cx="236731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latin typeface="Calibri" charset="0"/>
                <a:ea typeface="MS PGothic" charset="0"/>
              </a:rPr>
              <a:t>…</a:t>
            </a:r>
            <a:r>
              <a:rPr lang="sv-SE" dirty="0" err="1">
                <a:latin typeface="Calibri" charset="0"/>
                <a:ea typeface="MS PGothic" charset="0"/>
              </a:rPr>
              <a:t>to</a:t>
            </a:r>
            <a:r>
              <a:rPr lang="sv-SE" dirty="0">
                <a:latin typeface="Calibri" charset="0"/>
                <a:ea typeface="MS PGothic" charset="0"/>
              </a:rPr>
              <a:t> an </a:t>
            </a:r>
            <a:r>
              <a:rPr lang="sv-SE" dirty="0" err="1">
                <a:latin typeface="Calibri" charset="0"/>
                <a:ea typeface="MS PGothic" charset="0"/>
              </a:rPr>
              <a:t>annotated</a:t>
            </a:r>
            <a:r>
              <a:rPr lang="sv-SE" dirty="0">
                <a:latin typeface="Calibri" charset="0"/>
                <a:ea typeface="MS PGothic" charset="0"/>
              </a:rPr>
              <a:t> gene</a:t>
            </a:r>
          </a:p>
          <a:p>
            <a:r>
              <a:rPr lang="sv-SE" sz="2400" b="1" dirty="0">
                <a:solidFill>
                  <a:srgbClr val="FF0000"/>
                </a:solidFill>
                <a:latin typeface="Calibri" charset="0"/>
                <a:ea typeface="MS PGothic" charset="0"/>
              </a:rPr>
              <a:t>GTF/GFF</a:t>
            </a:r>
            <a:endParaRPr lang="sv-SE" b="1" dirty="0">
              <a:solidFill>
                <a:srgbClr val="FF0000"/>
              </a:solidFill>
              <a:latin typeface="Calibri" charset="0"/>
              <a:ea typeface="MS PGothic" charset="0"/>
            </a:endParaRPr>
          </a:p>
          <a:p>
            <a:endParaRPr lang="en-US" dirty="0"/>
          </a:p>
        </p:txBody>
      </p:sp>
      <p:pic>
        <p:nvPicPr>
          <p:cNvPr id="7" name="Picture 7" descr="Screen Shot 2018-01-29 at 15.32.45.png">
            <a:extLst>
              <a:ext uri="{FF2B5EF4-FFF2-40B4-BE49-F238E27FC236}">
                <a16:creationId xmlns:a16="http://schemas.microsoft.com/office/drawing/2014/main" id="{439784C9-271E-2AAD-7A0F-8368AEB75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615" y="1098679"/>
            <a:ext cx="5893273" cy="23303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23D9F76-D212-728C-4513-F97A2EAAAF63}"/>
              </a:ext>
            </a:extLst>
          </p:cNvPr>
          <p:cNvSpPr/>
          <p:nvPr/>
        </p:nvSpPr>
        <p:spPr>
          <a:xfrm>
            <a:off x="5279236" y="3760013"/>
            <a:ext cx="36430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31800">
              <a:buClr>
                <a:schemeClr val="accent6"/>
              </a:buClr>
              <a:buSzPts val="3200"/>
              <a:buFont typeface="Arial"/>
              <a:buChar char="●"/>
            </a:pPr>
            <a:r>
              <a:rPr lang="fi-FI" dirty="0"/>
              <a:t>9 columns </a:t>
            </a:r>
          </a:p>
          <a:p>
            <a:pPr marL="457200" lvl="0" indent="-431800">
              <a:buClr>
                <a:schemeClr val="accent6"/>
              </a:buClr>
              <a:buSzPts val="3200"/>
              <a:buFont typeface="Arial"/>
              <a:buChar char="●"/>
            </a:pPr>
            <a:r>
              <a:rPr lang="fi-FI" dirty="0"/>
              <a:t>1 feature = 1 line</a:t>
            </a:r>
          </a:p>
        </p:txBody>
      </p:sp>
      <p:sp>
        <p:nvSpPr>
          <p:cNvPr id="9" name="Shape 276">
            <a:extLst>
              <a:ext uri="{FF2B5EF4-FFF2-40B4-BE49-F238E27FC236}">
                <a16:creationId xmlns:a16="http://schemas.microsoft.com/office/drawing/2014/main" id="{3FC87EBC-D675-A56A-29AA-55392E23C857}"/>
              </a:ext>
            </a:extLst>
          </p:cNvPr>
          <p:cNvSpPr txBox="1"/>
          <p:nvPr/>
        </p:nvSpPr>
        <p:spPr>
          <a:xfrm>
            <a:off x="4034121" y="4884818"/>
            <a:ext cx="8507502" cy="47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b="1" dirty="0">
                <a:solidFill>
                  <a:schemeClr val="dk1"/>
                </a:solidFill>
                <a:highlight>
                  <a:srgbClr val="F6B26B"/>
                </a:highlight>
              </a:rPr>
              <a:t>scaffold_26 </a:t>
            </a:r>
            <a:r>
              <a:rPr lang="fi-FI" b="1" dirty="0">
                <a:solidFill>
                  <a:schemeClr val="dk1"/>
                </a:solidFill>
              </a:rPr>
              <a:t>   </a:t>
            </a:r>
            <a:r>
              <a:rPr lang="fi-FI" b="1" dirty="0">
                <a:solidFill>
                  <a:srgbClr val="FF0000"/>
                </a:solidFill>
                <a:highlight>
                  <a:srgbClr val="9FC5E8"/>
                </a:highlight>
              </a:rPr>
              <a:t>maker   </a:t>
            </a:r>
            <a:r>
              <a:rPr lang="fi-FI" b="1" dirty="0">
                <a:solidFill>
                  <a:schemeClr val="dk1"/>
                </a:solidFill>
                <a:highlight>
                  <a:srgbClr val="FF9900"/>
                </a:highlight>
              </a:rPr>
              <a:t>Gene</a:t>
            </a:r>
            <a:r>
              <a:rPr lang="fi-FI" b="1" dirty="0">
                <a:solidFill>
                  <a:schemeClr val="dk1"/>
                </a:solidFill>
              </a:rPr>
              <a:t>   </a:t>
            </a:r>
            <a:r>
              <a:rPr lang="fi-FI" b="1" dirty="0">
                <a:solidFill>
                  <a:srgbClr val="FF0000"/>
                </a:solidFill>
                <a:highlight>
                  <a:srgbClr val="9FC5E8"/>
                </a:highlight>
              </a:rPr>
              <a:t>1000</a:t>
            </a:r>
            <a:r>
              <a:rPr lang="fi-FI" b="1" dirty="0">
                <a:solidFill>
                  <a:schemeClr val="dk1"/>
                </a:solidFill>
              </a:rPr>
              <a:t>   </a:t>
            </a:r>
            <a:r>
              <a:rPr lang="fi-FI" b="1" dirty="0">
                <a:solidFill>
                  <a:schemeClr val="dk1"/>
                </a:solidFill>
                <a:highlight>
                  <a:srgbClr val="FF9900"/>
                </a:highlight>
              </a:rPr>
              <a:t>9000</a:t>
            </a:r>
            <a:r>
              <a:rPr lang="fi-FI" b="1" dirty="0">
                <a:solidFill>
                  <a:schemeClr val="dk1"/>
                </a:solidFill>
              </a:rPr>
              <a:t>  </a:t>
            </a:r>
            <a:r>
              <a:rPr lang="fi-FI" b="1" dirty="0">
                <a:solidFill>
                  <a:schemeClr val="dk1"/>
                </a:solidFill>
                <a:highlight>
                  <a:srgbClr val="9FC5E8"/>
                </a:highlight>
              </a:rPr>
              <a:t> </a:t>
            </a:r>
            <a:r>
              <a:rPr lang="fi-FI" b="1" dirty="0">
                <a:solidFill>
                  <a:srgbClr val="FF0000"/>
                </a:solidFill>
                <a:highlight>
                  <a:srgbClr val="9FC5E8"/>
                </a:highlight>
              </a:rPr>
              <a:t>.</a:t>
            </a:r>
            <a:r>
              <a:rPr lang="fi-FI" b="1" dirty="0">
                <a:solidFill>
                  <a:schemeClr val="dk1"/>
                </a:solidFill>
                <a:highlight>
                  <a:srgbClr val="9FC5E8"/>
                </a:highlight>
              </a:rPr>
              <a:t> </a:t>
            </a:r>
            <a:r>
              <a:rPr lang="fi-FI" b="1" dirty="0">
                <a:solidFill>
                  <a:schemeClr val="dk1"/>
                </a:solidFill>
              </a:rPr>
              <a:t>  </a:t>
            </a:r>
            <a:r>
              <a:rPr lang="fi-FI" b="1" dirty="0">
                <a:solidFill>
                  <a:schemeClr val="dk1"/>
                </a:solidFill>
                <a:highlight>
                  <a:srgbClr val="FF9900"/>
                </a:highlight>
              </a:rPr>
              <a:t>+</a:t>
            </a:r>
            <a:r>
              <a:rPr lang="fi-FI" b="1" dirty="0">
                <a:solidFill>
                  <a:schemeClr val="dk1"/>
                </a:solidFill>
              </a:rPr>
              <a:t>  </a:t>
            </a:r>
            <a:r>
              <a:rPr lang="fi-FI" b="1" dirty="0">
                <a:solidFill>
                  <a:schemeClr val="dk1"/>
                </a:solidFill>
                <a:highlight>
                  <a:srgbClr val="9FC5E8"/>
                </a:highlight>
              </a:rPr>
              <a:t> </a:t>
            </a:r>
            <a:r>
              <a:rPr lang="fi-FI" b="1" dirty="0">
                <a:solidFill>
                  <a:srgbClr val="FF0000"/>
                </a:solidFill>
                <a:highlight>
                  <a:srgbClr val="9FC5E8"/>
                </a:highlight>
              </a:rPr>
              <a:t>.</a:t>
            </a:r>
            <a:r>
              <a:rPr lang="fi-FI" b="1" dirty="0">
                <a:solidFill>
                  <a:schemeClr val="dk1"/>
                </a:solidFill>
                <a:highlight>
                  <a:srgbClr val="9FC5E8"/>
                </a:highlight>
              </a:rPr>
              <a:t> </a:t>
            </a:r>
            <a:r>
              <a:rPr lang="fi-FI" b="1" dirty="0">
                <a:solidFill>
                  <a:schemeClr val="dk1"/>
                </a:solidFill>
              </a:rPr>
              <a:t>  </a:t>
            </a:r>
            <a:r>
              <a:rPr lang="fi-FI" b="1" dirty="0">
                <a:solidFill>
                  <a:schemeClr val="dk1"/>
                </a:solidFill>
                <a:highlight>
                  <a:srgbClr val="FF9900"/>
                </a:highlight>
              </a:rPr>
              <a:t>ID=gene1; Name=EDEN</a:t>
            </a:r>
            <a:endParaRPr b="1" dirty="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  <p:sp>
        <p:nvSpPr>
          <p:cNvPr id="10" name="Shape 277">
            <a:extLst>
              <a:ext uri="{FF2B5EF4-FFF2-40B4-BE49-F238E27FC236}">
                <a16:creationId xmlns:a16="http://schemas.microsoft.com/office/drawing/2014/main" id="{CE7F76CC-78DA-0816-B5AB-57CEFE838D14}"/>
              </a:ext>
            </a:extLst>
          </p:cNvPr>
          <p:cNvSpPr txBox="1"/>
          <p:nvPr/>
        </p:nvSpPr>
        <p:spPr>
          <a:xfrm>
            <a:off x="4980774" y="5437827"/>
            <a:ext cx="1361966" cy="42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>
                <a:solidFill>
                  <a:schemeClr val="dk1"/>
                </a:solidFill>
              </a:rPr>
              <a:t>1. sequence id</a:t>
            </a:r>
            <a:endParaRPr sz="1400" b="1">
              <a:solidFill>
                <a:schemeClr val="dk1"/>
              </a:solidFill>
            </a:endParaRPr>
          </a:p>
        </p:txBody>
      </p:sp>
      <p:sp>
        <p:nvSpPr>
          <p:cNvPr id="11" name="Shape 278">
            <a:extLst>
              <a:ext uri="{FF2B5EF4-FFF2-40B4-BE49-F238E27FC236}">
                <a16:creationId xmlns:a16="http://schemas.microsoft.com/office/drawing/2014/main" id="{152037F2-96C4-5D1B-DAAD-AE1D26EAA8CD}"/>
              </a:ext>
            </a:extLst>
          </p:cNvPr>
          <p:cNvSpPr txBox="1"/>
          <p:nvPr/>
        </p:nvSpPr>
        <p:spPr>
          <a:xfrm>
            <a:off x="5596890" y="4381557"/>
            <a:ext cx="1025261" cy="30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 dirty="0">
                <a:solidFill>
                  <a:schemeClr val="dk1"/>
                </a:solidFill>
              </a:rPr>
              <a:t>2. source</a:t>
            </a:r>
            <a:endParaRPr sz="1400" b="1" dirty="0">
              <a:solidFill>
                <a:schemeClr val="dk1"/>
              </a:solidFill>
            </a:endParaRPr>
          </a:p>
        </p:txBody>
      </p:sp>
      <p:sp>
        <p:nvSpPr>
          <p:cNvPr id="12" name="Shape 279">
            <a:extLst>
              <a:ext uri="{FF2B5EF4-FFF2-40B4-BE49-F238E27FC236}">
                <a16:creationId xmlns:a16="http://schemas.microsoft.com/office/drawing/2014/main" id="{B324F5EA-1ADB-C938-05BB-6CB1B84EA5F4}"/>
              </a:ext>
            </a:extLst>
          </p:cNvPr>
          <p:cNvSpPr txBox="1"/>
          <p:nvPr/>
        </p:nvSpPr>
        <p:spPr>
          <a:xfrm>
            <a:off x="6342740" y="5568482"/>
            <a:ext cx="1391783" cy="240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 dirty="0">
                <a:solidFill>
                  <a:schemeClr val="dk1"/>
                </a:solidFill>
              </a:rPr>
              <a:t>3. feature type</a:t>
            </a:r>
            <a:endParaRPr sz="1400" b="1" dirty="0">
              <a:solidFill>
                <a:schemeClr val="dk1"/>
              </a:solidFill>
            </a:endParaRPr>
          </a:p>
        </p:txBody>
      </p:sp>
      <p:sp>
        <p:nvSpPr>
          <p:cNvPr id="13" name="Shape 280">
            <a:extLst>
              <a:ext uri="{FF2B5EF4-FFF2-40B4-BE49-F238E27FC236}">
                <a16:creationId xmlns:a16="http://schemas.microsoft.com/office/drawing/2014/main" id="{3CE469C2-5612-7DF3-EC9D-13161970169C}"/>
              </a:ext>
            </a:extLst>
          </p:cNvPr>
          <p:cNvSpPr txBox="1"/>
          <p:nvPr/>
        </p:nvSpPr>
        <p:spPr>
          <a:xfrm>
            <a:off x="7079863" y="4343368"/>
            <a:ext cx="812543" cy="376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 dirty="0">
                <a:solidFill>
                  <a:schemeClr val="dk1"/>
                </a:solidFill>
              </a:rPr>
              <a:t>4. start</a:t>
            </a:r>
            <a:endParaRPr sz="1400" b="1" dirty="0">
              <a:solidFill>
                <a:schemeClr val="dk1"/>
              </a:solidFill>
            </a:endParaRPr>
          </a:p>
        </p:txBody>
      </p:sp>
      <p:sp>
        <p:nvSpPr>
          <p:cNvPr id="14" name="Shape 281">
            <a:extLst>
              <a:ext uri="{FF2B5EF4-FFF2-40B4-BE49-F238E27FC236}">
                <a16:creationId xmlns:a16="http://schemas.microsoft.com/office/drawing/2014/main" id="{5A08DE9F-4671-1FF7-1F57-84F135C63271}"/>
              </a:ext>
            </a:extLst>
          </p:cNvPr>
          <p:cNvSpPr txBox="1"/>
          <p:nvPr/>
        </p:nvSpPr>
        <p:spPr>
          <a:xfrm>
            <a:off x="7693513" y="5491612"/>
            <a:ext cx="698070" cy="3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 dirty="0">
                <a:solidFill>
                  <a:schemeClr val="dk1"/>
                </a:solidFill>
              </a:rPr>
              <a:t>5. end</a:t>
            </a:r>
            <a:endParaRPr sz="1400" b="1" dirty="0">
              <a:solidFill>
                <a:schemeClr val="dk1"/>
              </a:solidFill>
            </a:endParaRPr>
          </a:p>
        </p:txBody>
      </p:sp>
      <p:sp>
        <p:nvSpPr>
          <p:cNvPr id="15" name="Shape 282">
            <a:extLst>
              <a:ext uri="{FF2B5EF4-FFF2-40B4-BE49-F238E27FC236}">
                <a16:creationId xmlns:a16="http://schemas.microsoft.com/office/drawing/2014/main" id="{5F8D284E-2023-8296-8776-F43240AF5884}"/>
              </a:ext>
            </a:extLst>
          </p:cNvPr>
          <p:cNvSpPr txBox="1"/>
          <p:nvPr/>
        </p:nvSpPr>
        <p:spPr>
          <a:xfrm>
            <a:off x="8066195" y="4348537"/>
            <a:ext cx="918885" cy="37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 dirty="0">
                <a:solidFill>
                  <a:schemeClr val="dk1"/>
                </a:solidFill>
              </a:rPr>
              <a:t>6. </a:t>
            </a:r>
            <a:r>
              <a:rPr lang="fi-FI" sz="1400" b="1" dirty="0" err="1">
                <a:solidFill>
                  <a:schemeClr val="dk1"/>
                </a:solidFill>
              </a:rPr>
              <a:t>score</a:t>
            </a:r>
            <a:endParaRPr sz="1400" b="1" dirty="0">
              <a:solidFill>
                <a:schemeClr val="dk1"/>
              </a:solidFill>
            </a:endParaRPr>
          </a:p>
        </p:txBody>
      </p:sp>
      <p:sp>
        <p:nvSpPr>
          <p:cNvPr id="16" name="Shape 283">
            <a:extLst>
              <a:ext uri="{FF2B5EF4-FFF2-40B4-BE49-F238E27FC236}">
                <a16:creationId xmlns:a16="http://schemas.microsoft.com/office/drawing/2014/main" id="{1E7A4A83-D0C4-DAB5-B1F0-F943E33D6D3A}"/>
              </a:ext>
            </a:extLst>
          </p:cNvPr>
          <p:cNvSpPr txBox="1"/>
          <p:nvPr/>
        </p:nvSpPr>
        <p:spPr>
          <a:xfrm>
            <a:off x="8451822" y="5526199"/>
            <a:ext cx="912462" cy="32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 dirty="0">
                <a:solidFill>
                  <a:schemeClr val="dk1"/>
                </a:solidFill>
              </a:rPr>
              <a:t>7. strand</a:t>
            </a:r>
            <a:endParaRPr sz="1400" b="1" dirty="0">
              <a:solidFill>
                <a:schemeClr val="dk1"/>
              </a:solidFill>
            </a:endParaRPr>
          </a:p>
        </p:txBody>
      </p:sp>
      <p:sp>
        <p:nvSpPr>
          <p:cNvPr id="17" name="Shape 284">
            <a:extLst>
              <a:ext uri="{FF2B5EF4-FFF2-40B4-BE49-F238E27FC236}">
                <a16:creationId xmlns:a16="http://schemas.microsoft.com/office/drawing/2014/main" id="{CE4FCAD8-9B0C-F4D2-C623-CD6484D2D46C}"/>
              </a:ext>
            </a:extLst>
          </p:cNvPr>
          <p:cNvSpPr txBox="1"/>
          <p:nvPr/>
        </p:nvSpPr>
        <p:spPr>
          <a:xfrm>
            <a:off x="8925846" y="4406344"/>
            <a:ext cx="854648" cy="251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 dirty="0">
                <a:solidFill>
                  <a:schemeClr val="dk1"/>
                </a:solidFill>
              </a:rPr>
              <a:t>8. phase </a:t>
            </a:r>
            <a:endParaRPr sz="1400" b="1" dirty="0">
              <a:solidFill>
                <a:schemeClr val="dk1"/>
              </a:solidFill>
            </a:endParaRPr>
          </a:p>
        </p:txBody>
      </p:sp>
      <p:sp>
        <p:nvSpPr>
          <p:cNvPr id="18" name="Shape 285">
            <a:extLst>
              <a:ext uri="{FF2B5EF4-FFF2-40B4-BE49-F238E27FC236}">
                <a16:creationId xmlns:a16="http://schemas.microsoft.com/office/drawing/2014/main" id="{5EDB50C5-8467-C15D-10E8-71F75228EE02}"/>
              </a:ext>
            </a:extLst>
          </p:cNvPr>
          <p:cNvSpPr txBox="1"/>
          <p:nvPr/>
        </p:nvSpPr>
        <p:spPr>
          <a:xfrm>
            <a:off x="9658099" y="5523583"/>
            <a:ext cx="1532361" cy="47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 dirty="0">
                <a:solidFill>
                  <a:schemeClr val="dk1"/>
                </a:solidFill>
              </a:rPr>
              <a:t>9. attribute(s)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 dirty="0">
                <a:solidFill>
                  <a:schemeClr val="dk1"/>
                </a:solidFill>
              </a:rPr>
              <a:t>tag=value  </a:t>
            </a:r>
            <a:endParaRPr sz="1400" b="1" dirty="0">
              <a:solidFill>
                <a:schemeClr val="dk1"/>
              </a:solidFill>
            </a:endParaRPr>
          </a:p>
        </p:txBody>
      </p:sp>
      <p:cxnSp>
        <p:nvCxnSpPr>
          <p:cNvPr id="19" name="Shape 286">
            <a:extLst>
              <a:ext uri="{FF2B5EF4-FFF2-40B4-BE49-F238E27FC236}">
                <a16:creationId xmlns:a16="http://schemas.microsoft.com/office/drawing/2014/main" id="{1A0EFC01-76AA-7143-3CD1-FCFA6FA1BB17}"/>
              </a:ext>
            </a:extLst>
          </p:cNvPr>
          <p:cNvCxnSpPr/>
          <p:nvPr/>
        </p:nvCxnSpPr>
        <p:spPr>
          <a:xfrm flipV="1">
            <a:off x="5220128" y="5270457"/>
            <a:ext cx="0" cy="30512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0" name="Shape 291">
            <a:extLst>
              <a:ext uri="{FF2B5EF4-FFF2-40B4-BE49-F238E27FC236}">
                <a16:creationId xmlns:a16="http://schemas.microsoft.com/office/drawing/2014/main" id="{442A46A1-6096-57D0-1F9D-D05175A3F665}"/>
              </a:ext>
            </a:extLst>
          </p:cNvPr>
          <p:cNvCxnSpPr/>
          <p:nvPr/>
        </p:nvCxnSpPr>
        <p:spPr>
          <a:xfrm>
            <a:off x="7454650" y="4731600"/>
            <a:ext cx="0" cy="30381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" name="Shape 291">
            <a:extLst>
              <a:ext uri="{FF2B5EF4-FFF2-40B4-BE49-F238E27FC236}">
                <a16:creationId xmlns:a16="http://schemas.microsoft.com/office/drawing/2014/main" id="{80E1A39B-1E75-41F2-070A-2776AD164362}"/>
              </a:ext>
            </a:extLst>
          </p:cNvPr>
          <p:cNvCxnSpPr/>
          <p:nvPr/>
        </p:nvCxnSpPr>
        <p:spPr>
          <a:xfrm>
            <a:off x="5988083" y="4730289"/>
            <a:ext cx="0" cy="30381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2" name="Shape 291">
            <a:extLst>
              <a:ext uri="{FF2B5EF4-FFF2-40B4-BE49-F238E27FC236}">
                <a16:creationId xmlns:a16="http://schemas.microsoft.com/office/drawing/2014/main" id="{8D0D8E74-6250-CDAE-FD32-B8531C938E81}"/>
              </a:ext>
            </a:extLst>
          </p:cNvPr>
          <p:cNvCxnSpPr/>
          <p:nvPr/>
        </p:nvCxnSpPr>
        <p:spPr>
          <a:xfrm>
            <a:off x="8569876" y="4731600"/>
            <a:ext cx="0" cy="30381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3" name="Shape 291">
            <a:extLst>
              <a:ext uri="{FF2B5EF4-FFF2-40B4-BE49-F238E27FC236}">
                <a16:creationId xmlns:a16="http://schemas.microsoft.com/office/drawing/2014/main" id="{15000E79-A28D-5296-EB83-CA102F63F98A}"/>
              </a:ext>
            </a:extLst>
          </p:cNvPr>
          <p:cNvCxnSpPr/>
          <p:nvPr/>
        </p:nvCxnSpPr>
        <p:spPr>
          <a:xfrm>
            <a:off x="9135349" y="4717517"/>
            <a:ext cx="0" cy="30381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4" name="Shape 286">
            <a:extLst>
              <a:ext uri="{FF2B5EF4-FFF2-40B4-BE49-F238E27FC236}">
                <a16:creationId xmlns:a16="http://schemas.microsoft.com/office/drawing/2014/main" id="{F2E973DA-A21C-6BA4-5E5F-AD0C4F3FFABE}"/>
              </a:ext>
            </a:extLst>
          </p:cNvPr>
          <p:cNvCxnSpPr/>
          <p:nvPr/>
        </p:nvCxnSpPr>
        <p:spPr>
          <a:xfrm flipV="1">
            <a:off x="6747408" y="5270457"/>
            <a:ext cx="0" cy="30512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5" name="Shape 286">
            <a:extLst>
              <a:ext uri="{FF2B5EF4-FFF2-40B4-BE49-F238E27FC236}">
                <a16:creationId xmlns:a16="http://schemas.microsoft.com/office/drawing/2014/main" id="{962B1C6D-E04D-5179-492B-2090604818E2}"/>
              </a:ext>
            </a:extLst>
          </p:cNvPr>
          <p:cNvCxnSpPr/>
          <p:nvPr/>
        </p:nvCxnSpPr>
        <p:spPr>
          <a:xfrm flipV="1">
            <a:off x="8142882" y="5270457"/>
            <a:ext cx="0" cy="30512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6" name="Shape 286">
            <a:extLst>
              <a:ext uri="{FF2B5EF4-FFF2-40B4-BE49-F238E27FC236}">
                <a16:creationId xmlns:a16="http://schemas.microsoft.com/office/drawing/2014/main" id="{93FC8878-C297-4722-911C-7CC735CA28C6}"/>
              </a:ext>
            </a:extLst>
          </p:cNvPr>
          <p:cNvCxnSpPr/>
          <p:nvPr/>
        </p:nvCxnSpPr>
        <p:spPr>
          <a:xfrm flipV="1">
            <a:off x="8865937" y="5270457"/>
            <a:ext cx="0" cy="30512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7" name="Shape 286">
            <a:extLst>
              <a:ext uri="{FF2B5EF4-FFF2-40B4-BE49-F238E27FC236}">
                <a16:creationId xmlns:a16="http://schemas.microsoft.com/office/drawing/2014/main" id="{26F2B093-BC8D-B7F2-9D8D-A101D68CF3D1}"/>
              </a:ext>
            </a:extLst>
          </p:cNvPr>
          <p:cNvCxnSpPr/>
          <p:nvPr/>
        </p:nvCxnSpPr>
        <p:spPr>
          <a:xfrm flipV="1">
            <a:off x="10172898" y="5267335"/>
            <a:ext cx="0" cy="30512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8" name="Rounded Rectangle 41">
            <a:extLst>
              <a:ext uri="{FF2B5EF4-FFF2-40B4-BE49-F238E27FC236}">
                <a16:creationId xmlns:a16="http://schemas.microsoft.com/office/drawing/2014/main" id="{26FEEB6B-6A7B-400C-4A75-7E36A4CB0F37}"/>
              </a:ext>
            </a:extLst>
          </p:cNvPr>
          <p:cNvSpPr/>
          <p:nvPr/>
        </p:nvSpPr>
        <p:spPr>
          <a:xfrm>
            <a:off x="3899647" y="4406344"/>
            <a:ext cx="8292353" cy="1642106"/>
          </a:xfrm>
          <a:prstGeom prst="roundRect">
            <a:avLst/>
          </a:prstGeom>
          <a:noFill/>
          <a:ln w="28575" cmpd="sng">
            <a:solidFill>
              <a:schemeClr val="accent6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582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Introduction to annotation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13229-D2DA-560B-1783-9A3A939AEAEE}"/>
              </a:ext>
            </a:extLst>
          </p:cNvPr>
          <p:cNvSpPr/>
          <p:nvPr/>
        </p:nvSpPr>
        <p:spPr>
          <a:xfrm>
            <a:off x="1250671" y="5704398"/>
            <a:ext cx="59728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hlinkClick r:id="rId3"/>
              </a:rPr>
              <a:t>https://agat.readthedocs.io/en/latest/gxf.html</a:t>
            </a:r>
            <a:r>
              <a:rPr lang="en-US" sz="2000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70AEC9-9AC9-B04F-F311-E59F718751CA}"/>
              </a:ext>
            </a:extLst>
          </p:cNvPr>
          <p:cNvSpPr/>
          <p:nvPr/>
        </p:nvSpPr>
        <p:spPr>
          <a:xfrm>
            <a:off x="1167619" y="638525"/>
            <a:ext cx="9143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charset="2"/>
              <a:buChar char="q"/>
            </a:pPr>
            <a:r>
              <a:rPr lang="en-US" sz="2400" b="1" dirty="0"/>
              <a:t>GFF / GTF formats</a:t>
            </a:r>
            <a:endParaRPr lang="en-US" sz="2400" dirty="0"/>
          </a:p>
        </p:txBody>
      </p:sp>
      <p:cxnSp>
        <p:nvCxnSpPr>
          <p:cNvPr id="6" name="Straight Arrow Connector 63">
            <a:extLst>
              <a:ext uri="{FF2B5EF4-FFF2-40B4-BE49-F238E27FC236}">
                <a16:creationId xmlns:a16="http://schemas.microsoft.com/office/drawing/2014/main" id="{5F15AF05-170B-939A-E71C-F2339755D220}"/>
              </a:ext>
            </a:extLst>
          </p:cNvPr>
          <p:cNvCxnSpPr/>
          <p:nvPr/>
        </p:nvCxnSpPr>
        <p:spPr>
          <a:xfrm>
            <a:off x="4308189" y="3842552"/>
            <a:ext cx="5603532" cy="15680"/>
          </a:xfrm>
          <a:prstGeom prst="straightConnector1">
            <a:avLst/>
          </a:prstGeom>
          <a:ln w="7620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F9EB5EE-5B49-42DB-1ACE-79CFE628ADED}"/>
              </a:ext>
            </a:extLst>
          </p:cNvPr>
          <p:cNvSpPr/>
          <p:nvPr/>
        </p:nvSpPr>
        <p:spPr>
          <a:xfrm>
            <a:off x="1480743" y="2768000"/>
            <a:ext cx="808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1997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0FE57E-435C-BB00-E402-C86DB1F7ECA8}"/>
              </a:ext>
            </a:extLst>
          </p:cNvPr>
          <p:cNvSpPr/>
          <p:nvPr/>
        </p:nvSpPr>
        <p:spPr>
          <a:xfrm>
            <a:off x="8822663" y="2659988"/>
            <a:ext cx="14889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dirty="0"/>
              <a:t>Nowadays</a:t>
            </a:r>
          </a:p>
        </p:txBody>
      </p:sp>
      <p:sp>
        <p:nvSpPr>
          <p:cNvPr id="9" name="Rounded Rectangular Callout 66">
            <a:extLst>
              <a:ext uri="{FF2B5EF4-FFF2-40B4-BE49-F238E27FC236}">
                <a16:creationId xmlns:a16="http://schemas.microsoft.com/office/drawing/2014/main" id="{7ADF8915-63C8-A6F4-9A0B-3D4DDB6B61E5}"/>
              </a:ext>
            </a:extLst>
          </p:cNvPr>
          <p:cNvSpPr/>
          <p:nvPr/>
        </p:nvSpPr>
        <p:spPr>
          <a:xfrm>
            <a:off x="1439936" y="1793766"/>
            <a:ext cx="2179196" cy="898064"/>
          </a:xfrm>
          <a:prstGeom prst="wedgeRoundRectCallout">
            <a:avLst>
              <a:gd name="adj1" fmla="val -28151"/>
              <a:gd name="adj2" fmla="val 67081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GFF</a:t>
            </a:r>
            <a:r>
              <a:rPr lang="en-US" dirty="0">
                <a:solidFill>
                  <a:srgbClr val="000000"/>
                </a:solidFill>
              </a:rPr>
              <a:t> </a:t>
            </a:r>
          </a:p>
          <a:p>
            <a:r>
              <a:rPr lang="en-US" i="1" dirty="0">
                <a:solidFill>
                  <a:srgbClr val="000000"/>
                </a:solidFill>
              </a:rPr>
              <a:t>Richard Durbin</a:t>
            </a:r>
            <a:r>
              <a:rPr lang="en-US" dirty="0">
                <a:solidFill>
                  <a:srgbClr val="000000"/>
                </a:solidFill>
              </a:rPr>
              <a:t> and </a:t>
            </a:r>
            <a:r>
              <a:rPr lang="en-US" i="1" dirty="0">
                <a:solidFill>
                  <a:srgbClr val="000000"/>
                </a:solidFill>
              </a:rPr>
              <a:t>David Haussler</a:t>
            </a:r>
          </a:p>
        </p:txBody>
      </p:sp>
      <p:sp>
        <p:nvSpPr>
          <p:cNvPr id="10" name="Rounded Rectangular Callout 67">
            <a:extLst>
              <a:ext uri="{FF2B5EF4-FFF2-40B4-BE49-F238E27FC236}">
                <a16:creationId xmlns:a16="http://schemas.microsoft.com/office/drawing/2014/main" id="{F611BE3B-3D06-C891-5A0F-4B2FAFB06D2B}"/>
              </a:ext>
            </a:extLst>
          </p:cNvPr>
          <p:cNvSpPr/>
          <p:nvPr/>
        </p:nvSpPr>
        <p:spPr>
          <a:xfrm>
            <a:off x="4308188" y="4007842"/>
            <a:ext cx="828349" cy="470293"/>
          </a:xfrm>
          <a:prstGeom prst="wedgeRoundRectCallout">
            <a:avLst>
              <a:gd name="adj1" fmla="val -18091"/>
              <a:gd name="adj2" fmla="val -74324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GFF2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88AEB0-0E12-A62F-2E46-84559078ACAF}"/>
              </a:ext>
            </a:extLst>
          </p:cNvPr>
          <p:cNvSpPr/>
          <p:nvPr/>
        </p:nvSpPr>
        <p:spPr>
          <a:xfrm>
            <a:off x="4327903" y="2768001"/>
            <a:ext cx="808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2000</a:t>
            </a:r>
          </a:p>
        </p:txBody>
      </p:sp>
      <p:cxnSp>
        <p:nvCxnSpPr>
          <p:cNvPr id="12" name="Straight Arrow Connector 69">
            <a:extLst>
              <a:ext uri="{FF2B5EF4-FFF2-40B4-BE49-F238E27FC236}">
                <a16:creationId xmlns:a16="http://schemas.microsoft.com/office/drawing/2014/main" id="{A173FB53-B52C-1667-520C-354DEB8CD630}"/>
              </a:ext>
            </a:extLst>
          </p:cNvPr>
          <p:cNvCxnSpPr/>
          <p:nvPr/>
        </p:nvCxnSpPr>
        <p:spPr>
          <a:xfrm flipV="1">
            <a:off x="4308189" y="2155116"/>
            <a:ext cx="5577997" cy="21674"/>
          </a:xfrm>
          <a:prstGeom prst="straightConnector1">
            <a:avLst/>
          </a:prstGeom>
          <a:ln w="7620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70">
            <a:extLst>
              <a:ext uri="{FF2B5EF4-FFF2-40B4-BE49-F238E27FC236}">
                <a16:creationId xmlns:a16="http://schemas.microsoft.com/office/drawing/2014/main" id="{121B0159-C3E8-4F32-6F63-6AA67161244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289378" y="2998833"/>
            <a:ext cx="2044346" cy="1"/>
          </a:xfrm>
          <a:prstGeom prst="straightConnector1">
            <a:avLst/>
          </a:prstGeom>
          <a:ln w="76200" cmpd="sng"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71">
            <a:extLst>
              <a:ext uri="{FF2B5EF4-FFF2-40B4-BE49-F238E27FC236}">
                <a16:creationId xmlns:a16="http://schemas.microsoft.com/office/drawing/2014/main" id="{1EAB382A-0513-156F-6414-64BC71A5821E}"/>
              </a:ext>
            </a:extLst>
          </p:cNvPr>
          <p:cNvCxnSpPr/>
          <p:nvPr/>
        </p:nvCxnSpPr>
        <p:spPr>
          <a:xfrm>
            <a:off x="4333724" y="2155116"/>
            <a:ext cx="0" cy="1687436"/>
          </a:xfrm>
          <a:prstGeom prst="straightConnector1">
            <a:avLst/>
          </a:prstGeom>
          <a:ln w="76200" cmpd="sng"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ular Callout 72">
            <a:extLst>
              <a:ext uri="{FF2B5EF4-FFF2-40B4-BE49-F238E27FC236}">
                <a16:creationId xmlns:a16="http://schemas.microsoft.com/office/drawing/2014/main" id="{2A1BFA94-4852-763F-0B30-3F110EA78504}"/>
              </a:ext>
            </a:extLst>
          </p:cNvPr>
          <p:cNvSpPr/>
          <p:nvPr/>
        </p:nvSpPr>
        <p:spPr>
          <a:xfrm>
            <a:off x="4359259" y="1357042"/>
            <a:ext cx="743667" cy="565854"/>
          </a:xfrm>
          <a:prstGeom prst="wedgeRoundRectCallout">
            <a:avLst>
              <a:gd name="adj1" fmla="val -30759"/>
              <a:gd name="adj2" fmla="val 89581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GTF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E56844-F742-4AB8-D040-6B488BB2591E}"/>
              </a:ext>
            </a:extLst>
          </p:cNvPr>
          <p:cNvSpPr/>
          <p:nvPr/>
        </p:nvSpPr>
        <p:spPr>
          <a:xfrm>
            <a:off x="5480714" y="4494125"/>
            <a:ext cx="26857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G</a:t>
            </a:r>
            <a:r>
              <a:rPr lang="en-US" sz="2000" dirty="0">
                <a:solidFill>
                  <a:srgbClr val="000000"/>
                </a:solidFill>
              </a:rPr>
              <a:t>eneral </a:t>
            </a:r>
            <a:r>
              <a:rPr lang="en-US" sz="2000" b="1" dirty="0">
                <a:solidFill>
                  <a:srgbClr val="000000"/>
                </a:solidFill>
              </a:rPr>
              <a:t>F</a:t>
            </a:r>
            <a:r>
              <a:rPr lang="en-US" sz="2000" dirty="0">
                <a:solidFill>
                  <a:srgbClr val="000000"/>
                </a:solidFill>
              </a:rPr>
              <a:t>eature </a:t>
            </a:r>
            <a:r>
              <a:rPr lang="en-US" sz="2000" b="1" u="sng" dirty="0">
                <a:solidFill>
                  <a:srgbClr val="000000"/>
                </a:solidFill>
              </a:rPr>
              <a:t>F</a:t>
            </a:r>
            <a:r>
              <a:rPr lang="en-US" sz="2000" u="sng" dirty="0">
                <a:solidFill>
                  <a:srgbClr val="000000"/>
                </a:solidFill>
              </a:rPr>
              <a:t>ormat</a:t>
            </a:r>
            <a:endParaRPr lang="en-US" sz="2000" u="sng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D557DB-7B15-0672-3F15-FB6AA8D003C3}"/>
              </a:ext>
            </a:extLst>
          </p:cNvPr>
          <p:cNvSpPr/>
          <p:nvPr/>
        </p:nvSpPr>
        <p:spPr>
          <a:xfrm>
            <a:off x="5452766" y="915396"/>
            <a:ext cx="24762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G</a:t>
            </a:r>
            <a:r>
              <a:rPr lang="en-US" sz="2000" dirty="0">
                <a:solidFill>
                  <a:srgbClr val="000000"/>
                </a:solidFill>
              </a:rPr>
              <a:t>ene </a:t>
            </a:r>
            <a:r>
              <a:rPr lang="en-US" sz="2000" b="1" dirty="0">
                <a:solidFill>
                  <a:srgbClr val="000000"/>
                </a:solidFill>
              </a:rPr>
              <a:t>T</a:t>
            </a:r>
            <a:r>
              <a:rPr lang="en-US" sz="2000" dirty="0">
                <a:solidFill>
                  <a:srgbClr val="000000"/>
                </a:solidFill>
              </a:rPr>
              <a:t>ransfer </a:t>
            </a:r>
            <a:r>
              <a:rPr lang="en-US" sz="2000" b="1" dirty="0">
                <a:solidFill>
                  <a:srgbClr val="000000"/>
                </a:solidFill>
              </a:rPr>
              <a:t>F</a:t>
            </a:r>
            <a:r>
              <a:rPr lang="en-US" sz="2000" dirty="0">
                <a:solidFill>
                  <a:srgbClr val="000000"/>
                </a:solidFill>
              </a:rPr>
              <a:t>ormat</a:t>
            </a:r>
            <a:endParaRPr lang="en-US" sz="2000" dirty="0"/>
          </a:p>
        </p:txBody>
      </p:sp>
      <p:sp>
        <p:nvSpPr>
          <p:cNvPr id="18" name="Rounded Rectangular Callout 75">
            <a:extLst>
              <a:ext uri="{FF2B5EF4-FFF2-40B4-BE49-F238E27FC236}">
                <a16:creationId xmlns:a16="http://schemas.microsoft.com/office/drawing/2014/main" id="{9700F4E0-3D1E-5964-175C-7C693B0B3F7D}"/>
              </a:ext>
            </a:extLst>
          </p:cNvPr>
          <p:cNvSpPr/>
          <p:nvPr/>
        </p:nvSpPr>
        <p:spPr>
          <a:xfrm>
            <a:off x="5362696" y="4023832"/>
            <a:ext cx="1159486" cy="470293"/>
          </a:xfrm>
          <a:prstGeom prst="wedgeRoundRectCallout">
            <a:avLst>
              <a:gd name="adj1" fmla="val -514"/>
              <a:gd name="adj2" fmla="val -84326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GFF2.5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19" name="Rounded Rectangular Callout 76">
            <a:extLst>
              <a:ext uri="{FF2B5EF4-FFF2-40B4-BE49-F238E27FC236}">
                <a16:creationId xmlns:a16="http://schemas.microsoft.com/office/drawing/2014/main" id="{5C65F1C8-F2A2-6636-AA2B-4FD85BC1AF44}"/>
              </a:ext>
            </a:extLst>
          </p:cNvPr>
          <p:cNvSpPr/>
          <p:nvPr/>
        </p:nvSpPr>
        <p:spPr>
          <a:xfrm>
            <a:off x="7772657" y="1357042"/>
            <a:ext cx="1110030" cy="565854"/>
          </a:xfrm>
          <a:prstGeom prst="wedgeRoundRectCallout">
            <a:avLst>
              <a:gd name="adj1" fmla="val -9983"/>
              <a:gd name="adj2" fmla="val 92161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GTF2.2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20" name="Rounded Rectangular Callout 77">
            <a:extLst>
              <a:ext uri="{FF2B5EF4-FFF2-40B4-BE49-F238E27FC236}">
                <a16:creationId xmlns:a16="http://schemas.microsoft.com/office/drawing/2014/main" id="{C5027C95-567C-E0C2-1BF2-8C447A9377B6}"/>
              </a:ext>
            </a:extLst>
          </p:cNvPr>
          <p:cNvSpPr/>
          <p:nvPr/>
        </p:nvSpPr>
        <p:spPr>
          <a:xfrm>
            <a:off x="5452766" y="1357042"/>
            <a:ext cx="864234" cy="565854"/>
          </a:xfrm>
          <a:prstGeom prst="wedgeRoundRectCallout">
            <a:avLst>
              <a:gd name="adj1" fmla="val 10624"/>
              <a:gd name="adj2" fmla="val 89581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GTF2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21" name="Rounded Rectangular Callout 78">
            <a:extLst>
              <a:ext uri="{FF2B5EF4-FFF2-40B4-BE49-F238E27FC236}">
                <a16:creationId xmlns:a16="http://schemas.microsoft.com/office/drawing/2014/main" id="{CCB07D5D-E3A0-15A3-3A7A-D5B30B021ACC}"/>
              </a:ext>
            </a:extLst>
          </p:cNvPr>
          <p:cNvSpPr/>
          <p:nvPr/>
        </p:nvSpPr>
        <p:spPr>
          <a:xfrm>
            <a:off x="6926137" y="4007842"/>
            <a:ext cx="1159486" cy="470293"/>
          </a:xfrm>
          <a:prstGeom prst="wedgeRoundRectCallout">
            <a:avLst>
              <a:gd name="adj1" fmla="val -33199"/>
              <a:gd name="adj2" fmla="val -80532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GFF3 v1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EC4A4D-9618-AC93-D426-A0E596617464}"/>
              </a:ext>
            </a:extLst>
          </p:cNvPr>
          <p:cNvSpPr/>
          <p:nvPr/>
        </p:nvSpPr>
        <p:spPr>
          <a:xfrm>
            <a:off x="6697245" y="3336740"/>
            <a:ext cx="808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2004</a:t>
            </a:r>
          </a:p>
        </p:txBody>
      </p:sp>
      <p:cxnSp>
        <p:nvCxnSpPr>
          <p:cNvPr id="23" name="Straight Arrow Connector 80">
            <a:extLst>
              <a:ext uri="{FF2B5EF4-FFF2-40B4-BE49-F238E27FC236}">
                <a16:creationId xmlns:a16="http://schemas.microsoft.com/office/drawing/2014/main" id="{CF0A3F30-4A5B-2D9D-DF76-5FF3CD50E557}"/>
              </a:ext>
            </a:extLst>
          </p:cNvPr>
          <p:cNvCxnSpPr/>
          <p:nvPr/>
        </p:nvCxnSpPr>
        <p:spPr>
          <a:xfrm>
            <a:off x="5975502" y="2196836"/>
            <a:ext cx="0" cy="1687436"/>
          </a:xfrm>
          <a:prstGeom prst="straightConnector1">
            <a:avLst/>
          </a:prstGeom>
          <a:ln w="76200" cmpd="sng"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22776F1-6A10-092B-4A5F-75D77CB97346}"/>
              </a:ext>
            </a:extLst>
          </p:cNvPr>
          <p:cNvSpPr/>
          <p:nvPr/>
        </p:nvSpPr>
        <p:spPr>
          <a:xfrm>
            <a:off x="5571184" y="2768001"/>
            <a:ext cx="808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2003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3E5E90-2CE5-82DB-5F2B-952556CF9541}"/>
              </a:ext>
            </a:extLst>
          </p:cNvPr>
          <p:cNvSpPr/>
          <p:nvPr/>
        </p:nvSpPr>
        <p:spPr>
          <a:xfrm>
            <a:off x="7928975" y="2218496"/>
            <a:ext cx="808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2007</a:t>
            </a:r>
          </a:p>
        </p:txBody>
      </p:sp>
      <p:sp>
        <p:nvSpPr>
          <p:cNvPr id="26" name="Rounded Rectangular Callout 83">
            <a:extLst>
              <a:ext uri="{FF2B5EF4-FFF2-40B4-BE49-F238E27FC236}">
                <a16:creationId xmlns:a16="http://schemas.microsoft.com/office/drawing/2014/main" id="{BA21F135-3C8D-319B-71FD-3B6F68B51056}"/>
              </a:ext>
            </a:extLst>
          </p:cNvPr>
          <p:cNvSpPr/>
          <p:nvPr/>
        </p:nvSpPr>
        <p:spPr>
          <a:xfrm>
            <a:off x="8545821" y="4023832"/>
            <a:ext cx="1562571" cy="470293"/>
          </a:xfrm>
          <a:prstGeom prst="wedgeRoundRectCallout">
            <a:avLst>
              <a:gd name="adj1" fmla="val -5266"/>
              <a:gd name="adj2" fmla="val -83637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GFF3 v1.23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91E42C-65D6-8D2A-46B6-269B3CA8A9FF}"/>
              </a:ext>
            </a:extLst>
          </p:cNvPr>
          <p:cNvSpPr/>
          <p:nvPr/>
        </p:nvSpPr>
        <p:spPr>
          <a:xfrm>
            <a:off x="8737610" y="3352485"/>
            <a:ext cx="808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2013</a:t>
            </a:r>
          </a:p>
        </p:txBody>
      </p:sp>
      <p:sp>
        <p:nvSpPr>
          <p:cNvPr id="28" name="Rounded Rectangular Callout 85">
            <a:extLst>
              <a:ext uri="{FF2B5EF4-FFF2-40B4-BE49-F238E27FC236}">
                <a16:creationId xmlns:a16="http://schemas.microsoft.com/office/drawing/2014/main" id="{261DC37E-8286-1D34-59FA-CEDDF29F4AD3}"/>
              </a:ext>
            </a:extLst>
          </p:cNvPr>
          <p:cNvSpPr/>
          <p:nvPr/>
        </p:nvSpPr>
        <p:spPr>
          <a:xfrm>
            <a:off x="6494046" y="1348842"/>
            <a:ext cx="1110030" cy="565854"/>
          </a:xfrm>
          <a:prstGeom prst="wedgeRoundRectCallout">
            <a:avLst>
              <a:gd name="adj1" fmla="val 31570"/>
              <a:gd name="adj2" fmla="val 94741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GTF2.1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0494EE-7648-4A0E-7D2B-1373CD7D90A1}"/>
              </a:ext>
            </a:extLst>
          </p:cNvPr>
          <p:cNvSpPr/>
          <p:nvPr/>
        </p:nvSpPr>
        <p:spPr>
          <a:xfrm>
            <a:off x="6823577" y="2242152"/>
            <a:ext cx="808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2005</a:t>
            </a:r>
          </a:p>
        </p:txBody>
      </p:sp>
      <p:sp>
        <p:nvSpPr>
          <p:cNvPr id="30" name="Rounded Rectangular Callout 87">
            <a:extLst>
              <a:ext uri="{FF2B5EF4-FFF2-40B4-BE49-F238E27FC236}">
                <a16:creationId xmlns:a16="http://schemas.microsoft.com/office/drawing/2014/main" id="{E59C0BA3-CA8C-5B51-D403-B903097BA8FA}"/>
              </a:ext>
            </a:extLst>
          </p:cNvPr>
          <p:cNvSpPr/>
          <p:nvPr/>
        </p:nvSpPr>
        <p:spPr>
          <a:xfrm>
            <a:off x="8998362" y="1335331"/>
            <a:ext cx="1110030" cy="565854"/>
          </a:xfrm>
          <a:prstGeom prst="wedgeRoundRectCallout">
            <a:avLst>
              <a:gd name="adj1" fmla="val -9983"/>
              <a:gd name="adj2" fmla="val 92161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GTF2.X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AB3056-BA03-7EC8-EAEC-C41B9BA3C5DC}"/>
              </a:ext>
            </a:extLst>
          </p:cNvPr>
          <p:cNvSpPr/>
          <p:nvPr/>
        </p:nvSpPr>
        <p:spPr>
          <a:xfrm>
            <a:off x="1425116" y="3230516"/>
            <a:ext cx="26901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G</a:t>
            </a:r>
            <a:r>
              <a:rPr lang="en-US" sz="2000" dirty="0">
                <a:solidFill>
                  <a:srgbClr val="000000"/>
                </a:solidFill>
              </a:rPr>
              <a:t>eneral </a:t>
            </a:r>
            <a:r>
              <a:rPr lang="en-US" sz="2000" b="1" dirty="0">
                <a:solidFill>
                  <a:srgbClr val="000000"/>
                </a:solidFill>
              </a:rPr>
              <a:t>F</a:t>
            </a:r>
            <a:r>
              <a:rPr lang="en-US" sz="2000" dirty="0">
                <a:solidFill>
                  <a:srgbClr val="000000"/>
                </a:solidFill>
              </a:rPr>
              <a:t>eature </a:t>
            </a:r>
            <a:r>
              <a:rPr lang="en-US" sz="2000" b="1" u="sng" dirty="0">
                <a:solidFill>
                  <a:srgbClr val="000000"/>
                </a:solidFill>
              </a:rPr>
              <a:t>F</a:t>
            </a:r>
            <a:r>
              <a:rPr lang="en-US" sz="2000" u="sng" dirty="0">
                <a:solidFill>
                  <a:srgbClr val="000000"/>
                </a:solidFill>
              </a:rPr>
              <a:t>inding</a:t>
            </a:r>
            <a:endParaRPr lang="en-US" sz="2000" u="sng" dirty="0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B1D24093-3A84-DBFB-3C9C-AE94E81DE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74" y="4889892"/>
            <a:ext cx="1222131" cy="122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08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Introduction to annotation: GFF3 / GTF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919BE2E-1A8D-C2B5-41F2-087EA109DDC2}"/>
              </a:ext>
            </a:extLst>
          </p:cNvPr>
          <p:cNvSpPr/>
          <p:nvPr/>
        </p:nvSpPr>
        <p:spPr>
          <a:xfrm>
            <a:off x="291141" y="665682"/>
            <a:ext cx="887106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##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gff</a:t>
            </a:r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-version 3.2.1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  <a:cs typeface="Consolas"/>
              </a:rPr>
              <a:t>##sequence-region ctg123 1 1497228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  <a:cs typeface="Consolas"/>
              </a:rPr>
              <a:t>c</a:t>
            </a:r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tg123  .  Gene  1300  1500  .  +  .  ID=gene1;Name=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ctg123  .  mRNA  1300  1500  .  +  .  ID=mRNA1;Parent=gene1;Name=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ctg123  .  exon  1300  1500  .  +  .  ID=exon1;Parent=mRNA1;Name=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ctg123  .  CDS   1300  1500  .  +  0  ID=cds1 ;Parent=mRNA1;Name=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</p:txBody>
      </p:sp>
      <p:sp>
        <p:nvSpPr>
          <p:cNvPr id="42" name="Rounded Rectangle 42">
            <a:extLst>
              <a:ext uri="{FF2B5EF4-FFF2-40B4-BE49-F238E27FC236}">
                <a16:creationId xmlns:a16="http://schemas.microsoft.com/office/drawing/2014/main" id="{28D49BFF-AAFC-8AF5-BE61-7B6203977628}"/>
              </a:ext>
            </a:extLst>
          </p:cNvPr>
          <p:cNvSpPr/>
          <p:nvPr/>
        </p:nvSpPr>
        <p:spPr>
          <a:xfrm>
            <a:off x="314670" y="1213387"/>
            <a:ext cx="867410" cy="1013040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ounded Rectangle 43">
            <a:extLst>
              <a:ext uri="{FF2B5EF4-FFF2-40B4-BE49-F238E27FC236}">
                <a16:creationId xmlns:a16="http://schemas.microsoft.com/office/drawing/2014/main" id="{D9CCAD67-3264-4C8C-069B-C124A654264B}"/>
              </a:ext>
            </a:extLst>
          </p:cNvPr>
          <p:cNvSpPr/>
          <p:nvPr/>
        </p:nvSpPr>
        <p:spPr>
          <a:xfrm>
            <a:off x="321621" y="665683"/>
            <a:ext cx="3962676" cy="554167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44" name="Rounded Rectangle 44">
            <a:extLst>
              <a:ext uri="{FF2B5EF4-FFF2-40B4-BE49-F238E27FC236}">
                <a16:creationId xmlns:a16="http://schemas.microsoft.com/office/drawing/2014/main" id="{FA53649B-8C93-F0CD-B5CB-7DA167E908C0}"/>
              </a:ext>
            </a:extLst>
          </p:cNvPr>
          <p:cNvSpPr/>
          <p:nvPr/>
        </p:nvSpPr>
        <p:spPr>
          <a:xfrm>
            <a:off x="1189031" y="1225190"/>
            <a:ext cx="305935" cy="101304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5">
            <a:extLst>
              <a:ext uri="{FF2B5EF4-FFF2-40B4-BE49-F238E27FC236}">
                <a16:creationId xmlns:a16="http://schemas.microsoft.com/office/drawing/2014/main" id="{0BDE02A5-8B30-811D-2367-8DCF08998668}"/>
              </a:ext>
            </a:extLst>
          </p:cNvPr>
          <p:cNvSpPr/>
          <p:nvPr/>
        </p:nvSpPr>
        <p:spPr>
          <a:xfrm>
            <a:off x="1494966" y="1219850"/>
            <a:ext cx="735242" cy="1013040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6">
            <a:extLst>
              <a:ext uri="{FF2B5EF4-FFF2-40B4-BE49-F238E27FC236}">
                <a16:creationId xmlns:a16="http://schemas.microsoft.com/office/drawing/2014/main" id="{825C33D7-F377-2739-6310-81C89538CB46}"/>
              </a:ext>
            </a:extLst>
          </p:cNvPr>
          <p:cNvSpPr/>
          <p:nvPr/>
        </p:nvSpPr>
        <p:spPr>
          <a:xfrm>
            <a:off x="2249305" y="1225560"/>
            <a:ext cx="626569" cy="1014562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7">
            <a:extLst>
              <a:ext uri="{FF2B5EF4-FFF2-40B4-BE49-F238E27FC236}">
                <a16:creationId xmlns:a16="http://schemas.microsoft.com/office/drawing/2014/main" id="{665B4722-8729-102A-0953-6CAF823CD27E}"/>
              </a:ext>
            </a:extLst>
          </p:cNvPr>
          <p:cNvSpPr/>
          <p:nvPr/>
        </p:nvSpPr>
        <p:spPr>
          <a:xfrm>
            <a:off x="3529956" y="1231146"/>
            <a:ext cx="348527" cy="101304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8">
            <a:extLst>
              <a:ext uri="{FF2B5EF4-FFF2-40B4-BE49-F238E27FC236}">
                <a16:creationId xmlns:a16="http://schemas.microsoft.com/office/drawing/2014/main" id="{2B21EE38-4FF2-2D01-96C5-0D2E8E1E9275}"/>
              </a:ext>
            </a:extLst>
          </p:cNvPr>
          <p:cNvSpPr/>
          <p:nvPr/>
        </p:nvSpPr>
        <p:spPr>
          <a:xfrm>
            <a:off x="2875875" y="1231146"/>
            <a:ext cx="654082" cy="1013040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9">
            <a:extLst>
              <a:ext uri="{FF2B5EF4-FFF2-40B4-BE49-F238E27FC236}">
                <a16:creationId xmlns:a16="http://schemas.microsoft.com/office/drawing/2014/main" id="{84D4E722-231D-58C1-4A65-4E0B7112F48C}"/>
              </a:ext>
            </a:extLst>
          </p:cNvPr>
          <p:cNvSpPr/>
          <p:nvPr/>
        </p:nvSpPr>
        <p:spPr>
          <a:xfrm>
            <a:off x="3878482" y="1219850"/>
            <a:ext cx="310329" cy="1013040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50">
            <a:extLst>
              <a:ext uri="{FF2B5EF4-FFF2-40B4-BE49-F238E27FC236}">
                <a16:creationId xmlns:a16="http://schemas.microsoft.com/office/drawing/2014/main" id="{3F0F8FA7-3661-101E-1671-1613E05A95BD}"/>
              </a:ext>
            </a:extLst>
          </p:cNvPr>
          <p:cNvSpPr/>
          <p:nvPr/>
        </p:nvSpPr>
        <p:spPr>
          <a:xfrm>
            <a:off x="4198360" y="1213387"/>
            <a:ext cx="350912" cy="101304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EC5FCB22-777A-26CC-3B61-7587F6F403FF}"/>
              </a:ext>
            </a:extLst>
          </p:cNvPr>
          <p:cNvSpPr txBox="1">
            <a:spLocks/>
          </p:cNvSpPr>
          <p:nvPr/>
        </p:nvSpPr>
        <p:spPr>
          <a:xfrm>
            <a:off x="4373816" y="701817"/>
            <a:ext cx="1021701" cy="310106"/>
          </a:xfrm>
          <a:prstGeom prst="rect">
            <a:avLst/>
          </a:prstGeom>
          <a:ln>
            <a:noFill/>
          </a:ln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dirty="0"/>
          </a:p>
        </p:txBody>
      </p: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A2DED9F0-0B79-E417-B740-E367635F8111}"/>
              </a:ext>
            </a:extLst>
          </p:cNvPr>
          <p:cNvGrpSpPr/>
          <p:nvPr/>
        </p:nvGrpSpPr>
        <p:grpSpPr>
          <a:xfrm>
            <a:off x="178744" y="2226427"/>
            <a:ext cx="7258071" cy="1295445"/>
            <a:chOff x="80270" y="5744233"/>
            <a:chExt cx="7258071" cy="1295445"/>
          </a:xfrm>
        </p:grpSpPr>
        <p:cxnSp>
          <p:nvCxnSpPr>
            <p:cNvPr id="53" name="Straight Arrow Connector 55">
              <a:extLst>
                <a:ext uri="{FF2B5EF4-FFF2-40B4-BE49-F238E27FC236}">
                  <a16:creationId xmlns:a16="http://schemas.microsoft.com/office/drawing/2014/main" id="{9C372C39-F951-90F7-91CF-6CD40ED23311}"/>
                </a:ext>
              </a:extLst>
            </p:cNvPr>
            <p:cNvCxnSpPr/>
            <p:nvPr/>
          </p:nvCxnSpPr>
          <p:spPr>
            <a:xfrm flipV="1">
              <a:off x="603956" y="5771174"/>
              <a:ext cx="0" cy="4159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itle 1">
              <a:extLst>
                <a:ext uri="{FF2B5EF4-FFF2-40B4-BE49-F238E27FC236}">
                  <a16:creationId xmlns:a16="http://schemas.microsoft.com/office/drawing/2014/main" id="{F4DF3E95-F084-CF8C-0720-4B42E180DF52}"/>
                </a:ext>
              </a:extLst>
            </p:cNvPr>
            <p:cNvSpPr txBox="1">
              <a:spLocks/>
            </p:cNvSpPr>
            <p:nvPr/>
          </p:nvSpPr>
          <p:spPr>
            <a:xfrm>
              <a:off x="80270" y="6118783"/>
              <a:ext cx="1446292" cy="295995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1 </a:t>
              </a:r>
              <a:r>
                <a:rPr lang="en-US" sz="1600" dirty="0"/>
                <a:t>- sequence id</a:t>
              </a:r>
            </a:p>
          </p:txBody>
        </p:sp>
        <p:sp>
          <p:nvSpPr>
            <p:cNvPr id="55" name="Title 1">
              <a:extLst>
                <a:ext uri="{FF2B5EF4-FFF2-40B4-BE49-F238E27FC236}">
                  <a16:creationId xmlns:a16="http://schemas.microsoft.com/office/drawing/2014/main" id="{86F3680E-66CD-4C74-76DB-594260B66125}"/>
                </a:ext>
              </a:extLst>
            </p:cNvPr>
            <p:cNvSpPr txBox="1">
              <a:spLocks/>
            </p:cNvSpPr>
            <p:nvPr/>
          </p:nvSpPr>
          <p:spPr>
            <a:xfrm>
              <a:off x="359197" y="6350537"/>
              <a:ext cx="3028747" cy="689141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3 </a:t>
              </a:r>
              <a:r>
                <a:rPr lang="en-US" sz="1600" dirty="0"/>
                <a:t>-</a:t>
              </a:r>
              <a:r>
                <a:rPr lang="en-US" sz="1600" dirty="0">
                  <a:solidFill>
                    <a:srgbClr val="000000"/>
                  </a:solidFill>
                </a:rPr>
                <a:t> feature type</a:t>
              </a:r>
            </a:p>
          </p:txBody>
        </p:sp>
        <p:cxnSp>
          <p:nvCxnSpPr>
            <p:cNvPr id="56" name="Straight Arrow Connector 60">
              <a:extLst>
                <a:ext uri="{FF2B5EF4-FFF2-40B4-BE49-F238E27FC236}">
                  <a16:creationId xmlns:a16="http://schemas.microsoft.com/office/drawing/2014/main" id="{8766D210-CE8C-8C59-A8B4-F5C591077EBB}"/>
                </a:ext>
              </a:extLst>
            </p:cNvPr>
            <p:cNvCxnSpPr/>
            <p:nvPr/>
          </p:nvCxnSpPr>
          <p:spPr>
            <a:xfrm flipV="1">
              <a:off x="2428130" y="5763329"/>
              <a:ext cx="0" cy="2664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itle 1">
              <a:extLst>
                <a:ext uri="{FF2B5EF4-FFF2-40B4-BE49-F238E27FC236}">
                  <a16:creationId xmlns:a16="http://schemas.microsoft.com/office/drawing/2014/main" id="{F3FE545D-B59F-33CA-EF48-2FDDD89AA469}"/>
                </a:ext>
              </a:extLst>
            </p:cNvPr>
            <p:cNvSpPr txBox="1">
              <a:spLocks/>
            </p:cNvSpPr>
            <p:nvPr/>
          </p:nvSpPr>
          <p:spPr>
            <a:xfrm>
              <a:off x="1935993" y="5964823"/>
              <a:ext cx="975093" cy="324639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4 </a:t>
              </a:r>
              <a:r>
                <a:rPr lang="en-US" sz="1600" dirty="0"/>
                <a:t>- start</a:t>
              </a:r>
            </a:p>
          </p:txBody>
        </p:sp>
        <p:cxnSp>
          <p:nvCxnSpPr>
            <p:cNvPr id="58" name="Straight Arrow Connector 62">
              <a:extLst>
                <a:ext uri="{FF2B5EF4-FFF2-40B4-BE49-F238E27FC236}">
                  <a16:creationId xmlns:a16="http://schemas.microsoft.com/office/drawing/2014/main" id="{E7BECB73-71DD-4066-9530-DEA67C350B13}"/>
                </a:ext>
              </a:extLst>
            </p:cNvPr>
            <p:cNvCxnSpPr/>
            <p:nvPr/>
          </p:nvCxnSpPr>
          <p:spPr>
            <a:xfrm flipV="1">
              <a:off x="3617315" y="5763329"/>
              <a:ext cx="0" cy="2664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itle 1">
              <a:extLst>
                <a:ext uri="{FF2B5EF4-FFF2-40B4-BE49-F238E27FC236}">
                  <a16:creationId xmlns:a16="http://schemas.microsoft.com/office/drawing/2014/main" id="{E6766C50-714A-5E1A-A399-99CA4982E950}"/>
                </a:ext>
              </a:extLst>
            </p:cNvPr>
            <p:cNvSpPr txBox="1">
              <a:spLocks/>
            </p:cNvSpPr>
            <p:nvPr/>
          </p:nvSpPr>
          <p:spPr>
            <a:xfrm>
              <a:off x="3023766" y="5931686"/>
              <a:ext cx="975093" cy="324639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6 </a:t>
              </a:r>
              <a:r>
                <a:rPr lang="en-US" sz="1600" dirty="0"/>
                <a:t>- score</a:t>
              </a:r>
            </a:p>
          </p:txBody>
        </p:sp>
        <p:cxnSp>
          <p:nvCxnSpPr>
            <p:cNvPr id="60" name="Straight Arrow Connector 64">
              <a:extLst>
                <a:ext uri="{FF2B5EF4-FFF2-40B4-BE49-F238E27FC236}">
                  <a16:creationId xmlns:a16="http://schemas.microsoft.com/office/drawing/2014/main" id="{4C8684EF-376E-0D46-D557-0BCB4D86EEC1}"/>
                </a:ext>
              </a:extLst>
            </p:cNvPr>
            <p:cNvCxnSpPr/>
            <p:nvPr/>
          </p:nvCxnSpPr>
          <p:spPr>
            <a:xfrm flipV="1">
              <a:off x="4305370" y="5744233"/>
              <a:ext cx="0" cy="2664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itle 1">
              <a:extLst>
                <a:ext uri="{FF2B5EF4-FFF2-40B4-BE49-F238E27FC236}">
                  <a16:creationId xmlns:a16="http://schemas.microsoft.com/office/drawing/2014/main" id="{A8108AA1-447A-0DE5-7555-0D9D6326F648}"/>
                </a:ext>
              </a:extLst>
            </p:cNvPr>
            <p:cNvSpPr txBox="1">
              <a:spLocks/>
            </p:cNvSpPr>
            <p:nvPr/>
          </p:nvSpPr>
          <p:spPr>
            <a:xfrm>
              <a:off x="3995128" y="5914023"/>
              <a:ext cx="975093" cy="324639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8 </a:t>
              </a:r>
              <a:r>
                <a:rPr lang="en-US" sz="1600" dirty="0"/>
                <a:t>- phase</a:t>
              </a:r>
            </a:p>
          </p:txBody>
        </p:sp>
        <p:sp>
          <p:nvSpPr>
            <p:cNvPr id="62" name="Title 1">
              <a:extLst>
                <a:ext uri="{FF2B5EF4-FFF2-40B4-BE49-F238E27FC236}">
                  <a16:creationId xmlns:a16="http://schemas.microsoft.com/office/drawing/2014/main" id="{70F17CBF-C771-E42E-CA0E-C06082119A06}"/>
                </a:ext>
              </a:extLst>
            </p:cNvPr>
            <p:cNvSpPr txBox="1">
              <a:spLocks/>
            </p:cNvSpPr>
            <p:nvPr/>
          </p:nvSpPr>
          <p:spPr>
            <a:xfrm>
              <a:off x="2515432" y="6221644"/>
              <a:ext cx="1174481" cy="371898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5 </a:t>
              </a:r>
              <a:r>
                <a:rPr lang="en-US" sz="1600" dirty="0"/>
                <a:t>- end</a:t>
              </a:r>
            </a:p>
          </p:txBody>
        </p:sp>
        <p:sp>
          <p:nvSpPr>
            <p:cNvPr id="63" name="Title 1">
              <a:extLst>
                <a:ext uri="{FF2B5EF4-FFF2-40B4-BE49-F238E27FC236}">
                  <a16:creationId xmlns:a16="http://schemas.microsoft.com/office/drawing/2014/main" id="{40DCAED8-8B74-0532-BF1E-1BEAF9402117}"/>
                </a:ext>
              </a:extLst>
            </p:cNvPr>
            <p:cNvSpPr txBox="1">
              <a:spLocks/>
            </p:cNvSpPr>
            <p:nvPr/>
          </p:nvSpPr>
          <p:spPr>
            <a:xfrm>
              <a:off x="3387945" y="6373115"/>
              <a:ext cx="1174481" cy="371898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7 </a:t>
              </a:r>
              <a:r>
                <a:rPr lang="en-US" sz="1600" dirty="0"/>
                <a:t>- strand</a:t>
              </a:r>
            </a:p>
          </p:txBody>
        </p:sp>
        <p:cxnSp>
          <p:nvCxnSpPr>
            <p:cNvPr id="64" name="Straight Arrow Connector 68">
              <a:extLst>
                <a:ext uri="{FF2B5EF4-FFF2-40B4-BE49-F238E27FC236}">
                  <a16:creationId xmlns:a16="http://schemas.microsoft.com/office/drawing/2014/main" id="{335A9443-C9CE-E2D5-93E8-CACD086DFB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0034" y="5771175"/>
              <a:ext cx="0" cy="57936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9">
              <a:extLst>
                <a:ext uri="{FF2B5EF4-FFF2-40B4-BE49-F238E27FC236}">
                  <a16:creationId xmlns:a16="http://schemas.microsoft.com/office/drawing/2014/main" id="{3B7366A2-1C9E-969F-A78F-9CDD3A120581}"/>
                </a:ext>
              </a:extLst>
            </p:cNvPr>
            <p:cNvCxnSpPr/>
            <p:nvPr/>
          </p:nvCxnSpPr>
          <p:spPr>
            <a:xfrm flipV="1">
              <a:off x="3022593" y="5752930"/>
              <a:ext cx="0" cy="53653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70">
              <a:extLst>
                <a:ext uri="{FF2B5EF4-FFF2-40B4-BE49-F238E27FC236}">
                  <a16:creationId xmlns:a16="http://schemas.microsoft.com/office/drawing/2014/main" id="{E336F37D-2E9C-0A8F-B5FD-A0CCE16FF1F8}"/>
                </a:ext>
              </a:extLst>
            </p:cNvPr>
            <p:cNvCxnSpPr/>
            <p:nvPr/>
          </p:nvCxnSpPr>
          <p:spPr>
            <a:xfrm flipV="1">
              <a:off x="3936048" y="5752929"/>
              <a:ext cx="0" cy="71525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71">
              <a:extLst>
                <a:ext uri="{FF2B5EF4-FFF2-40B4-BE49-F238E27FC236}">
                  <a16:creationId xmlns:a16="http://schemas.microsoft.com/office/drawing/2014/main" id="{15CE4684-F2F4-0F2D-73C8-34AF1EF5452A}"/>
                </a:ext>
              </a:extLst>
            </p:cNvPr>
            <p:cNvCxnSpPr/>
            <p:nvPr/>
          </p:nvCxnSpPr>
          <p:spPr>
            <a:xfrm flipV="1">
              <a:off x="6695600" y="5751224"/>
              <a:ext cx="0" cy="2768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itle 1">
              <a:extLst>
                <a:ext uri="{FF2B5EF4-FFF2-40B4-BE49-F238E27FC236}">
                  <a16:creationId xmlns:a16="http://schemas.microsoft.com/office/drawing/2014/main" id="{06B6B1D3-BE83-C21D-896C-B7E7D15A7F7F}"/>
                </a:ext>
              </a:extLst>
            </p:cNvPr>
            <p:cNvSpPr txBox="1">
              <a:spLocks/>
            </p:cNvSpPr>
            <p:nvPr/>
          </p:nvSpPr>
          <p:spPr>
            <a:xfrm>
              <a:off x="6052859" y="6008765"/>
              <a:ext cx="1285482" cy="324639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9 </a:t>
              </a:r>
              <a:r>
                <a:rPr lang="en-US" sz="1600" dirty="0"/>
                <a:t>-</a:t>
              </a:r>
              <a:r>
                <a:rPr lang="en-US" sz="16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000000"/>
                  </a:solidFill>
                </a:rPr>
                <a:t>attributes</a:t>
              </a:r>
            </a:p>
            <a:p>
              <a:r>
                <a:rPr lang="en-US" sz="1600" i="1" dirty="0">
                  <a:solidFill>
                    <a:srgbClr val="000000"/>
                  </a:solidFill>
                </a:rPr>
                <a:t>tag=value</a:t>
              </a:r>
            </a:p>
            <a:p>
              <a:endParaRPr lang="en-US" sz="1600" dirty="0"/>
            </a:p>
          </p:txBody>
        </p:sp>
        <p:cxnSp>
          <p:nvCxnSpPr>
            <p:cNvPr id="69" name="Straight Arrow Connector 52">
              <a:extLst>
                <a:ext uri="{FF2B5EF4-FFF2-40B4-BE49-F238E27FC236}">
                  <a16:creationId xmlns:a16="http://schemas.microsoft.com/office/drawing/2014/main" id="{B8ED21A0-FBA0-5B6D-CB28-415652ECA999}"/>
                </a:ext>
              </a:extLst>
            </p:cNvPr>
            <p:cNvCxnSpPr/>
            <p:nvPr/>
          </p:nvCxnSpPr>
          <p:spPr>
            <a:xfrm flipV="1">
              <a:off x="1233792" y="5761624"/>
              <a:ext cx="0" cy="2664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itle 1">
              <a:extLst>
                <a:ext uri="{FF2B5EF4-FFF2-40B4-BE49-F238E27FC236}">
                  <a16:creationId xmlns:a16="http://schemas.microsoft.com/office/drawing/2014/main" id="{AE21D70E-0530-7536-FCBC-CB20FD5C7492}"/>
                </a:ext>
              </a:extLst>
            </p:cNvPr>
            <p:cNvSpPr txBox="1">
              <a:spLocks/>
            </p:cNvSpPr>
            <p:nvPr/>
          </p:nvSpPr>
          <p:spPr>
            <a:xfrm>
              <a:off x="679710" y="5920642"/>
              <a:ext cx="1092646" cy="324639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2 </a:t>
              </a:r>
              <a:r>
                <a:rPr lang="en-US" sz="1600" dirty="0"/>
                <a:t>- source</a:t>
              </a:r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1E9059D6-C569-25D3-C7C2-66A17631C702}"/>
              </a:ext>
            </a:extLst>
          </p:cNvPr>
          <p:cNvSpPr/>
          <p:nvPr/>
        </p:nvSpPr>
        <p:spPr>
          <a:xfrm>
            <a:off x="9025329" y="790780"/>
            <a:ext cx="3435278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2" indent="-323842">
              <a:buClr>
                <a:schemeClr val="accent6"/>
              </a:buClr>
              <a:buSzPts val="3200"/>
              <a:buFont typeface="Arial"/>
              <a:buChar char="●"/>
            </a:pPr>
            <a:r>
              <a:rPr lang="fi-FI" sz="1350" dirty="0"/>
              <a:t>9 </a:t>
            </a:r>
            <a:r>
              <a:rPr lang="fi-FI" sz="1350" dirty="0" err="1"/>
              <a:t>columns</a:t>
            </a:r>
            <a:r>
              <a:rPr lang="fi-FI" sz="1350" dirty="0"/>
              <a:t> 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E69E335-FE55-FC0C-178C-960BB806A7C9}"/>
              </a:ext>
            </a:extLst>
          </p:cNvPr>
          <p:cNvSpPr/>
          <p:nvPr/>
        </p:nvSpPr>
        <p:spPr>
          <a:xfrm>
            <a:off x="9025329" y="1045704"/>
            <a:ext cx="171694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892" indent="-323842">
              <a:buClr>
                <a:schemeClr val="accent6"/>
              </a:buClr>
              <a:buSzPts val="3200"/>
              <a:buFont typeface="Arial"/>
              <a:buChar char="●"/>
            </a:pPr>
            <a:r>
              <a:rPr lang="fi-FI" sz="1350" dirty="0">
                <a:solidFill>
                  <a:srgbClr val="FF0000"/>
                </a:solidFill>
              </a:rPr>
              <a:t>1 feature = 1 </a:t>
            </a:r>
            <a:r>
              <a:rPr lang="fi-FI" sz="1350" dirty="0" err="1">
                <a:solidFill>
                  <a:srgbClr val="FF0000"/>
                </a:solidFill>
              </a:rPr>
              <a:t>line</a:t>
            </a:r>
            <a:endParaRPr lang="fi-FI" sz="1350" dirty="0">
              <a:solidFill>
                <a:srgbClr val="FF0000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4B5AC4C-C293-2FB6-0CB9-DA5C0B77D943}"/>
              </a:ext>
            </a:extLst>
          </p:cNvPr>
          <p:cNvSpPr/>
          <p:nvPr/>
        </p:nvSpPr>
        <p:spPr>
          <a:xfrm>
            <a:off x="9026023" y="1283410"/>
            <a:ext cx="308552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892" indent="-323842">
              <a:buClr>
                <a:schemeClr val="accent6"/>
              </a:buClr>
              <a:buSzPts val="3200"/>
              <a:buFont typeface="Arial"/>
              <a:buChar char="●"/>
            </a:pPr>
            <a:r>
              <a:rPr lang="en-GB" sz="1350" dirty="0">
                <a:solidFill>
                  <a:srgbClr val="00B050"/>
                </a:solidFill>
              </a:rPr>
              <a:t>1 record = features with relationship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753C60B4-3854-9176-5ECD-AA3BDF27F044}"/>
              </a:ext>
            </a:extLst>
          </p:cNvPr>
          <p:cNvSpPr/>
          <p:nvPr/>
        </p:nvSpPr>
        <p:spPr>
          <a:xfrm>
            <a:off x="302690" y="1230434"/>
            <a:ext cx="6491384" cy="203017"/>
          </a:xfrm>
          <a:prstGeom prst="roundRect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A616E20-9DB7-1953-6461-E7FB0D203270}"/>
              </a:ext>
            </a:extLst>
          </p:cNvPr>
          <p:cNvSpPr/>
          <p:nvPr/>
        </p:nvSpPr>
        <p:spPr>
          <a:xfrm>
            <a:off x="178744" y="1201099"/>
            <a:ext cx="8752834" cy="103424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3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BC70774-FAC1-D8C3-F44A-1853E07BEB1D}"/>
              </a:ext>
            </a:extLst>
          </p:cNvPr>
          <p:cNvSpPr/>
          <p:nvPr/>
        </p:nvSpPr>
        <p:spPr>
          <a:xfrm>
            <a:off x="9025329" y="561055"/>
            <a:ext cx="1047082" cy="300082"/>
          </a:xfrm>
          <a:prstGeom prst="rect">
            <a:avLst/>
          </a:prstGeom>
        </p:spPr>
        <p:txBody>
          <a:bodyPr wrap="none" tIns="46800">
            <a:spAutoFit/>
          </a:bodyPr>
          <a:lstStyle/>
          <a:p>
            <a:pPr marL="342892" indent="-323842">
              <a:buClr>
                <a:schemeClr val="accent6"/>
              </a:buClr>
              <a:buSzPts val="3200"/>
              <a:buFont typeface="Arial"/>
              <a:buChar char="●"/>
            </a:pPr>
            <a:r>
              <a:rPr lang="fi-FI" sz="1350" dirty="0" err="1">
                <a:solidFill>
                  <a:schemeClr val="accent2"/>
                </a:solidFill>
              </a:rPr>
              <a:t>Header</a:t>
            </a:r>
            <a:endParaRPr lang="fi-FI" sz="1350" dirty="0">
              <a:solidFill>
                <a:schemeClr val="accent2"/>
              </a:solidFill>
            </a:endParaRPr>
          </a:p>
        </p:txBody>
      </p:sp>
      <p:sp>
        <p:nvSpPr>
          <p:cNvPr id="5" name="Rounded Rectangle 42">
            <a:extLst>
              <a:ext uri="{FF2B5EF4-FFF2-40B4-BE49-F238E27FC236}">
                <a16:creationId xmlns:a16="http://schemas.microsoft.com/office/drawing/2014/main" id="{F315A8FA-7E02-3AB9-DD72-401706A4F759}"/>
              </a:ext>
            </a:extLst>
          </p:cNvPr>
          <p:cNvSpPr/>
          <p:nvPr/>
        </p:nvSpPr>
        <p:spPr>
          <a:xfrm>
            <a:off x="4549272" y="1230433"/>
            <a:ext cx="4315359" cy="1010157"/>
          </a:xfrm>
          <a:prstGeom prst="roundRect">
            <a:avLst>
              <a:gd name="adj" fmla="val 4590"/>
            </a:avLst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2" name="Groupe 81">
            <a:extLst>
              <a:ext uri="{FF2B5EF4-FFF2-40B4-BE49-F238E27FC236}">
                <a16:creationId xmlns:a16="http://schemas.microsoft.com/office/drawing/2014/main" id="{A0A8447D-EC30-0428-7EC1-CA2DC95D829F}"/>
              </a:ext>
            </a:extLst>
          </p:cNvPr>
          <p:cNvGrpSpPr/>
          <p:nvPr/>
        </p:nvGrpSpPr>
        <p:grpSpPr>
          <a:xfrm>
            <a:off x="208473" y="3739558"/>
            <a:ext cx="9271712" cy="1512351"/>
            <a:chOff x="208473" y="3739558"/>
            <a:chExt cx="9271712" cy="1512351"/>
          </a:xfrm>
        </p:grpSpPr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533D1C93-E766-3230-F4DA-6E2F1BC2E2C5}"/>
                </a:ext>
              </a:extLst>
            </p:cNvPr>
            <p:cNvGrpSpPr/>
            <p:nvPr/>
          </p:nvGrpSpPr>
          <p:grpSpPr>
            <a:xfrm>
              <a:off x="208473" y="3838430"/>
              <a:ext cx="9271712" cy="1413479"/>
              <a:chOff x="208473" y="3838430"/>
              <a:chExt cx="9271712" cy="141347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D92973D-0B18-0CC4-20A3-3A2DB6CD8115}"/>
                  </a:ext>
                </a:extLst>
              </p:cNvPr>
              <p:cNvSpPr/>
              <p:nvPr/>
            </p:nvSpPr>
            <p:spPr>
              <a:xfrm>
                <a:off x="208473" y="3838430"/>
                <a:ext cx="9271712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e-DE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#!genome-build GRCz11</a:t>
                </a:r>
              </a:p>
              <a:p>
                <a:r>
                  <a:rPr lang="de-DE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#!genome-date 2017-05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c</a:t>
                </a:r>
                <a:r>
                  <a:rPr lang="de-DE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tg123  .  Gene  		1500  1500  .  +  .  </a:t>
                </a:r>
                <a:r>
                  <a:rPr lang="en-US" sz="1400" dirty="0" err="1">
                    <a:solidFill>
                      <a:srgbClr val="000000"/>
                    </a:solidFill>
                    <a:latin typeface="Consolas"/>
                    <a:ea typeface="MS PGothic" charset="0"/>
                    <a:cs typeface="Consolas"/>
                  </a:rPr>
                  <a:t>gene_id</a:t>
                </a:r>
                <a:r>
                  <a:rPr lang="de-DE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 gene1; </a:t>
                </a:r>
                <a:r>
                  <a:rPr lang="de-DE" sz="1400" dirty="0" err="1">
                    <a:solidFill>
                      <a:srgbClr val="000000"/>
                    </a:solidFill>
                    <a:latin typeface="Consolas"/>
                    <a:cs typeface="Consolas"/>
                  </a:rPr>
                  <a:t>name</a:t>
                </a:r>
                <a:r>
                  <a:rPr lang="de-DE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 </a:t>
                </a:r>
                <a:r>
                  <a:rPr lang="de-DE" sz="1400" dirty="0" err="1">
                    <a:solidFill>
                      <a:srgbClr val="000000"/>
                    </a:solidFill>
                    <a:latin typeface="Consolas"/>
                    <a:cs typeface="Consolas"/>
                  </a:rPr>
                  <a:t>eden</a:t>
                </a:r>
                <a:r>
                  <a:rPr lang="de-DE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;</a:t>
                </a:r>
              </a:p>
              <a:p>
                <a:r>
                  <a:rPr lang="de-DE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ctg123  . Transcript	1500  1500  .  +  .  </a:t>
                </a:r>
                <a:r>
                  <a:rPr lang="en-US" sz="1400" dirty="0" err="1">
                    <a:solidFill>
                      <a:srgbClr val="000000"/>
                    </a:solidFill>
                    <a:latin typeface="Consolas"/>
                    <a:ea typeface="MS PGothic" charset="0"/>
                    <a:cs typeface="Consolas"/>
                  </a:rPr>
                  <a:t>gene_id</a:t>
                </a:r>
                <a:r>
                  <a:rPr lang="de-DE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 gene1; transcript_id=t1; </a:t>
                </a:r>
                <a:r>
                  <a:rPr lang="de-DE" sz="1400" dirty="0" err="1">
                    <a:solidFill>
                      <a:srgbClr val="000000"/>
                    </a:solidFill>
                    <a:latin typeface="Consolas"/>
                    <a:cs typeface="Consolas"/>
                  </a:rPr>
                  <a:t>name</a:t>
                </a:r>
                <a:r>
                  <a:rPr lang="de-DE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 </a:t>
                </a:r>
                <a:r>
                  <a:rPr lang="de-DE" sz="1400" dirty="0" err="1">
                    <a:solidFill>
                      <a:srgbClr val="000000"/>
                    </a:solidFill>
                    <a:latin typeface="Consolas"/>
                    <a:cs typeface="Consolas"/>
                  </a:rPr>
                  <a:t>eden</a:t>
                </a:r>
                <a:r>
                  <a:rPr lang="de-DE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;</a:t>
                </a:r>
              </a:p>
              <a:p>
                <a:r>
                  <a:rPr lang="de-DE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ctg123  .  exon  		1300  1500  .  +  .  </a:t>
                </a:r>
                <a:r>
                  <a:rPr lang="en-US" sz="1400" dirty="0" err="1">
                    <a:solidFill>
                      <a:srgbClr val="000000"/>
                    </a:solidFill>
                    <a:latin typeface="Consolas"/>
                    <a:ea typeface="MS PGothic" charset="0"/>
                    <a:cs typeface="Consolas"/>
                  </a:rPr>
                  <a:t>gene_id</a:t>
                </a:r>
                <a:r>
                  <a:rPr lang="de-DE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 gene1; transcript_id=t1; </a:t>
                </a:r>
                <a:r>
                  <a:rPr lang="de-DE" sz="1400" dirty="0" err="1">
                    <a:solidFill>
                      <a:srgbClr val="000000"/>
                    </a:solidFill>
                    <a:latin typeface="Consolas"/>
                    <a:cs typeface="Consolas"/>
                  </a:rPr>
                  <a:t>name</a:t>
                </a:r>
                <a:r>
                  <a:rPr lang="de-DE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 </a:t>
                </a:r>
                <a:r>
                  <a:rPr lang="de-DE" sz="1400" dirty="0" err="1">
                    <a:solidFill>
                      <a:srgbClr val="000000"/>
                    </a:solidFill>
                    <a:latin typeface="Consolas"/>
                    <a:cs typeface="Consolas"/>
                  </a:rPr>
                  <a:t>eden</a:t>
                </a:r>
                <a:r>
                  <a:rPr lang="de-DE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;</a:t>
                </a:r>
              </a:p>
              <a:p>
                <a:r>
                  <a:rPr lang="de-DE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ctg123  .  CDS   		1300  1500  .  +  0  gene</a:t>
                </a:r>
                <a:r>
                  <a:rPr lang="en-US" sz="1400" dirty="0">
                    <a:solidFill>
                      <a:srgbClr val="000000"/>
                    </a:solidFill>
                    <a:latin typeface="Consolas"/>
                    <a:ea typeface="MS PGothic" charset="0"/>
                    <a:cs typeface="Consolas"/>
                  </a:rPr>
                  <a:t>_id</a:t>
                </a:r>
                <a:r>
                  <a:rPr lang="de-DE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 gene1; transcript_id=t1; </a:t>
                </a:r>
                <a:r>
                  <a:rPr lang="de-DE" sz="1400" dirty="0" err="1">
                    <a:solidFill>
                      <a:srgbClr val="000000"/>
                    </a:solidFill>
                    <a:latin typeface="Consolas"/>
                    <a:cs typeface="Consolas"/>
                  </a:rPr>
                  <a:t>name</a:t>
                </a:r>
                <a:r>
                  <a:rPr lang="de-DE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 </a:t>
                </a:r>
                <a:r>
                  <a:rPr lang="de-DE" sz="1400" dirty="0" err="1">
                    <a:solidFill>
                      <a:srgbClr val="000000"/>
                    </a:solidFill>
                    <a:latin typeface="Consolas"/>
                    <a:cs typeface="Consolas"/>
                  </a:rPr>
                  <a:t>eden</a:t>
                </a:r>
                <a:r>
                  <a:rPr lang="de-DE" sz="14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;</a:t>
                </a:r>
              </a:p>
            </p:txBody>
          </p:sp>
          <p:sp>
            <p:nvSpPr>
              <p:cNvPr id="7" name="Rounded Rectangle 42">
                <a:extLst>
                  <a:ext uri="{FF2B5EF4-FFF2-40B4-BE49-F238E27FC236}">
                    <a16:creationId xmlns:a16="http://schemas.microsoft.com/office/drawing/2014/main" id="{B6A940BB-7AC3-5D8F-A06A-96D002467CA0}"/>
                  </a:ext>
                </a:extLst>
              </p:cNvPr>
              <p:cNvSpPr/>
              <p:nvPr/>
            </p:nvSpPr>
            <p:spPr>
              <a:xfrm>
                <a:off x="226329" y="4319314"/>
                <a:ext cx="756847" cy="921774"/>
              </a:xfrm>
              <a:prstGeom prst="roundRect">
                <a:avLst/>
              </a:prstGeom>
              <a:solidFill>
                <a:schemeClr val="bg1">
                  <a:lumMod val="85000"/>
                  <a:alpha val="2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ounded Rectangle 43">
                <a:extLst>
                  <a:ext uri="{FF2B5EF4-FFF2-40B4-BE49-F238E27FC236}">
                    <a16:creationId xmlns:a16="http://schemas.microsoft.com/office/drawing/2014/main" id="{2BCA8264-EEA0-A102-54B3-BF817E198F12}"/>
                  </a:ext>
                </a:extLst>
              </p:cNvPr>
              <p:cNvSpPr/>
              <p:nvPr/>
            </p:nvSpPr>
            <p:spPr>
              <a:xfrm>
                <a:off x="226329" y="3907639"/>
                <a:ext cx="2304910" cy="393916"/>
              </a:xfrm>
              <a:prstGeom prst="roundRect">
                <a:avLst/>
              </a:prstGeom>
              <a:solidFill>
                <a:schemeClr val="accent2">
                  <a:alpha val="20000"/>
                </a:schemeClr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ounded Rectangle 44">
                <a:extLst>
                  <a:ext uri="{FF2B5EF4-FFF2-40B4-BE49-F238E27FC236}">
                    <a16:creationId xmlns:a16="http://schemas.microsoft.com/office/drawing/2014/main" id="{A6CEA3A1-71CB-07D6-C1BE-6687B3984EBB}"/>
                  </a:ext>
                </a:extLst>
              </p:cNvPr>
              <p:cNvSpPr/>
              <p:nvPr/>
            </p:nvSpPr>
            <p:spPr>
              <a:xfrm>
                <a:off x="983177" y="4315682"/>
                <a:ext cx="266421" cy="922639"/>
              </a:xfrm>
              <a:prstGeom prst="roundRect">
                <a:avLst/>
              </a:prstGeom>
              <a:solidFill>
                <a:srgbClr val="FFFF00">
                  <a:alpha val="20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ounded Rectangle 45">
                <a:extLst>
                  <a:ext uri="{FF2B5EF4-FFF2-40B4-BE49-F238E27FC236}">
                    <a16:creationId xmlns:a16="http://schemas.microsoft.com/office/drawing/2014/main" id="{E24D6938-9511-4194-AF00-F7448304020B}"/>
                  </a:ext>
                </a:extLst>
              </p:cNvPr>
              <p:cNvSpPr/>
              <p:nvPr/>
            </p:nvSpPr>
            <p:spPr>
              <a:xfrm>
                <a:off x="1249599" y="4308018"/>
                <a:ext cx="1261594" cy="924463"/>
              </a:xfrm>
              <a:prstGeom prst="roundRect">
                <a:avLst/>
              </a:prstGeom>
              <a:solidFill>
                <a:schemeClr val="bg1">
                  <a:lumMod val="85000"/>
                  <a:alpha val="2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ounded Rectangle 46">
                <a:extLst>
                  <a:ext uri="{FF2B5EF4-FFF2-40B4-BE49-F238E27FC236}">
                    <a16:creationId xmlns:a16="http://schemas.microsoft.com/office/drawing/2014/main" id="{FED9550F-6A7D-35F5-950F-B503C9000AF1}"/>
                  </a:ext>
                </a:extLst>
              </p:cNvPr>
              <p:cNvSpPr/>
              <p:nvPr/>
            </p:nvSpPr>
            <p:spPr>
              <a:xfrm>
                <a:off x="2511193" y="4319314"/>
                <a:ext cx="557685" cy="921774"/>
              </a:xfrm>
              <a:prstGeom prst="roundRect">
                <a:avLst/>
              </a:prstGeom>
              <a:solidFill>
                <a:srgbClr val="FFFF00">
                  <a:alpha val="20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ounded Rectangle 47">
                <a:extLst>
                  <a:ext uri="{FF2B5EF4-FFF2-40B4-BE49-F238E27FC236}">
                    <a16:creationId xmlns:a16="http://schemas.microsoft.com/office/drawing/2014/main" id="{20511076-9AA2-71EB-4AAD-008E58DF775D}"/>
                  </a:ext>
                </a:extLst>
              </p:cNvPr>
              <p:cNvSpPr/>
              <p:nvPr/>
            </p:nvSpPr>
            <p:spPr>
              <a:xfrm>
                <a:off x="3657026" y="4319314"/>
                <a:ext cx="294829" cy="921774"/>
              </a:xfrm>
              <a:prstGeom prst="roundRect">
                <a:avLst/>
              </a:prstGeom>
              <a:solidFill>
                <a:srgbClr val="FFFF00">
                  <a:alpha val="20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ounded Rectangle 48">
                <a:extLst>
                  <a:ext uri="{FF2B5EF4-FFF2-40B4-BE49-F238E27FC236}">
                    <a16:creationId xmlns:a16="http://schemas.microsoft.com/office/drawing/2014/main" id="{5B72E731-24BA-9890-67AE-4B3432D28293}"/>
                  </a:ext>
                </a:extLst>
              </p:cNvPr>
              <p:cNvSpPr/>
              <p:nvPr/>
            </p:nvSpPr>
            <p:spPr>
              <a:xfrm>
                <a:off x="3068878" y="4319314"/>
                <a:ext cx="588147" cy="921774"/>
              </a:xfrm>
              <a:prstGeom prst="roundRect">
                <a:avLst/>
              </a:prstGeom>
              <a:solidFill>
                <a:schemeClr val="bg1">
                  <a:lumMod val="85000"/>
                  <a:alpha val="2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ounded Rectangle 49">
                <a:extLst>
                  <a:ext uri="{FF2B5EF4-FFF2-40B4-BE49-F238E27FC236}">
                    <a16:creationId xmlns:a16="http://schemas.microsoft.com/office/drawing/2014/main" id="{903D14EA-A029-ACC5-3680-EC4D4FDF9DD6}"/>
                  </a:ext>
                </a:extLst>
              </p:cNvPr>
              <p:cNvSpPr/>
              <p:nvPr/>
            </p:nvSpPr>
            <p:spPr>
              <a:xfrm>
                <a:off x="3951855" y="4308017"/>
                <a:ext cx="292258" cy="924463"/>
              </a:xfrm>
              <a:prstGeom prst="roundRect">
                <a:avLst/>
              </a:prstGeom>
              <a:solidFill>
                <a:schemeClr val="bg1">
                  <a:lumMod val="85000"/>
                  <a:alpha val="2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ounded Rectangle 50">
                <a:extLst>
                  <a:ext uri="{FF2B5EF4-FFF2-40B4-BE49-F238E27FC236}">
                    <a16:creationId xmlns:a16="http://schemas.microsoft.com/office/drawing/2014/main" id="{771418A3-DB9A-D0FD-94CB-9D1347B990CA}"/>
                  </a:ext>
                </a:extLst>
              </p:cNvPr>
              <p:cNvSpPr/>
              <p:nvPr/>
            </p:nvSpPr>
            <p:spPr>
              <a:xfrm>
                <a:off x="4244112" y="4301555"/>
                <a:ext cx="288514" cy="926002"/>
              </a:xfrm>
              <a:prstGeom prst="roundRect">
                <a:avLst/>
              </a:prstGeom>
              <a:solidFill>
                <a:srgbClr val="FFFF00">
                  <a:alpha val="20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0CE3544-F8EF-7844-4756-06B24D05772F}"/>
                  </a:ext>
                </a:extLst>
              </p:cNvPr>
              <p:cNvSpPr/>
              <p:nvPr/>
            </p:nvSpPr>
            <p:spPr>
              <a:xfrm>
                <a:off x="216020" y="4289555"/>
                <a:ext cx="8752834" cy="937844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sz="1350"/>
              </a:p>
            </p:txBody>
          </p:sp>
          <p:sp>
            <p:nvSpPr>
              <p:cNvPr id="36" name="Rounded Rectangle 42">
                <a:extLst>
                  <a:ext uri="{FF2B5EF4-FFF2-40B4-BE49-F238E27FC236}">
                    <a16:creationId xmlns:a16="http://schemas.microsoft.com/office/drawing/2014/main" id="{E087D086-00A0-24BF-1676-8EBE332CB7C0}"/>
                  </a:ext>
                </a:extLst>
              </p:cNvPr>
              <p:cNvSpPr/>
              <p:nvPr/>
            </p:nvSpPr>
            <p:spPr>
              <a:xfrm>
                <a:off x="4532627" y="4323079"/>
                <a:ext cx="4401221" cy="928830"/>
              </a:xfrm>
              <a:prstGeom prst="roundRect">
                <a:avLst>
                  <a:gd name="adj" fmla="val 4590"/>
                </a:avLst>
              </a:prstGeom>
              <a:solidFill>
                <a:schemeClr val="bg1">
                  <a:lumMod val="85000"/>
                  <a:alpha val="2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Rounded Rectangle 74">
                <a:extLst>
                  <a:ext uri="{FF2B5EF4-FFF2-40B4-BE49-F238E27FC236}">
                    <a16:creationId xmlns:a16="http://schemas.microsoft.com/office/drawing/2014/main" id="{1D0E64C8-C100-36D8-6A09-C2EB6E725970}"/>
                  </a:ext>
                </a:extLst>
              </p:cNvPr>
              <p:cNvSpPr/>
              <p:nvPr/>
            </p:nvSpPr>
            <p:spPr>
              <a:xfrm>
                <a:off x="248902" y="4339569"/>
                <a:ext cx="6855985" cy="195991"/>
              </a:xfrm>
              <a:prstGeom prst="roundRect">
                <a:avLst/>
              </a:prstGeom>
              <a:noFill/>
              <a:ln w="28575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81" name="ZoneTexte 80">
              <a:extLst>
                <a:ext uri="{FF2B5EF4-FFF2-40B4-BE49-F238E27FC236}">
                  <a16:creationId xmlns:a16="http://schemas.microsoft.com/office/drawing/2014/main" id="{606A9F3C-F1D5-A94F-CA0A-49BA88C1DD67}"/>
                </a:ext>
              </a:extLst>
            </p:cNvPr>
            <p:cNvSpPr txBox="1"/>
            <p:nvPr/>
          </p:nvSpPr>
          <p:spPr>
            <a:xfrm>
              <a:off x="6051718" y="3739558"/>
              <a:ext cx="92970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F79646"/>
                  </a:solidFill>
                  <a:latin typeface="Calibri" charset="0"/>
                  <a:ea typeface="MS PGothic" charset="0"/>
                </a:rPr>
                <a:t>GTF</a:t>
              </a:r>
            </a:p>
          </p:txBody>
        </p: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A45EDBB9-5F33-63AD-3AA2-AF907DC258C2}"/>
              </a:ext>
            </a:extLst>
          </p:cNvPr>
          <p:cNvSpPr/>
          <p:nvPr/>
        </p:nvSpPr>
        <p:spPr>
          <a:xfrm>
            <a:off x="6148232" y="618254"/>
            <a:ext cx="817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sv-SE" sz="2400" b="1" dirty="0">
                <a:solidFill>
                  <a:srgbClr val="F79646"/>
                </a:solidFill>
                <a:latin typeface="Calibri" charset="0"/>
                <a:ea typeface="MS PGothic" charset="0"/>
              </a:rPr>
              <a:t>GFF3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F57CEE5C-0E58-AF06-EA40-4BF1D9866936}"/>
              </a:ext>
            </a:extLst>
          </p:cNvPr>
          <p:cNvSpPr txBox="1"/>
          <p:nvPr/>
        </p:nvSpPr>
        <p:spPr>
          <a:xfrm>
            <a:off x="6675574" y="5697888"/>
            <a:ext cx="5382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GTF and GFF formats are similar but very different…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767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9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9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900" decel="100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900" decel="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71" grpId="0"/>
      <p:bldP spid="72" grpId="0"/>
      <p:bldP spid="73" grpId="0"/>
      <p:bldP spid="75" grpId="0" animBg="1"/>
      <p:bldP spid="76" grpId="0" animBg="1"/>
      <p:bldP spid="77" grpId="0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GFF/GTF interoperability issues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70178F-D62F-60D9-32E7-52D7FB6477AA}"/>
              </a:ext>
            </a:extLst>
          </p:cNvPr>
          <p:cNvSpPr/>
          <p:nvPr/>
        </p:nvSpPr>
        <p:spPr>
          <a:xfrm>
            <a:off x="2766126" y="2372705"/>
            <a:ext cx="46036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c</a:t>
            </a:r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tg123  .  </a:t>
            </a:r>
            <a:r>
              <a:rPr lang="de-DE" sz="1200" dirty="0" err="1">
                <a:solidFill>
                  <a:srgbClr val="000000"/>
                </a:solidFill>
                <a:latin typeface="Consolas"/>
                <a:cs typeface="Consolas"/>
              </a:rPr>
              <a:t>gene</a:t>
            </a:r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  1000  2000  .  +  .  </a:t>
            </a:r>
            <a:r>
              <a:rPr lang="de-DE" sz="1200" dirty="0">
                <a:solidFill>
                  <a:srgbClr val="00B0F0"/>
                </a:solidFill>
                <a:latin typeface="Consolas"/>
                <a:cs typeface="Consolas"/>
              </a:rPr>
              <a:t>ID</a:t>
            </a:r>
            <a:r>
              <a:rPr lang="de-DE" sz="1200" b="1" dirty="0">
                <a:latin typeface="Consolas"/>
                <a:cs typeface="Consolas"/>
              </a:rPr>
              <a:t>=</a:t>
            </a:r>
            <a:r>
              <a:rPr lang="de-DE" sz="1200" b="1" dirty="0">
                <a:solidFill>
                  <a:srgbClr val="00B050"/>
                </a:solidFill>
                <a:latin typeface="Consolas"/>
                <a:cs typeface="Consolas"/>
              </a:rPr>
              <a:t>gene1</a:t>
            </a:r>
            <a:endParaRPr lang="de-DE" sz="1200" dirty="0">
              <a:solidFill>
                <a:srgbClr val="000000"/>
              </a:solidFill>
              <a:latin typeface="Consolas"/>
              <a:cs typeface="Consolas"/>
            </a:endParaRPr>
          </a:p>
        </p:txBody>
      </p:sp>
      <p:sp>
        <p:nvSpPr>
          <p:cNvPr id="5" name="Rounded Rectangle 42">
            <a:extLst>
              <a:ext uri="{FF2B5EF4-FFF2-40B4-BE49-F238E27FC236}">
                <a16:creationId xmlns:a16="http://schemas.microsoft.com/office/drawing/2014/main" id="{09618241-5BB6-CED1-1A96-B5F5A222B2D9}"/>
              </a:ext>
            </a:extLst>
          </p:cNvPr>
          <p:cNvSpPr/>
          <p:nvPr/>
        </p:nvSpPr>
        <p:spPr>
          <a:xfrm>
            <a:off x="2821327" y="4814529"/>
            <a:ext cx="650558" cy="829315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ounded Rectangle 44">
            <a:extLst>
              <a:ext uri="{FF2B5EF4-FFF2-40B4-BE49-F238E27FC236}">
                <a16:creationId xmlns:a16="http://schemas.microsoft.com/office/drawing/2014/main" id="{7771A7F4-4E03-D194-5CBF-1751836C5F6B}"/>
              </a:ext>
            </a:extLst>
          </p:cNvPr>
          <p:cNvSpPr/>
          <p:nvPr/>
        </p:nvSpPr>
        <p:spPr>
          <a:xfrm>
            <a:off x="3482636" y="4823381"/>
            <a:ext cx="229451" cy="829315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ounded Rectangle 45">
            <a:extLst>
              <a:ext uri="{FF2B5EF4-FFF2-40B4-BE49-F238E27FC236}">
                <a16:creationId xmlns:a16="http://schemas.microsoft.com/office/drawing/2014/main" id="{7AB39490-39E1-E4F1-433F-722B64E190D6}"/>
              </a:ext>
            </a:extLst>
          </p:cNvPr>
          <p:cNvSpPr/>
          <p:nvPr/>
        </p:nvSpPr>
        <p:spPr>
          <a:xfrm>
            <a:off x="3712084" y="4819376"/>
            <a:ext cx="551432" cy="829315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ounded Rectangle 46">
            <a:extLst>
              <a:ext uri="{FF2B5EF4-FFF2-40B4-BE49-F238E27FC236}">
                <a16:creationId xmlns:a16="http://schemas.microsoft.com/office/drawing/2014/main" id="{C79FA8C8-C827-FA21-78FA-EDC0DC8ACF24}"/>
              </a:ext>
            </a:extLst>
          </p:cNvPr>
          <p:cNvSpPr/>
          <p:nvPr/>
        </p:nvSpPr>
        <p:spPr>
          <a:xfrm>
            <a:off x="4270679" y="4817651"/>
            <a:ext cx="469927" cy="830561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ounded Rectangle 47">
            <a:extLst>
              <a:ext uri="{FF2B5EF4-FFF2-40B4-BE49-F238E27FC236}">
                <a16:creationId xmlns:a16="http://schemas.microsoft.com/office/drawing/2014/main" id="{60201D46-039D-9CE3-611D-5D280A454E99}"/>
              </a:ext>
            </a:extLst>
          </p:cNvPr>
          <p:cNvSpPr/>
          <p:nvPr/>
        </p:nvSpPr>
        <p:spPr>
          <a:xfrm>
            <a:off x="5238330" y="4827848"/>
            <a:ext cx="261395" cy="829315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ounded Rectangle 48">
            <a:extLst>
              <a:ext uri="{FF2B5EF4-FFF2-40B4-BE49-F238E27FC236}">
                <a16:creationId xmlns:a16="http://schemas.microsoft.com/office/drawing/2014/main" id="{277D3CE7-DF12-12BE-C88A-138BE801F6F4}"/>
              </a:ext>
            </a:extLst>
          </p:cNvPr>
          <p:cNvSpPr/>
          <p:nvPr/>
        </p:nvSpPr>
        <p:spPr>
          <a:xfrm>
            <a:off x="4740604" y="4827848"/>
            <a:ext cx="490562" cy="829315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ounded Rectangle 49">
            <a:extLst>
              <a:ext uri="{FF2B5EF4-FFF2-40B4-BE49-F238E27FC236}">
                <a16:creationId xmlns:a16="http://schemas.microsoft.com/office/drawing/2014/main" id="{6BFC8F85-9671-AF7C-091A-2EF666C32A4F}"/>
              </a:ext>
            </a:extLst>
          </p:cNvPr>
          <p:cNvSpPr/>
          <p:nvPr/>
        </p:nvSpPr>
        <p:spPr>
          <a:xfrm>
            <a:off x="5499724" y="4819376"/>
            <a:ext cx="232747" cy="829315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ounded Rectangle 50">
            <a:extLst>
              <a:ext uri="{FF2B5EF4-FFF2-40B4-BE49-F238E27FC236}">
                <a16:creationId xmlns:a16="http://schemas.microsoft.com/office/drawing/2014/main" id="{CA35F03B-BADA-9895-7E04-E2D549209E35}"/>
              </a:ext>
            </a:extLst>
          </p:cNvPr>
          <p:cNvSpPr/>
          <p:nvPr/>
        </p:nvSpPr>
        <p:spPr>
          <a:xfrm>
            <a:off x="5739628" y="4814529"/>
            <a:ext cx="263184" cy="829315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345B04-F451-99DE-ECC4-D057A44FF232}"/>
              </a:ext>
            </a:extLst>
          </p:cNvPr>
          <p:cNvSpPr/>
          <p:nvPr/>
        </p:nvSpPr>
        <p:spPr>
          <a:xfrm>
            <a:off x="2806544" y="4769465"/>
            <a:ext cx="69537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de-DE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tg123  .  </a:t>
            </a:r>
            <a:r>
              <a:rPr lang="de-DE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</a:t>
            </a:r>
            <a:r>
              <a:rPr lang="de-DE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1000  2000  .  +  .  </a:t>
            </a:r>
            <a:r>
              <a:rPr lang="de-DE" sz="12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gene_id</a:t>
            </a:r>
            <a:r>
              <a:rPr lang="de-DE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g1</a:t>
            </a:r>
            <a:r>
              <a:rPr lang="de-DE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4" name="Rounded Rectangle 40">
            <a:extLst>
              <a:ext uri="{FF2B5EF4-FFF2-40B4-BE49-F238E27FC236}">
                <a16:creationId xmlns:a16="http://schemas.microsoft.com/office/drawing/2014/main" id="{6249D2C3-3AE3-AD38-B2CC-C41723A82F57}"/>
              </a:ext>
            </a:extLst>
          </p:cNvPr>
          <p:cNvSpPr/>
          <p:nvPr/>
        </p:nvSpPr>
        <p:spPr>
          <a:xfrm>
            <a:off x="2775573" y="2364236"/>
            <a:ext cx="650558" cy="868154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ounded Rectangle 52">
            <a:extLst>
              <a:ext uri="{FF2B5EF4-FFF2-40B4-BE49-F238E27FC236}">
                <a16:creationId xmlns:a16="http://schemas.microsoft.com/office/drawing/2014/main" id="{862BB4C6-475B-F5AC-F8EE-CA927DF61C6D}"/>
              </a:ext>
            </a:extLst>
          </p:cNvPr>
          <p:cNvSpPr/>
          <p:nvPr/>
        </p:nvSpPr>
        <p:spPr>
          <a:xfrm>
            <a:off x="3436882" y="2373088"/>
            <a:ext cx="229451" cy="868154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ounded Rectangle 73">
            <a:extLst>
              <a:ext uri="{FF2B5EF4-FFF2-40B4-BE49-F238E27FC236}">
                <a16:creationId xmlns:a16="http://schemas.microsoft.com/office/drawing/2014/main" id="{7A3F8745-EB14-23FE-A057-DE67D2E1791B}"/>
              </a:ext>
            </a:extLst>
          </p:cNvPr>
          <p:cNvSpPr/>
          <p:nvPr/>
        </p:nvSpPr>
        <p:spPr>
          <a:xfrm>
            <a:off x="3666331" y="2369083"/>
            <a:ext cx="551432" cy="868154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Rounded Rectangle 75">
            <a:extLst>
              <a:ext uri="{FF2B5EF4-FFF2-40B4-BE49-F238E27FC236}">
                <a16:creationId xmlns:a16="http://schemas.microsoft.com/office/drawing/2014/main" id="{2B130D9E-7B2E-43D7-1BB9-5F99F3A588C2}"/>
              </a:ext>
            </a:extLst>
          </p:cNvPr>
          <p:cNvSpPr/>
          <p:nvPr/>
        </p:nvSpPr>
        <p:spPr>
          <a:xfrm>
            <a:off x="4224927" y="2367357"/>
            <a:ext cx="469927" cy="869459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ounded Rectangle 76">
            <a:extLst>
              <a:ext uri="{FF2B5EF4-FFF2-40B4-BE49-F238E27FC236}">
                <a16:creationId xmlns:a16="http://schemas.microsoft.com/office/drawing/2014/main" id="{859D6A79-22C5-759B-BC12-E60F0E1BC932}"/>
              </a:ext>
            </a:extLst>
          </p:cNvPr>
          <p:cNvSpPr/>
          <p:nvPr/>
        </p:nvSpPr>
        <p:spPr>
          <a:xfrm>
            <a:off x="5192575" y="2377555"/>
            <a:ext cx="261395" cy="868154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Rounded Rectangle 77">
            <a:extLst>
              <a:ext uri="{FF2B5EF4-FFF2-40B4-BE49-F238E27FC236}">
                <a16:creationId xmlns:a16="http://schemas.microsoft.com/office/drawing/2014/main" id="{43A6E4E8-05D8-F409-7720-CE8F4430B4F2}"/>
              </a:ext>
            </a:extLst>
          </p:cNvPr>
          <p:cNvSpPr/>
          <p:nvPr/>
        </p:nvSpPr>
        <p:spPr>
          <a:xfrm>
            <a:off x="4694850" y="2377555"/>
            <a:ext cx="490562" cy="868154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Rounded Rectangle 79">
            <a:extLst>
              <a:ext uri="{FF2B5EF4-FFF2-40B4-BE49-F238E27FC236}">
                <a16:creationId xmlns:a16="http://schemas.microsoft.com/office/drawing/2014/main" id="{877F6F23-4796-DE7D-9959-1B489861E464}"/>
              </a:ext>
            </a:extLst>
          </p:cNvPr>
          <p:cNvSpPr/>
          <p:nvPr/>
        </p:nvSpPr>
        <p:spPr>
          <a:xfrm>
            <a:off x="5453970" y="2369083"/>
            <a:ext cx="232747" cy="868154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Rounded Rectangle 80">
            <a:extLst>
              <a:ext uri="{FF2B5EF4-FFF2-40B4-BE49-F238E27FC236}">
                <a16:creationId xmlns:a16="http://schemas.microsoft.com/office/drawing/2014/main" id="{77B3184D-E857-124E-AFF0-E317E3F199F5}"/>
              </a:ext>
            </a:extLst>
          </p:cNvPr>
          <p:cNvSpPr/>
          <p:nvPr/>
        </p:nvSpPr>
        <p:spPr>
          <a:xfrm>
            <a:off x="5693875" y="2364236"/>
            <a:ext cx="263184" cy="868154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CF2436-0957-B581-7E7B-9A1AAE4FEFA6}"/>
              </a:ext>
            </a:extLst>
          </p:cNvPr>
          <p:cNvSpPr/>
          <p:nvPr/>
        </p:nvSpPr>
        <p:spPr>
          <a:xfrm>
            <a:off x="2775574" y="2730066"/>
            <a:ext cx="51507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ctg123  .  </a:t>
            </a:r>
            <a:r>
              <a:rPr lang="de-DE" sz="1200" dirty="0" err="1">
                <a:solidFill>
                  <a:srgbClr val="000000"/>
                </a:solidFill>
                <a:latin typeface="Consolas"/>
                <a:cs typeface="Consolas"/>
              </a:rPr>
              <a:t>exon</a:t>
            </a:r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  1000  2000  .  +  .  </a:t>
            </a:r>
            <a:r>
              <a:rPr lang="de-DE" sz="1200" dirty="0">
                <a:solidFill>
                  <a:srgbClr val="00B0F0"/>
                </a:solidFill>
                <a:latin typeface="Consolas"/>
                <a:cs typeface="Consolas"/>
              </a:rPr>
              <a:t>ID</a:t>
            </a:r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=exon1;</a:t>
            </a:r>
            <a:r>
              <a:rPr lang="de-DE" sz="1200" b="1" dirty="0">
                <a:solidFill>
                  <a:srgbClr val="7030A0"/>
                </a:solidFill>
                <a:latin typeface="Consolas"/>
                <a:cs typeface="Consolas"/>
              </a:rPr>
              <a:t>Parent</a:t>
            </a:r>
            <a:r>
              <a:rPr lang="de-DE" sz="1200" b="1" dirty="0">
                <a:latin typeface="Consolas"/>
                <a:cs typeface="Consolas"/>
              </a:rPr>
              <a:t>=</a:t>
            </a:r>
            <a:r>
              <a:rPr lang="de-DE" sz="12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mRNA1</a:t>
            </a:r>
          </a:p>
          <a:p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ctg123  .  CDS   1000  2000  .  +  0  </a:t>
            </a:r>
            <a:r>
              <a:rPr lang="de-DE" sz="1200" dirty="0">
                <a:solidFill>
                  <a:srgbClr val="00B0F0"/>
                </a:solidFill>
                <a:latin typeface="Consolas"/>
                <a:cs typeface="Consolas"/>
              </a:rPr>
              <a:t>ID</a:t>
            </a:r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=cds01;</a:t>
            </a:r>
            <a:r>
              <a:rPr lang="de-DE" sz="1200" b="1" dirty="0">
                <a:solidFill>
                  <a:srgbClr val="7030A0"/>
                </a:solidFill>
                <a:latin typeface="Consolas"/>
                <a:cs typeface="Consolas"/>
              </a:rPr>
              <a:t>Parent</a:t>
            </a:r>
            <a:r>
              <a:rPr lang="de-DE" sz="1200" b="1" dirty="0">
                <a:latin typeface="Consolas"/>
                <a:cs typeface="Consolas"/>
              </a:rPr>
              <a:t>=</a:t>
            </a:r>
            <a:r>
              <a:rPr lang="de-DE" sz="12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mRNA1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FB59BA-8186-A052-E594-1EEAAACD3FB1}"/>
              </a:ext>
            </a:extLst>
          </p:cNvPr>
          <p:cNvSpPr/>
          <p:nvPr/>
        </p:nvSpPr>
        <p:spPr>
          <a:xfrm>
            <a:off x="2766124" y="2554700"/>
            <a:ext cx="54323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ctg123  .  mRNA  1000  2000  .  +  .  </a:t>
            </a:r>
            <a:r>
              <a:rPr lang="de-DE" sz="1200" dirty="0">
                <a:solidFill>
                  <a:srgbClr val="00B0F0"/>
                </a:solidFill>
                <a:latin typeface="Consolas"/>
                <a:cs typeface="Consolas"/>
              </a:rPr>
              <a:t>ID</a:t>
            </a:r>
            <a:r>
              <a:rPr lang="de-DE" sz="1200" b="1" dirty="0">
                <a:latin typeface="Consolas"/>
                <a:cs typeface="Consolas"/>
              </a:rPr>
              <a:t>=</a:t>
            </a:r>
            <a:r>
              <a:rPr lang="de-DE" sz="12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mRNA1</a:t>
            </a:r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  <a:r>
              <a:rPr lang="de-DE" sz="1200" b="1" dirty="0">
                <a:solidFill>
                  <a:srgbClr val="7030A0"/>
                </a:solidFill>
                <a:latin typeface="Consolas"/>
                <a:cs typeface="Consolas"/>
              </a:rPr>
              <a:t>Parent</a:t>
            </a:r>
            <a:r>
              <a:rPr lang="de-DE" sz="1200" b="1" dirty="0">
                <a:latin typeface="Consolas"/>
                <a:cs typeface="Consolas"/>
              </a:rPr>
              <a:t>=</a:t>
            </a:r>
            <a:r>
              <a:rPr lang="de-DE" sz="1200" b="1" dirty="0">
                <a:solidFill>
                  <a:srgbClr val="00B050"/>
                </a:solidFill>
                <a:latin typeface="Consolas"/>
                <a:cs typeface="Consolas"/>
              </a:rPr>
              <a:t>gene1</a:t>
            </a:r>
          </a:p>
        </p:txBody>
      </p:sp>
      <p:sp>
        <p:nvSpPr>
          <p:cNvPr id="24" name="Right Brace 6">
            <a:extLst>
              <a:ext uri="{FF2B5EF4-FFF2-40B4-BE49-F238E27FC236}">
                <a16:creationId xmlns:a16="http://schemas.microsoft.com/office/drawing/2014/main" id="{52A35FCE-A665-C655-B7D8-FB63AFC002B6}"/>
              </a:ext>
            </a:extLst>
          </p:cNvPr>
          <p:cNvSpPr/>
          <p:nvPr/>
        </p:nvSpPr>
        <p:spPr>
          <a:xfrm>
            <a:off x="7857882" y="2780453"/>
            <a:ext cx="136175" cy="45636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 sz="1350"/>
          </a:p>
        </p:txBody>
      </p:sp>
      <p:sp>
        <p:nvSpPr>
          <p:cNvPr id="25" name="Right Brace 81">
            <a:extLst>
              <a:ext uri="{FF2B5EF4-FFF2-40B4-BE49-F238E27FC236}">
                <a16:creationId xmlns:a16="http://schemas.microsoft.com/office/drawing/2014/main" id="{5F64D7DC-DB0D-0717-9ED8-F1BAE05E9056}"/>
              </a:ext>
            </a:extLst>
          </p:cNvPr>
          <p:cNvSpPr/>
          <p:nvPr/>
        </p:nvSpPr>
        <p:spPr>
          <a:xfrm>
            <a:off x="7862019" y="2600478"/>
            <a:ext cx="118446" cy="18341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 sz="1350"/>
          </a:p>
        </p:txBody>
      </p:sp>
      <p:sp>
        <p:nvSpPr>
          <p:cNvPr id="26" name="Right Brace 84">
            <a:extLst>
              <a:ext uri="{FF2B5EF4-FFF2-40B4-BE49-F238E27FC236}">
                <a16:creationId xmlns:a16="http://schemas.microsoft.com/office/drawing/2014/main" id="{CCEB3063-AD2D-FDEA-2D46-3E55F9E2DABA}"/>
              </a:ext>
            </a:extLst>
          </p:cNvPr>
          <p:cNvSpPr/>
          <p:nvPr/>
        </p:nvSpPr>
        <p:spPr>
          <a:xfrm>
            <a:off x="7862019" y="2410355"/>
            <a:ext cx="118446" cy="18341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 sz="1350"/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602B7F88-89B8-1805-7DC4-C09E74C7FF83}"/>
              </a:ext>
            </a:extLst>
          </p:cNvPr>
          <p:cNvSpPr txBox="1"/>
          <p:nvPr/>
        </p:nvSpPr>
        <p:spPr>
          <a:xfrm>
            <a:off x="8007650" y="2840558"/>
            <a:ext cx="68541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350"/>
              <a:t>Level3</a:t>
            </a:r>
          </a:p>
        </p:txBody>
      </p:sp>
      <p:sp>
        <p:nvSpPr>
          <p:cNvPr id="28" name="TextBox 85">
            <a:extLst>
              <a:ext uri="{FF2B5EF4-FFF2-40B4-BE49-F238E27FC236}">
                <a16:creationId xmlns:a16="http://schemas.microsoft.com/office/drawing/2014/main" id="{3B18E811-D272-7284-EEB2-EE264AF32E92}"/>
              </a:ext>
            </a:extLst>
          </p:cNvPr>
          <p:cNvSpPr txBox="1"/>
          <p:nvPr/>
        </p:nvSpPr>
        <p:spPr>
          <a:xfrm>
            <a:off x="7994058" y="2545725"/>
            <a:ext cx="63547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350"/>
              <a:t>Level2</a:t>
            </a:r>
          </a:p>
        </p:txBody>
      </p:sp>
      <p:sp>
        <p:nvSpPr>
          <p:cNvPr id="29" name="TextBox 86">
            <a:extLst>
              <a:ext uri="{FF2B5EF4-FFF2-40B4-BE49-F238E27FC236}">
                <a16:creationId xmlns:a16="http://schemas.microsoft.com/office/drawing/2014/main" id="{4ADA6707-BCAB-6F42-6D9E-01C24D44ACF8}"/>
              </a:ext>
            </a:extLst>
          </p:cNvPr>
          <p:cNvSpPr txBox="1"/>
          <p:nvPr/>
        </p:nvSpPr>
        <p:spPr>
          <a:xfrm>
            <a:off x="7990860" y="2350881"/>
            <a:ext cx="67758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350"/>
              <a:t>Level1</a:t>
            </a:r>
          </a:p>
        </p:txBody>
      </p:sp>
      <p:sp>
        <p:nvSpPr>
          <p:cNvPr id="30" name="Right Brace 87">
            <a:extLst>
              <a:ext uri="{FF2B5EF4-FFF2-40B4-BE49-F238E27FC236}">
                <a16:creationId xmlns:a16="http://schemas.microsoft.com/office/drawing/2014/main" id="{4BCFC5C1-ED05-BEA6-D58E-C51363E4CB66}"/>
              </a:ext>
            </a:extLst>
          </p:cNvPr>
          <p:cNvSpPr/>
          <p:nvPr/>
        </p:nvSpPr>
        <p:spPr>
          <a:xfrm>
            <a:off x="8618679" y="5244097"/>
            <a:ext cx="118446" cy="40411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 sz="1350"/>
          </a:p>
        </p:txBody>
      </p:sp>
      <p:sp>
        <p:nvSpPr>
          <p:cNvPr id="31" name="Right Brace 88">
            <a:extLst>
              <a:ext uri="{FF2B5EF4-FFF2-40B4-BE49-F238E27FC236}">
                <a16:creationId xmlns:a16="http://schemas.microsoft.com/office/drawing/2014/main" id="{E6F9C6FA-F94B-E91E-3D0C-67633D90AFA2}"/>
              </a:ext>
            </a:extLst>
          </p:cNvPr>
          <p:cNvSpPr/>
          <p:nvPr/>
        </p:nvSpPr>
        <p:spPr>
          <a:xfrm>
            <a:off x="8622816" y="5064121"/>
            <a:ext cx="118446" cy="18341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 sz="1350"/>
          </a:p>
        </p:txBody>
      </p:sp>
      <p:sp>
        <p:nvSpPr>
          <p:cNvPr id="32" name="Right Brace 89">
            <a:extLst>
              <a:ext uri="{FF2B5EF4-FFF2-40B4-BE49-F238E27FC236}">
                <a16:creationId xmlns:a16="http://schemas.microsoft.com/office/drawing/2014/main" id="{FA14E656-F22C-F06A-A8C5-DB90938795BE}"/>
              </a:ext>
            </a:extLst>
          </p:cNvPr>
          <p:cNvSpPr/>
          <p:nvPr/>
        </p:nvSpPr>
        <p:spPr>
          <a:xfrm>
            <a:off x="8622816" y="4873997"/>
            <a:ext cx="118446" cy="18341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 sz="1350"/>
          </a:p>
        </p:txBody>
      </p:sp>
      <p:sp>
        <p:nvSpPr>
          <p:cNvPr id="33" name="TextBox 90">
            <a:extLst>
              <a:ext uri="{FF2B5EF4-FFF2-40B4-BE49-F238E27FC236}">
                <a16:creationId xmlns:a16="http://schemas.microsoft.com/office/drawing/2014/main" id="{7D71EF50-C0A3-BDCF-A2D4-D13E2B246554}"/>
              </a:ext>
            </a:extLst>
          </p:cNvPr>
          <p:cNvSpPr txBox="1"/>
          <p:nvPr/>
        </p:nvSpPr>
        <p:spPr>
          <a:xfrm>
            <a:off x="8765604" y="5274516"/>
            <a:ext cx="66130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350"/>
              <a:t>Level3</a:t>
            </a:r>
          </a:p>
        </p:txBody>
      </p:sp>
      <p:sp>
        <p:nvSpPr>
          <p:cNvPr id="34" name="TextBox 91">
            <a:extLst>
              <a:ext uri="{FF2B5EF4-FFF2-40B4-BE49-F238E27FC236}">
                <a16:creationId xmlns:a16="http://schemas.microsoft.com/office/drawing/2014/main" id="{F5452072-B67D-B67A-CD86-E84DC4998262}"/>
              </a:ext>
            </a:extLst>
          </p:cNvPr>
          <p:cNvSpPr txBox="1"/>
          <p:nvPr/>
        </p:nvSpPr>
        <p:spPr>
          <a:xfrm>
            <a:off x="8754853" y="5009369"/>
            <a:ext cx="63547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350"/>
              <a:t>Level2</a:t>
            </a:r>
          </a:p>
        </p:txBody>
      </p:sp>
      <p:sp>
        <p:nvSpPr>
          <p:cNvPr id="35" name="TextBox 92">
            <a:extLst>
              <a:ext uri="{FF2B5EF4-FFF2-40B4-BE49-F238E27FC236}">
                <a16:creationId xmlns:a16="http://schemas.microsoft.com/office/drawing/2014/main" id="{188339D7-AA9F-02CA-01AE-9CF71A277D2A}"/>
              </a:ext>
            </a:extLst>
          </p:cNvPr>
          <p:cNvSpPr txBox="1"/>
          <p:nvPr/>
        </p:nvSpPr>
        <p:spPr>
          <a:xfrm>
            <a:off x="8751655" y="4814525"/>
            <a:ext cx="63867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350"/>
              <a:t>Level1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8DED4C-2BD6-F6FD-EBF5-988748E1163B}"/>
              </a:ext>
            </a:extLst>
          </p:cNvPr>
          <p:cNvSpPr/>
          <p:nvPr/>
        </p:nvSpPr>
        <p:spPr>
          <a:xfrm>
            <a:off x="2821327" y="5186547"/>
            <a:ext cx="59335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ctg123  .  </a:t>
            </a:r>
            <a:r>
              <a:rPr lang="de-DE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exon</a:t>
            </a:r>
            <a:r>
              <a:rPr lang="de-DE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1000  2000  .  +  .  </a:t>
            </a:r>
            <a:r>
              <a:rPr lang="de-DE" sz="12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gene_id</a:t>
            </a:r>
            <a:r>
              <a:rPr lang="de-DE" sz="12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g1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de-DE" sz="1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transcript_id</a:t>
            </a:r>
            <a:r>
              <a:rPr lang="sv-SE" sz="12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t1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de-DE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ctg123  .  CDS   1000  2000  .  +  0  </a:t>
            </a:r>
            <a:r>
              <a:rPr lang="de-DE" sz="12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gene_id</a:t>
            </a:r>
            <a:r>
              <a:rPr lang="de-DE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g1</a:t>
            </a:r>
            <a:r>
              <a:rPr lang="de-DE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sv-SE" sz="12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transcript_id</a:t>
            </a:r>
            <a:r>
              <a:rPr lang="sv-SE" sz="12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t1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de-DE" sz="12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B4D0F2C-FCAB-4DF3-D864-2E3A741AA3F5}"/>
              </a:ext>
            </a:extLst>
          </p:cNvPr>
          <p:cNvSpPr/>
          <p:nvPr/>
        </p:nvSpPr>
        <p:spPr>
          <a:xfrm>
            <a:off x="2811879" y="5005366"/>
            <a:ext cx="666192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ctg123  .  mRNA  1000  2000  .  +  .  </a:t>
            </a:r>
            <a:r>
              <a:rPr lang="de-DE" sz="12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gene_id</a:t>
            </a:r>
            <a:r>
              <a:rPr lang="de-DE" sz="12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g1</a:t>
            </a:r>
            <a:r>
              <a:rPr lang="de-DE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sv-SE" sz="12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transcript_id</a:t>
            </a:r>
            <a:r>
              <a:rPr lang="sv-SE" sz="12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t1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C6E893-F872-7C6B-4E5B-82AB234C6960}"/>
              </a:ext>
            </a:extLst>
          </p:cNvPr>
          <p:cNvSpPr/>
          <p:nvPr/>
        </p:nvSpPr>
        <p:spPr>
          <a:xfrm>
            <a:off x="1371838" y="2585900"/>
            <a:ext cx="662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sv-SE" sz="2400" b="1" dirty="0">
                <a:solidFill>
                  <a:srgbClr val="F79646"/>
                </a:solidFill>
                <a:latin typeface="Calibri" charset="0"/>
                <a:ea typeface="MS PGothic" charset="0"/>
              </a:rPr>
              <a:t>GFF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399380-D0F5-ACE7-95E1-1B1B821FDA7B}"/>
              </a:ext>
            </a:extLst>
          </p:cNvPr>
          <p:cNvSpPr/>
          <p:nvPr/>
        </p:nvSpPr>
        <p:spPr>
          <a:xfrm>
            <a:off x="1412440" y="5031586"/>
            <a:ext cx="6721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sv-SE" sz="2400" b="1" dirty="0">
                <a:solidFill>
                  <a:srgbClr val="F79646"/>
                </a:solidFill>
                <a:latin typeface="Calibri" charset="0"/>
                <a:ea typeface="MS PGothic" charset="0"/>
              </a:rPr>
              <a:t>GTF</a:t>
            </a:r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A092BDF2-FA30-F7DB-72D4-16B8A0BCE958}"/>
              </a:ext>
            </a:extLst>
          </p:cNvPr>
          <p:cNvSpPr txBox="1"/>
          <p:nvPr/>
        </p:nvSpPr>
        <p:spPr>
          <a:xfrm>
            <a:off x="133577" y="402602"/>
            <a:ext cx="7236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Different ways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DD1B82BA-8FE5-FEDE-1E81-262710B8CF37}"/>
              </a:ext>
            </a:extLst>
          </p:cNvPr>
          <p:cNvSpPr txBox="1"/>
          <p:nvPr/>
        </p:nvSpPr>
        <p:spPr>
          <a:xfrm>
            <a:off x="3499946" y="3421075"/>
            <a:ext cx="52517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GB" sz="1400" b="1" dirty="0"/>
              <a:t>2278 terms</a:t>
            </a:r>
            <a:r>
              <a:rPr lang="en-GB" sz="1400" dirty="0">
                <a:effectLst/>
              </a:rPr>
              <a:t> accepted: Constrained to be either a term from the Sequence Ontology or an SO accession number </a:t>
            </a:r>
            <a:endParaRPr lang="sv-SE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43" name="Straight Arrow Connector 60">
            <a:extLst>
              <a:ext uri="{FF2B5EF4-FFF2-40B4-BE49-F238E27FC236}">
                <a16:creationId xmlns:a16="http://schemas.microsoft.com/office/drawing/2014/main" id="{9D110E80-8818-E8AB-AAA2-539FFC2B9124}"/>
              </a:ext>
            </a:extLst>
          </p:cNvPr>
          <p:cNvCxnSpPr>
            <a:cxnSpLocks/>
          </p:cNvCxnSpPr>
          <p:nvPr/>
        </p:nvCxnSpPr>
        <p:spPr>
          <a:xfrm>
            <a:off x="3980428" y="4581713"/>
            <a:ext cx="0" cy="1759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60">
            <a:extLst>
              <a:ext uri="{FF2B5EF4-FFF2-40B4-BE49-F238E27FC236}">
                <a16:creationId xmlns:a16="http://schemas.microsoft.com/office/drawing/2014/main" id="{5721451A-1C43-7535-7025-500E9B9220B7}"/>
              </a:ext>
            </a:extLst>
          </p:cNvPr>
          <p:cNvCxnSpPr>
            <a:cxnSpLocks/>
          </p:cNvCxnSpPr>
          <p:nvPr/>
        </p:nvCxnSpPr>
        <p:spPr>
          <a:xfrm flipV="1">
            <a:off x="3938426" y="3241242"/>
            <a:ext cx="0" cy="1877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F81D9AD2-7E78-33B5-AE63-404C1457A044}"/>
              </a:ext>
            </a:extLst>
          </p:cNvPr>
          <p:cNvSpPr txBox="1"/>
          <p:nvPr/>
        </p:nvSpPr>
        <p:spPr>
          <a:xfrm>
            <a:off x="1288720" y="104766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to deal with features types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7F29D09-A901-FC5F-7BF8-DBBB5923E71F}"/>
              </a:ext>
            </a:extLst>
          </p:cNvPr>
          <p:cNvSpPr txBox="1"/>
          <p:nvPr/>
        </p:nvSpPr>
        <p:spPr>
          <a:xfrm>
            <a:off x="1738609" y="705875"/>
            <a:ext cx="5642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to establish the relationships between the features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93F4459A-BBC4-ADEF-7874-9FF1B5C0C91E}"/>
              </a:ext>
            </a:extLst>
          </p:cNvPr>
          <p:cNvSpPr txBox="1"/>
          <p:nvPr/>
        </p:nvSpPr>
        <p:spPr>
          <a:xfrm>
            <a:off x="1288720" y="1393792"/>
            <a:ext cx="5152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to deal with concepts (stop codon vs CDS)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CDFFCB29-3932-C28F-BF99-C585C1E8E9AD}"/>
              </a:ext>
            </a:extLst>
          </p:cNvPr>
          <p:cNvSpPr txBox="1"/>
          <p:nvPr/>
        </p:nvSpPr>
        <p:spPr>
          <a:xfrm>
            <a:off x="1288720" y="171018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…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C7EB48D3-9B2D-418B-B044-53CE49D7C838}"/>
              </a:ext>
            </a:extLst>
          </p:cNvPr>
          <p:cNvSpPr txBox="1"/>
          <p:nvPr/>
        </p:nvSpPr>
        <p:spPr>
          <a:xfrm>
            <a:off x="3499946" y="4058493"/>
            <a:ext cx="52517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GB" sz="1400" b="1" dirty="0">
                <a:effectLst/>
              </a:rPr>
              <a:t>9</a:t>
            </a:r>
            <a:r>
              <a:rPr lang="en-GB" sz="1400" dirty="0">
                <a:effectLst/>
              </a:rPr>
              <a:t> </a:t>
            </a:r>
            <a:r>
              <a:rPr lang="en-GB" sz="1400" b="1" dirty="0">
                <a:effectLst/>
              </a:rPr>
              <a:t>terms</a:t>
            </a:r>
            <a:r>
              <a:rPr lang="en-GB" sz="1400" dirty="0">
                <a:effectLst/>
              </a:rPr>
              <a:t> accepted: gene, transcript, exon, CDS, Selenocysteine, </a:t>
            </a:r>
            <a:r>
              <a:rPr lang="en-GB" sz="1400" dirty="0" err="1">
                <a:effectLst/>
              </a:rPr>
              <a:t>start_codon</a:t>
            </a:r>
            <a:r>
              <a:rPr lang="en-GB" sz="1400" dirty="0">
                <a:effectLst/>
              </a:rPr>
              <a:t>, </a:t>
            </a:r>
            <a:r>
              <a:rPr lang="en-GB" sz="1400" dirty="0" err="1">
                <a:effectLst/>
              </a:rPr>
              <a:t>stop_codon</a:t>
            </a:r>
            <a:r>
              <a:rPr lang="en-GB" sz="1400" dirty="0">
                <a:effectLst/>
              </a:rPr>
              <a:t>, </a:t>
            </a:r>
            <a:r>
              <a:rPr lang="en-GB" sz="1400" dirty="0" err="1">
                <a:effectLst/>
              </a:rPr>
              <a:t>three_prime_utr</a:t>
            </a:r>
            <a:r>
              <a:rPr lang="en-GB" sz="1400" dirty="0">
                <a:effectLst/>
              </a:rPr>
              <a:t> and </a:t>
            </a:r>
            <a:r>
              <a:rPr lang="en-GB" sz="1400" dirty="0" err="1">
                <a:effectLst/>
              </a:rPr>
              <a:t>five_prime_utr</a:t>
            </a:r>
            <a:endParaRPr lang="sv-SE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E91EF327-C28E-AD7A-A7B8-158DEFF81835}"/>
              </a:ext>
            </a:extLst>
          </p:cNvPr>
          <p:cNvGrpSpPr/>
          <p:nvPr/>
        </p:nvGrpSpPr>
        <p:grpSpPr>
          <a:xfrm>
            <a:off x="9637527" y="2216727"/>
            <a:ext cx="1697450" cy="1015663"/>
            <a:chOff x="9637527" y="2216727"/>
            <a:chExt cx="1697450" cy="1015663"/>
          </a:xfrm>
        </p:grpSpPr>
        <p:sp>
          <p:nvSpPr>
            <p:cNvPr id="58" name="ZoneTexte 57">
              <a:extLst>
                <a:ext uri="{FF2B5EF4-FFF2-40B4-BE49-F238E27FC236}">
                  <a16:creationId xmlns:a16="http://schemas.microsoft.com/office/drawing/2014/main" id="{DB956EBD-195B-029D-231A-288AD795C035}"/>
                </a:ext>
              </a:extLst>
            </p:cNvPr>
            <p:cNvSpPr txBox="1"/>
            <p:nvPr/>
          </p:nvSpPr>
          <p:spPr>
            <a:xfrm>
              <a:off x="9637527" y="2216727"/>
              <a:ext cx="800742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200" b="1" dirty="0">
                  <a:solidFill>
                    <a:srgbClr val="00B050"/>
                  </a:solidFill>
                  <a:latin typeface="Consolas"/>
                  <a:cs typeface="Consolas"/>
                </a:rPr>
                <a:t>gene1</a:t>
              </a:r>
            </a:p>
            <a:p>
              <a:endParaRPr lang="de-DE" sz="1200" b="1" dirty="0">
                <a:solidFill>
                  <a:srgbClr val="00B050"/>
                </a:solidFill>
                <a:latin typeface="Consolas"/>
                <a:cs typeface="Consolas"/>
              </a:endParaRPr>
            </a:p>
            <a:p>
              <a:r>
                <a:rPr lang="de-DE" sz="1200" b="1" dirty="0">
                  <a:solidFill>
                    <a:schemeClr val="accent6">
                      <a:lumMod val="75000"/>
                    </a:schemeClr>
                  </a:solidFill>
                  <a:latin typeface="Consolas"/>
                  <a:cs typeface="Consolas"/>
                </a:rPr>
                <a:t>mRNA1</a:t>
              </a:r>
            </a:p>
            <a:p>
              <a:r>
                <a:rPr lang="de-DE" sz="1200" b="1" dirty="0">
                  <a:latin typeface="Consolas"/>
                  <a:cs typeface="Consolas"/>
                </a:rPr>
                <a:t> </a:t>
              </a:r>
            </a:p>
            <a:p>
              <a:r>
                <a:rPr lang="de-DE" sz="1200" b="1" dirty="0">
                  <a:latin typeface="Consolas"/>
                  <a:cs typeface="Consolas"/>
                </a:rPr>
                <a:t>  CDS</a:t>
              </a:r>
              <a:endParaRPr lang="en-GB" sz="1200" dirty="0"/>
            </a:p>
          </p:txBody>
        </p:sp>
        <p:sp>
          <p:nvSpPr>
            <p:cNvPr id="63" name="Flèche courbée vers le haut 62">
              <a:extLst>
                <a:ext uri="{FF2B5EF4-FFF2-40B4-BE49-F238E27FC236}">
                  <a16:creationId xmlns:a16="http://schemas.microsoft.com/office/drawing/2014/main" id="{C8567B5E-42AD-B2B4-44E3-1F3C99BBE3F0}"/>
                </a:ext>
              </a:extLst>
            </p:cNvPr>
            <p:cNvSpPr/>
            <p:nvPr/>
          </p:nvSpPr>
          <p:spPr>
            <a:xfrm rot="16200000">
              <a:off x="10291919" y="2898903"/>
              <a:ext cx="484632" cy="135941"/>
            </a:xfrm>
            <a:prstGeom prst="curved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5" name="Flèche courbée vers le haut 64">
              <a:extLst>
                <a:ext uri="{FF2B5EF4-FFF2-40B4-BE49-F238E27FC236}">
                  <a16:creationId xmlns:a16="http://schemas.microsoft.com/office/drawing/2014/main" id="{D656E970-5D23-17AE-B2E7-14B72C891ACB}"/>
                </a:ext>
              </a:extLst>
            </p:cNvPr>
            <p:cNvSpPr/>
            <p:nvPr/>
          </p:nvSpPr>
          <p:spPr>
            <a:xfrm rot="15945260">
              <a:off x="10094854" y="2466274"/>
              <a:ext cx="484632" cy="135941"/>
            </a:xfrm>
            <a:prstGeom prst="curved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7" name="ZoneTexte 66">
              <a:extLst>
                <a:ext uri="{FF2B5EF4-FFF2-40B4-BE49-F238E27FC236}">
                  <a16:creationId xmlns:a16="http://schemas.microsoft.com/office/drawing/2014/main" id="{4DFEC168-0FA7-AB1E-87E2-FA5DDAAFD173}"/>
                </a:ext>
              </a:extLst>
            </p:cNvPr>
            <p:cNvSpPr txBox="1"/>
            <p:nvPr/>
          </p:nvSpPr>
          <p:spPr>
            <a:xfrm>
              <a:off x="10534235" y="2831699"/>
              <a:ext cx="80074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200" b="1" dirty="0">
                  <a:solidFill>
                    <a:srgbClr val="7030A0"/>
                  </a:solidFill>
                  <a:latin typeface="Consolas"/>
                  <a:cs typeface="Consolas"/>
                </a:rPr>
                <a:t>Parent</a:t>
              </a:r>
              <a:endParaRPr lang="en-GB" dirty="0"/>
            </a:p>
          </p:txBody>
        </p: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4B2D98AC-FB67-AE60-289C-F19C267AE3C7}"/>
                </a:ext>
              </a:extLst>
            </p:cNvPr>
            <p:cNvSpPr txBox="1"/>
            <p:nvPr/>
          </p:nvSpPr>
          <p:spPr>
            <a:xfrm>
              <a:off x="10388451" y="2350881"/>
              <a:ext cx="80074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200" b="1" dirty="0">
                  <a:solidFill>
                    <a:srgbClr val="7030A0"/>
                  </a:solidFill>
                  <a:latin typeface="Consolas"/>
                  <a:cs typeface="Consolas"/>
                </a:rPr>
                <a:t>Parent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6005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22" grpId="0"/>
      <p:bldP spid="23" grpId="0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 animBg="1"/>
      <p:bldP spid="31" grpId="0" animBg="1"/>
      <p:bldP spid="32" grpId="0" animBg="1"/>
      <p:bldP spid="33" grpId="0"/>
      <p:bldP spid="34" grpId="0"/>
      <p:bldP spid="35" grpId="0"/>
      <p:bldP spid="36" grpId="0"/>
      <p:bldP spid="37" grpId="0"/>
      <p:bldP spid="42" grpId="0"/>
      <p:bldP spid="45" grpId="0"/>
      <p:bldP spid="47" grpId="0"/>
      <p:bldP spid="48" grpId="0"/>
      <p:bldP spid="6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Introduction to annotation: GTF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3" name="Image 42">
            <a:extLst>
              <a:ext uri="{FF2B5EF4-FFF2-40B4-BE49-F238E27FC236}">
                <a16:creationId xmlns:a16="http://schemas.microsoft.com/office/drawing/2014/main" id="{AE1545D0-7E84-EE79-6A98-566AA50452F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6532" y="1885111"/>
            <a:ext cx="4788916" cy="3087778"/>
          </a:xfrm>
          <a:prstGeom prst="rect">
            <a:avLst/>
          </a:prstGeom>
        </p:spPr>
      </p:pic>
      <p:grpSp>
        <p:nvGrpSpPr>
          <p:cNvPr id="85" name="Groupe 84">
            <a:extLst>
              <a:ext uri="{FF2B5EF4-FFF2-40B4-BE49-F238E27FC236}">
                <a16:creationId xmlns:a16="http://schemas.microsoft.com/office/drawing/2014/main" id="{E9A4F8F7-D4CD-C819-79BB-1D49D96E2ADB}"/>
              </a:ext>
            </a:extLst>
          </p:cNvPr>
          <p:cNvGrpSpPr/>
          <p:nvPr/>
        </p:nvGrpSpPr>
        <p:grpSpPr>
          <a:xfrm>
            <a:off x="6491294" y="2056778"/>
            <a:ext cx="5432396" cy="819026"/>
            <a:chOff x="6542596" y="1348577"/>
            <a:chExt cx="5432396" cy="819026"/>
          </a:xfrm>
        </p:grpSpPr>
        <p:grpSp>
          <p:nvGrpSpPr>
            <p:cNvPr id="84" name="Groupe 83">
              <a:extLst>
                <a:ext uri="{FF2B5EF4-FFF2-40B4-BE49-F238E27FC236}">
                  <a16:creationId xmlns:a16="http://schemas.microsoft.com/office/drawing/2014/main" id="{BEEE4767-117B-A677-37E2-F3A1AB852E31}"/>
                </a:ext>
              </a:extLst>
            </p:cNvPr>
            <p:cNvGrpSpPr/>
            <p:nvPr/>
          </p:nvGrpSpPr>
          <p:grpSpPr>
            <a:xfrm>
              <a:off x="6542598" y="1348577"/>
              <a:ext cx="5160192" cy="819026"/>
              <a:chOff x="6542598" y="1348577"/>
              <a:chExt cx="5160192" cy="819026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A59F6533-57E6-071E-363A-7C48AEEE8286}"/>
                  </a:ext>
                </a:extLst>
              </p:cNvPr>
              <p:cNvSpPr/>
              <p:nvPr/>
            </p:nvSpPr>
            <p:spPr>
              <a:xfrm>
                <a:off x="6542598" y="1348577"/>
                <a:ext cx="4603657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c</a:t>
                </a:r>
                <a:r>
                  <a:rPr lang="de-DE" sz="12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tg123  .  </a:t>
                </a:r>
                <a:r>
                  <a:rPr lang="de-DE" sz="1200" dirty="0" err="1">
                    <a:solidFill>
                      <a:srgbClr val="000000"/>
                    </a:solidFill>
                    <a:latin typeface="Consolas"/>
                    <a:cs typeface="Consolas"/>
                  </a:rPr>
                  <a:t>gene</a:t>
                </a:r>
                <a:r>
                  <a:rPr lang="de-DE" sz="12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  1000  2000  .  +  .  </a:t>
                </a:r>
                <a:r>
                  <a:rPr lang="de-DE" sz="1200" dirty="0">
                    <a:solidFill>
                      <a:srgbClr val="00B0F0"/>
                    </a:solidFill>
                    <a:latin typeface="Consolas"/>
                    <a:cs typeface="Consolas"/>
                  </a:rPr>
                  <a:t>ID</a:t>
                </a:r>
                <a:r>
                  <a:rPr lang="de-DE" sz="1200" b="1" dirty="0">
                    <a:latin typeface="Consolas"/>
                    <a:cs typeface="Consolas"/>
                  </a:rPr>
                  <a:t>=</a:t>
                </a:r>
                <a:r>
                  <a:rPr lang="de-DE" sz="1200" b="1" dirty="0">
                    <a:solidFill>
                      <a:srgbClr val="00B050"/>
                    </a:solidFill>
                    <a:latin typeface="Consolas"/>
                    <a:cs typeface="Consolas"/>
                  </a:rPr>
                  <a:t>gene1</a:t>
                </a:r>
                <a:endParaRPr lang="de-DE" sz="1200" dirty="0">
                  <a:solidFill>
                    <a:srgbClr val="000000"/>
                  </a:solidFill>
                  <a:latin typeface="Consolas"/>
                  <a:cs typeface="Consolas"/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1D1839B-6784-06FA-E3E2-95568C6C891B}"/>
                  </a:ext>
                </a:extLst>
              </p:cNvPr>
              <p:cNvSpPr/>
              <p:nvPr/>
            </p:nvSpPr>
            <p:spPr>
              <a:xfrm>
                <a:off x="6552046" y="1705938"/>
                <a:ext cx="515074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e-DE" sz="12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ctg123  .  </a:t>
                </a:r>
                <a:r>
                  <a:rPr lang="de-DE" sz="1200" dirty="0" err="1">
                    <a:solidFill>
                      <a:srgbClr val="000000"/>
                    </a:solidFill>
                    <a:latin typeface="Consolas"/>
                    <a:cs typeface="Consolas"/>
                  </a:rPr>
                  <a:t>exon</a:t>
                </a:r>
                <a:r>
                  <a:rPr lang="de-DE" sz="12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  1000  2000  .  +  .  </a:t>
                </a:r>
                <a:r>
                  <a:rPr lang="de-DE" sz="1200" dirty="0">
                    <a:solidFill>
                      <a:srgbClr val="00B0F0"/>
                    </a:solidFill>
                    <a:latin typeface="Consolas"/>
                    <a:cs typeface="Consolas"/>
                  </a:rPr>
                  <a:t>ID</a:t>
                </a:r>
                <a:r>
                  <a:rPr lang="de-DE" sz="12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=exon1;</a:t>
                </a:r>
                <a:r>
                  <a:rPr lang="de-DE" sz="1200" b="1" dirty="0">
                    <a:solidFill>
                      <a:srgbClr val="7030A0"/>
                    </a:solidFill>
                    <a:latin typeface="Consolas"/>
                    <a:cs typeface="Consolas"/>
                  </a:rPr>
                  <a:t>Parent</a:t>
                </a:r>
                <a:r>
                  <a:rPr lang="de-DE" sz="1200" b="1" dirty="0">
                    <a:latin typeface="Consolas"/>
                    <a:cs typeface="Consolas"/>
                  </a:rPr>
                  <a:t>=</a:t>
                </a:r>
                <a:r>
                  <a:rPr lang="de-DE" sz="1200" b="1" dirty="0">
                    <a:solidFill>
                      <a:schemeClr val="accent6">
                        <a:lumMod val="75000"/>
                      </a:schemeClr>
                    </a:solidFill>
                    <a:latin typeface="Consolas"/>
                    <a:cs typeface="Consolas"/>
                  </a:rPr>
                  <a:t>mRNA1</a:t>
                </a:r>
              </a:p>
              <a:p>
                <a:r>
                  <a:rPr lang="de-DE" sz="12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ctg123  .  CDS   1000  2000  .  +  0  </a:t>
                </a:r>
                <a:r>
                  <a:rPr lang="de-DE" sz="1200" dirty="0">
                    <a:solidFill>
                      <a:srgbClr val="00B0F0"/>
                    </a:solidFill>
                    <a:latin typeface="Consolas"/>
                    <a:cs typeface="Consolas"/>
                  </a:rPr>
                  <a:t>ID</a:t>
                </a:r>
                <a:r>
                  <a:rPr lang="de-DE" sz="1200" dirty="0">
                    <a:solidFill>
                      <a:srgbClr val="000000"/>
                    </a:solidFill>
                    <a:latin typeface="Consolas"/>
                    <a:cs typeface="Consolas"/>
                  </a:rPr>
                  <a:t>=cds01;</a:t>
                </a:r>
                <a:r>
                  <a:rPr lang="de-DE" sz="1200" b="1" dirty="0">
                    <a:solidFill>
                      <a:srgbClr val="7030A0"/>
                    </a:solidFill>
                    <a:latin typeface="Consolas"/>
                    <a:cs typeface="Consolas"/>
                  </a:rPr>
                  <a:t>Parent</a:t>
                </a:r>
                <a:r>
                  <a:rPr lang="de-DE" sz="1200" b="1" dirty="0">
                    <a:latin typeface="Consolas"/>
                    <a:cs typeface="Consolas"/>
                  </a:rPr>
                  <a:t>=</a:t>
                </a:r>
                <a:r>
                  <a:rPr lang="de-DE" sz="1200" b="1" dirty="0">
                    <a:solidFill>
                      <a:schemeClr val="accent6">
                        <a:lumMod val="75000"/>
                      </a:schemeClr>
                    </a:solidFill>
                    <a:latin typeface="Consolas"/>
                    <a:cs typeface="Consolas"/>
                  </a:rPr>
                  <a:t>mRNA1</a:t>
                </a:r>
              </a:p>
            </p:txBody>
          </p:sp>
        </p:grp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8AB8241-BA58-0D73-BEC7-79F9F3B02377}"/>
                </a:ext>
              </a:extLst>
            </p:cNvPr>
            <p:cNvSpPr/>
            <p:nvPr/>
          </p:nvSpPr>
          <p:spPr>
            <a:xfrm>
              <a:off x="6542596" y="1530572"/>
              <a:ext cx="543239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e-DE" sz="1200" dirty="0">
                  <a:solidFill>
                    <a:srgbClr val="000000"/>
                  </a:solidFill>
                  <a:latin typeface="Consolas"/>
                  <a:cs typeface="Consolas"/>
                </a:rPr>
                <a:t>ctg123  .  mRNA  1000  2000  .  +  .  </a:t>
              </a:r>
              <a:r>
                <a:rPr lang="de-DE" sz="1200" dirty="0">
                  <a:solidFill>
                    <a:srgbClr val="00B0F0"/>
                  </a:solidFill>
                  <a:latin typeface="Consolas"/>
                  <a:cs typeface="Consolas"/>
                </a:rPr>
                <a:t>ID</a:t>
              </a:r>
              <a:r>
                <a:rPr lang="de-DE" sz="1200" b="1" dirty="0">
                  <a:latin typeface="Consolas"/>
                  <a:cs typeface="Consolas"/>
                </a:rPr>
                <a:t>=</a:t>
              </a:r>
              <a:r>
                <a:rPr lang="de-DE" sz="1200" b="1" dirty="0">
                  <a:solidFill>
                    <a:schemeClr val="accent6">
                      <a:lumMod val="75000"/>
                    </a:schemeClr>
                  </a:solidFill>
                  <a:latin typeface="Consolas"/>
                  <a:cs typeface="Consolas"/>
                </a:rPr>
                <a:t>mRNA1</a:t>
              </a:r>
              <a:r>
                <a:rPr lang="de-DE" sz="1200" dirty="0">
                  <a:solidFill>
                    <a:srgbClr val="000000"/>
                  </a:solidFill>
                  <a:latin typeface="Consolas"/>
                  <a:cs typeface="Consolas"/>
                </a:rPr>
                <a:t>;</a:t>
              </a:r>
              <a:r>
                <a:rPr lang="de-DE" sz="1200" b="1" dirty="0">
                  <a:solidFill>
                    <a:srgbClr val="7030A0"/>
                  </a:solidFill>
                  <a:latin typeface="Consolas"/>
                  <a:cs typeface="Consolas"/>
                </a:rPr>
                <a:t>Parent</a:t>
              </a:r>
              <a:r>
                <a:rPr lang="de-DE" sz="1200" b="1" dirty="0">
                  <a:latin typeface="Consolas"/>
                  <a:cs typeface="Consolas"/>
                </a:rPr>
                <a:t>=</a:t>
              </a:r>
              <a:r>
                <a:rPr lang="de-DE" sz="1200" b="1" dirty="0">
                  <a:solidFill>
                    <a:srgbClr val="00B050"/>
                  </a:solidFill>
                  <a:latin typeface="Consolas"/>
                  <a:cs typeface="Consolas"/>
                </a:rPr>
                <a:t>gene1</a:t>
              </a:r>
            </a:p>
          </p:txBody>
        </p:sp>
      </p:grpSp>
      <p:grpSp>
        <p:nvGrpSpPr>
          <p:cNvPr id="83" name="Groupe 82">
            <a:extLst>
              <a:ext uri="{FF2B5EF4-FFF2-40B4-BE49-F238E27FC236}">
                <a16:creationId xmlns:a16="http://schemas.microsoft.com/office/drawing/2014/main" id="{60A7E129-95CB-432C-41D9-8E406592194C}"/>
              </a:ext>
            </a:extLst>
          </p:cNvPr>
          <p:cNvGrpSpPr/>
          <p:nvPr/>
        </p:nvGrpSpPr>
        <p:grpSpPr>
          <a:xfrm>
            <a:off x="6519648" y="4116967"/>
            <a:ext cx="5160191" cy="473036"/>
            <a:chOff x="6420678" y="3420663"/>
            <a:chExt cx="5160191" cy="473036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E97D289-BFC9-9AE9-7923-37A6A1641A29}"/>
                </a:ext>
              </a:extLst>
            </p:cNvPr>
            <p:cNvSpPr/>
            <p:nvPr/>
          </p:nvSpPr>
          <p:spPr>
            <a:xfrm>
              <a:off x="6420678" y="3420663"/>
              <a:ext cx="460365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Consolas"/>
                  <a:cs typeface="Consolas"/>
                </a:rPr>
                <a:t>c</a:t>
              </a:r>
              <a:r>
                <a:rPr lang="de-DE" sz="1200" dirty="0">
                  <a:solidFill>
                    <a:srgbClr val="000000"/>
                  </a:solidFill>
                  <a:latin typeface="Consolas"/>
                  <a:cs typeface="Consolas"/>
                </a:rPr>
                <a:t>tg123  .  </a:t>
              </a:r>
              <a:r>
                <a:rPr lang="de-DE" sz="1200" dirty="0" err="1">
                  <a:solidFill>
                    <a:srgbClr val="000000"/>
                  </a:solidFill>
                  <a:latin typeface="Consolas"/>
                  <a:cs typeface="Consolas"/>
                </a:rPr>
                <a:t>gene</a:t>
              </a:r>
              <a:r>
                <a:rPr lang="de-DE" sz="1200" dirty="0">
                  <a:solidFill>
                    <a:srgbClr val="000000"/>
                  </a:solidFill>
                  <a:latin typeface="Consolas"/>
                  <a:cs typeface="Consolas"/>
                </a:rPr>
                <a:t>  1000  2000  .  +  .  </a:t>
              </a:r>
              <a:r>
                <a:rPr lang="de-DE" sz="1200" dirty="0">
                  <a:solidFill>
                    <a:srgbClr val="00B0F0"/>
                  </a:solidFill>
                  <a:latin typeface="Consolas"/>
                  <a:cs typeface="Consolas"/>
                </a:rPr>
                <a:t>ID</a:t>
              </a:r>
              <a:r>
                <a:rPr lang="de-DE" sz="1200" b="1" dirty="0">
                  <a:latin typeface="Consolas"/>
                  <a:cs typeface="Consolas"/>
                </a:rPr>
                <a:t>=</a:t>
              </a:r>
              <a:r>
                <a:rPr lang="de-DE" sz="1200" b="1" dirty="0">
                  <a:solidFill>
                    <a:srgbClr val="00B050"/>
                  </a:solidFill>
                  <a:latin typeface="Consolas"/>
                  <a:cs typeface="Consolas"/>
                </a:rPr>
                <a:t>gene1</a:t>
              </a:r>
              <a:endParaRPr lang="de-DE" sz="1200" dirty="0">
                <a:solidFill>
                  <a:srgbClr val="000000"/>
                </a:solidFill>
                <a:latin typeface="Consolas"/>
                <a:cs typeface="Consolas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984E5744-25C0-6BD3-651B-B01AC98EF702}"/>
                </a:ext>
              </a:extLst>
            </p:cNvPr>
            <p:cNvSpPr/>
            <p:nvPr/>
          </p:nvSpPr>
          <p:spPr>
            <a:xfrm>
              <a:off x="6430125" y="3616700"/>
              <a:ext cx="5150744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e-DE" sz="1200" dirty="0">
                  <a:solidFill>
                    <a:srgbClr val="000000"/>
                  </a:solidFill>
                  <a:latin typeface="Consolas"/>
                  <a:cs typeface="Consolas"/>
                </a:rPr>
                <a:t>ctg123  .  CDS   1000  2000  .  +  0  </a:t>
              </a:r>
              <a:r>
                <a:rPr lang="de-DE" sz="1200" dirty="0">
                  <a:solidFill>
                    <a:srgbClr val="00B0F0"/>
                  </a:solidFill>
                  <a:latin typeface="Consolas"/>
                  <a:cs typeface="Consolas"/>
                </a:rPr>
                <a:t>ID</a:t>
              </a:r>
              <a:r>
                <a:rPr lang="de-DE" sz="1200" dirty="0">
                  <a:solidFill>
                    <a:srgbClr val="000000"/>
                  </a:solidFill>
                  <a:latin typeface="Consolas"/>
                  <a:cs typeface="Consolas"/>
                </a:rPr>
                <a:t>=cds01;</a:t>
              </a:r>
              <a:r>
                <a:rPr lang="de-DE" sz="1200" b="1" dirty="0">
                  <a:solidFill>
                    <a:srgbClr val="7030A0"/>
                  </a:solidFill>
                  <a:latin typeface="Consolas"/>
                  <a:cs typeface="Consolas"/>
                </a:rPr>
                <a:t>Parent</a:t>
              </a:r>
              <a:r>
                <a:rPr lang="de-DE" sz="1200" b="1" dirty="0">
                  <a:latin typeface="Consolas"/>
                  <a:cs typeface="Consolas"/>
                </a:rPr>
                <a:t>=</a:t>
              </a:r>
              <a:r>
                <a:rPr lang="de-DE" sz="1200" b="1" dirty="0">
                  <a:solidFill>
                    <a:schemeClr val="accent6">
                      <a:lumMod val="75000"/>
                    </a:schemeClr>
                  </a:solidFill>
                  <a:latin typeface="Consolas"/>
                  <a:cs typeface="Consolas"/>
                </a:rPr>
                <a:t>mRNA1</a:t>
              </a:r>
            </a:p>
          </p:txBody>
        </p:sp>
      </p:grpSp>
      <p:sp>
        <p:nvSpPr>
          <p:cNvPr id="86" name="Flèche courbée vers le haut 85">
            <a:extLst>
              <a:ext uri="{FF2B5EF4-FFF2-40B4-BE49-F238E27FC236}">
                <a16:creationId xmlns:a16="http://schemas.microsoft.com/office/drawing/2014/main" id="{1749777C-C126-3965-328E-998D334FF46A}"/>
              </a:ext>
            </a:extLst>
          </p:cNvPr>
          <p:cNvSpPr/>
          <p:nvPr/>
        </p:nvSpPr>
        <p:spPr>
          <a:xfrm rot="5400000" flipH="1">
            <a:off x="5244279" y="3219560"/>
            <a:ext cx="1751828" cy="530352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8EA233D8-31C0-31C4-E386-8B7EB95B4697}"/>
              </a:ext>
            </a:extLst>
          </p:cNvPr>
          <p:cNvSpPr txBox="1"/>
          <p:nvPr/>
        </p:nvSpPr>
        <p:spPr>
          <a:xfrm>
            <a:off x="6434165" y="3300070"/>
            <a:ext cx="4462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AGAT (Another GFF/GTF Analysis Toolkit)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311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Introduction to annotation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5F9B19-7023-F4D1-078D-3AB92DB9E86F}"/>
              </a:ext>
            </a:extLst>
          </p:cNvPr>
          <p:cNvSpPr/>
          <p:nvPr/>
        </p:nvSpPr>
        <p:spPr>
          <a:xfrm>
            <a:off x="-2343" y="3508293"/>
            <a:ext cx="12192000" cy="16498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>
                <a:solidFill>
                  <a:srgbClr val="000000"/>
                </a:solidFill>
              </a:rPr>
              <a:t>DNA</a:t>
            </a:r>
          </a:p>
        </p:txBody>
      </p:sp>
      <p:grpSp>
        <p:nvGrpSpPr>
          <p:cNvPr id="5" name="Group 14">
            <a:extLst>
              <a:ext uri="{FF2B5EF4-FFF2-40B4-BE49-F238E27FC236}">
                <a16:creationId xmlns:a16="http://schemas.microsoft.com/office/drawing/2014/main" id="{4820954A-4152-39B6-6B03-07F6B61EC9AF}"/>
              </a:ext>
            </a:extLst>
          </p:cNvPr>
          <p:cNvGrpSpPr/>
          <p:nvPr/>
        </p:nvGrpSpPr>
        <p:grpSpPr>
          <a:xfrm>
            <a:off x="1543383" y="4152701"/>
            <a:ext cx="6442698" cy="142876"/>
            <a:chOff x="1239252" y="4042701"/>
            <a:chExt cx="6442698" cy="142876"/>
          </a:xfrm>
        </p:grpSpPr>
        <p:grpSp>
          <p:nvGrpSpPr>
            <p:cNvPr id="6" name="Group 15">
              <a:extLst>
                <a:ext uri="{FF2B5EF4-FFF2-40B4-BE49-F238E27FC236}">
                  <a16:creationId xmlns:a16="http://schemas.microsoft.com/office/drawing/2014/main" id="{DD00FC28-F6C8-0DF7-5D48-3C79C69CA708}"/>
                </a:ext>
              </a:extLst>
            </p:cNvPr>
            <p:cNvGrpSpPr/>
            <p:nvPr/>
          </p:nvGrpSpPr>
          <p:grpSpPr>
            <a:xfrm>
              <a:off x="1239252" y="4042701"/>
              <a:ext cx="6130091" cy="142876"/>
              <a:chOff x="1239252" y="3365341"/>
              <a:chExt cx="6130091" cy="142876"/>
            </a:xfrm>
          </p:grpSpPr>
          <p:grpSp>
            <p:nvGrpSpPr>
              <p:cNvPr id="8" name="Group 17">
                <a:extLst>
                  <a:ext uri="{FF2B5EF4-FFF2-40B4-BE49-F238E27FC236}">
                    <a16:creationId xmlns:a16="http://schemas.microsoft.com/office/drawing/2014/main" id="{275B67C6-DF08-C54D-E052-34BE0DDA724A}"/>
                  </a:ext>
                </a:extLst>
              </p:cNvPr>
              <p:cNvGrpSpPr/>
              <p:nvPr/>
            </p:nvGrpSpPr>
            <p:grpSpPr>
              <a:xfrm>
                <a:off x="1528011" y="3365341"/>
                <a:ext cx="5841332" cy="142876"/>
                <a:chOff x="1528011" y="5330489"/>
                <a:chExt cx="5841332" cy="142876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FC33148-D69E-6CEF-D957-FE8A2E9DF8FE}"/>
                    </a:ext>
                  </a:extLst>
                </p:cNvPr>
                <p:cNvSpPr/>
                <p:nvPr/>
              </p:nvSpPr>
              <p:spPr>
                <a:xfrm>
                  <a:off x="1608222" y="5365080"/>
                  <a:ext cx="5688932" cy="69181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CFC184C-DBD8-7377-53D5-1BFAB86A3781}"/>
                    </a:ext>
                  </a:extLst>
                </p:cNvPr>
                <p:cNvSpPr/>
                <p:nvPr/>
              </p:nvSpPr>
              <p:spPr>
                <a:xfrm>
                  <a:off x="1840829" y="5335002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D3C09DA-40A4-CD08-2D0D-1F7101A86023}"/>
                    </a:ext>
                  </a:extLst>
                </p:cNvPr>
                <p:cNvSpPr/>
                <p:nvPr/>
              </p:nvSpPr>
              <p:spPr>
                <a:xfrm>
                  <a:off x="2642935" y="5335001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B4527A0-2D70-E2DE-6243-175CEC6A86BA}"/>
                    </a:ext>
                  </a:extLst>
                </p:cNvPr>
                <p:cNvSpPr/>
                <p:nvPr/>
              </p:nvSpPr>
              <p:spPr>
                <a:xfrm>
                  <a:off x="5151184" y="5335002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E2C4F944-30A3-5268-E272-FF99CEFF4D94}"/>
                    </a:ext>
                  </a:extLst>
                </p:cNvPr>
                <p:cNvSpPr/>
                <p:nvPr/>
              </p:nvSpPr>
              <p:spPr>
                <a:xfrm>
                  <a:off x="6362364" y="5335003"/>
                  <a:ext cx="7453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48DA666-4E29-0DC6-AC98-67CC125DB9BE}"/>
                    </a:ext>
                  </a:extLst>
                </p:cNvPr>
                <p:cNvSpPr/>
                <p:nvPr/>
              </p:nvSpPr>
              <p:spPr>
                <a:xfrm>
                  <a:off x="6553199" y="5335001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920D95FF-5F09-734A-D0FA-615766637C55}"/>
                    </a:ext>
                  </a:extLst>
                </p:cNvPr>
                <p:cNvSpPr/>
                <p:nvPr/>
              </p:nvSpPr>
              <p:spPr>
                <a:xfrm>
                  <a:off x="7297153" y="5330489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88EAE533-7922-4C84-3679-BBD75A9D34D1}"/>
                    </a:ext>
                  </a:extLst>
                </p:cNvPr>
                <p:cNvSpPr/>
                <p:nvPr/>
              </p:nvSpPr>
              <p:spPr>
                <a:xfrm>
                  <a:off x="1528011" y="5335003"/>
                  <a:ext cx="116304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</p:grp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3568303-2DF2-CF1E-CD25-E9B953C371FA}"/>
                  </a:ext>
                </a:extLst>
              </p:cNvPr>
              <p:cNvSpPr/>
              <p:nvPr/>
            </p:nvSpPr>
            <p:spPr>
              <a:xfrm>
                <a:off x="1239252" y="3383389"/>
                <a:ext cx="288759" cy="103772"/>
              </a:xfrm>
              <a:prstGeom prst="rect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25D1F50-7592-FAC7-59B9-C10B9340AF91}"/>
                </a:ext>
              </a:extLst>
            </p:cNvPr>
            <p:cNvSpPr/>
            <p:nvPr/>
          </p:nvSpPr>
          <p:spPr>
            <a:xfrm>
              <a:off x="7369343" y="4060749"/>
              <a:ext cx="312607" cy="103772"/>
            </a:xfrm>
            <a:prstGeom prst="rect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75DD077F-AFC6-3CC5-FBAC-ACAD9A9EC7A1}"/>
              </a:ext>
            </a:extLst>
          </p:cNvPr>
          <p:cNvSpPr/>
          <p:nvPr/>
        </p:nvSpPr>
        <p:spPr>
          <a:xfrm>
            <a:off x="2141618" y="2640331"/>
            <a:ext cx="565485" cy="138363"/>
          </a:xfrm>
          <a:prstGeom prst="rect">
            <a:avLst/>
          </a:prstGeom>
          <a:solidFill>
            <a:srgbClr val="CCC1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09A2E0-1A37-1FDC-BF6E-8FDC9494FE5D}"/>
              </a:ext>
            </a:extLst>
          </p:cNvPr>
          <p:cNvSpPr/>
          <p:nvPr/>
        </p:nvSpPr>
        <p:spPr>
          <a:xfrm>
            <a:off x="3019925" y="2640330"/>
            <a:ext cx="489284" cy="138364"/>
          </a:xfrm>
          <a:prstGeom prst="rect">
            <a:avLst/>
          </a:prstGeom>
          <a:solidFill>
            <a:srgbClr val="CCC1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9D2626-B9D5-1DDC-5EA2-BC8A732E1578}"/>
              </a:ext>
            </a:extLst>
          </p:cNvPr>
          <p:cNvSpPr/>
          <p:nvPr/>
        </p:nvSpPr>
        <p:spPr>
          <a:xfrm>
            <a:off x="5454313" y="2640331"/>
            <a:ext cx="565485" cy="138363"/>
          </a:xfrm>
          <a:prstGeom prst="rect">
            <a:avLst/>
          </a:prstGeom>
          <a:solidFill>
            <a:srgbClr val="CCC1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6050C2-6CC0-50D2-FDC3-EF31A722D0E7}"/>
              </a:ext>
            </a:extLst>
          </p:cNvPr>
          <p:cNvSpPr/>
          <p:nvPr/>
        </p:nvSpPr>
        <p:spPr>
          <a:xfrm>
            <a:off x="6665492" y="2660920"/>
            <a:ext cx="72190" cy="138362"/>
          </a:xfrm>
          <a:prstGeom prst="rect">
            <a:avLst/>
          </a:prstGeom>
          <a:solidFill>
            <a:srgbClr val="CCC1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6FD16E-3278-9F12-2282-C024F8539E04}"/>
              </a:ext>
            </a:extLst>
          </p:cNvPr>
          <p:cNvSpPr/>
          <p:nvPr/>
        </p:nvSpPr>
        <p:spPr>
          <a:xfrm>
            <a:off x="1832142" y="2635320"/>
            <a:ext cx="112961" cy="143374"/>
          </a:xfrm>
          <a:prstGeom prst="rect">
            <a:avLst/>
          </a:prstGeom>
          <a:solidFill>
            <a:srgbClr val="CCC1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78377-2D23-FC7B-C0E6-82F95C31B2D2}"/>
              </a:ext>
            </a:extLst>
          </p:cNvPr>
          <p:cNvSpPr/>
          <p:nvPr/>
        </p:nvSpPr>
        <p:spPr>
          <a:xfrm>
            <a:off x="2943723" y="3052975"/>
            <a:ext cx="565485" cy="138363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D7A191-FEB3-48D3-BAC7-6502F7DCF81B}"/>
              </a:ext>
            </a:extLst>
          </p:cNvPr>
          <p:cNvSpPr/>
          <p:nvPr/>
        </p:nvSpPr>
        <p:spPr>
          <a:xfrm>
            <a:off x="5454312" y="3052976"/>
            <a:ext cx="565485" cy="138363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ADDF5F-0494-5065-FA14-DF1A428CB903}"/>
              </a:ext>
            </a:extLst>
          </p:cNvPr>
          <p:cNvSpPr/>
          <p:nvPr/>
        </p:nvSpPr>
        <p:spPr>
          <a:xfrm>
            <a:off x="6665492" y="3052977"/>
            <a:ext cx="72190" cy="138362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AB9C1A-9C52-9581-2311-81E4176019FF}"/>
              </a:ext>
            </a:extLst>
          </p:cNvPr>
          <p:cNvSpPr/>
          <p:nvPr/>
        </p:nvSpPr>
        <p:spPr>
          <a:xfrm>
            <a:off x="6853987" y="3052975"/>
            <a:ext cx="72190" cy="138362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7AFFE8-66A6-9055-2FF7-4B831AE178DC}"/>
              </a:ext>
            </a:extLst>
          </p:cNvPr>
          <p:cNvSpPr/>
          <p:nvPr/>
        </p:nvSpPr>
        <p:spPr>
          <a:xfrm>
            <a:off x="7597941" y="3052975"/>
            <a:ext cx="75534" cy="138362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A28902-1910-88A7-9197-59135FE4F92C}"/>
              </a:ext>
            </a:extLst>
          </p:cNvPr>
          <p:cNvSpPr/>
          <p:nvPr/>
        </p:nvSpPr>
        <p:spPr>
          <a:xfrm flipH="1">
            <a:off x="3873802" y="3052974"/>
            <a:ext cx="428626" cy="138363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pSp>
        <p:nvGrpSpPr>
          <p:cNvPr id="30" name="Group 60">
            <a:extLst>
              <a:ext uri="{FF2B5EF4-FFF2-40B4-BE49-F238E27FC236}">
                <a16:creationId xmlns:a16="http://schemas.microsoft.com/office/drawing/2014/main" id="{E710C14F-DEFF-9DB0-D40A-6C8EE0F31E0C}"/>
              </a:ext>
            </a:extLst>
          </p:cNvPr>
          <p:cNvGrpSpPr/>
          <p:nvPr/>
        </p:nvGrpSpPr>
        <p:grpSpPr>
          <a:xfrm>
            <a:off x="1540040" y="2635320"/>
            <a:ext cx="6133434" cy="2251300"/>
            <a:chOff x="1194802" y="3776160"/>
            <a:chExt cx="6133434" cy="2251300"/>
          </a:xfrm>
        </p:grpSpPr>
        <p:cxnSp>
          <p:nvCxnSpPr>
            <p:cNvPr id="31" name="Straight Connector 61">
              <a:extLst>
                <a:ext uri="{FF2B5EF4-FFF2-40B4-BE49-F238E27FC236}">
                  <a16:creationId xmlns:a16="http://schemas.microsoft.com/office/drawing/2014/main" id="{3639B05F-D5CF-39AF-E9D7-3CC1DEEA2E36}"/>
                </a:ext>
              </a:extLst>
            </p:cNvPr>
            <p:cNvCxnSpPr/>
            <p:nvPr/>
          </p:nvCxnSpPr>
          <p:spPr>
            <a:xfrm>
              <a:off x="1194802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62">
              <a:extLst>
                <a:ext uri="{FF2B5EF4-FFF2-40B4-BE49-F238E27FC236}">
                  <a16:creationId xmlns:a16="http://schemas.microsoft.com/office/drawing/2014/main" id="{E22C0150-74DC-E58C-3955-6112244DCE5A}"/>
                </a:ext>
              </a:extLst>
            </p:cNvPr>
            <p:cNvCxnSpPr/>
            <p:nvPr/>
          </p:nvCxnSpPr>
          <p:spPr>
            <a:xfrm>
              <a:off x="1599865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63">
              <a:extLst>
                <a:ext uri="{FF2B5EF4-FFF2-40B4-BE49-F238E27FC236}">
                  <a16:creationId xmlns:a16="http://schemas.microsoft.com/office/drawing/2014/main" id="{2921F82A-F0D3-E50C-A346-639C0DDB970E}"/>
                </a:ext>
              </a:extLst>
            </p:cNvPr>
            <p:cNvCxnSpPr/>
            <p:nvPr/>
          </p:nvCxnSpPr>
          <p:spPr>
            <a:xfrm>
              <a:off x="1483561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64">
              <a:extLst>
                <a:ext uri="{FF2B5EF4-FFF2-40B4-BE49-F238E27FC236}">
                  <a16:creationId xmlns:a16="http://schemas.microsoft.com/office/drawing/2014/main" id="{1A752316-E233-9662-BE37-6C948011F320}"/>
                </a:ext>
              </a:extLst>
            </p:cNvPr>
            <p:cNvCxnSpPr/>
            <p:nvPr/>
          </p:nvCxnSpPr>
          <p:spPr>
            <a:xfrm>
              <a:off x="1797047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65">
              <a:extLst>
                <a:ext uri="{FF2B5EF4-FFF2-40B4-BE49-F238E27FC236}">
                  <a16:creationId xmlns:a16="http://schemas.microsoft.com/office/drawing/2014/main" id="{0BC057E3-1DB4-A38E-A75F-63BA58A79E67}"/>
                </a:ext>
              </a:extLst>
            </p:cNvPr>
            <p:cNvCxnSpPr/>
            <p:nvPr/>
          </p:nvCxnSpPr>
          <p:spPr>
            <a:xfrm>
              <a:off x="2361864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66">
              <a:extLst>
                <a:ext uri="{FF2B5EF4-FFF2-40B4-BE49-F238E27FC236}">
                  <a16:creationId xmlns:a16="http://schemas.microsoft.com/office/drawing/2014/main" id="{A4EAB30C-7D02-1064-8006-DACA5FFF54F1}"/>
                </a:ext>
              </a:extLst>
            </p:cNvPr>
            <p:cNvCxnSpPr/>
            <p:nvPr/>
          </p:nvCxnSpPr>
          <p:spPr>
            <a:xfrm>
              <a:off x="2596145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67">
              <a:extLst>
                <a:ext uri="{FF2B5EF4-FFF2-40B4-BE49-F238E27FC236}">
                  <a16:creationId xmlns:a16="http://schemas.microsoft.com/office/drawing/2014/main" id="{34D0037A-CCE9-EA65-563C-A8784B40A510}"/>
                </a:ext>
              </a:extLst>
            </p:cNvPr>
            <p:cNvCxnSpPr/>
            <p:nvPr/>
          </p:nvCxnSpPr>
          <p:spPr>
            <a:xfrm>
              <a:off x="3161630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68">
              <a:extLst>
                <a:ext uri="{FF2B5EF4-FFF2-40B4-BE49-F238E27FC236}">
                  <a16:creationId xmlns:a16="http://schemas.microsoft.com/office/drawing/2014/main" id="{DF745A90-0722-BB5A-87E0-D93239BFE8F1}"/>
                </a:ext>
              </a:extLst>
            </p:cNvPr>
            <p:cNvCxnSpPr/>
            <p:nvPr/>
          </p:nvCxnSpPr>
          <p:spPr>
            <a:xfrm flipH="1">
              <a:off x="5106734" y="3776160"/>
              <a:ext cx="2342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69">
              <a:extLst>
                <a:ext uri="{FF2B5EF4-FFF2-40B4-BE49-F238E27FC236}">
                  <a16:creationId xmlns:a16="http://schemas.microsoft.com/office/drawing/2014/main" id="{A96C5E55-3CF1-2007-18EA-C70C22F173FC}"/>
                </a:ext>
              </a:extLst>
            </p:cNvPr>
            <p:cNvCxnSpPr/>
            <p:nvPr/>
          </p:nvCxnSpPr>
          <p:spPr>
            <a:xfrm flipH="1">
              <a:off x="5672219" y="3776160"/>
              <a:ext cx="234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70">
              <a:extLst>
                <a:ext uri="{FF2B5EF4-FFF2-40B4-BE49-F238E27FC236}">
                  <a16:creationId xmlns:a16="http://schemas.microsoft.com/office/drawing/2014/main" id="{8A9750E1-5471-7019-B405-732D271B2094}"/>
                </a:ext>
              </a:extLst>
            </p:cNvPr>
            <p:cNvCxnSpPr/>
            <p:nvPr/>
          </p:nvCxnSpPr>
          <p:spPr>
            <a:xfrm>
              <a:off x="6317914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71">
              <a:extLst>
                <a:ext uri="{FF2B5EF4-FFF2-40B4-BE49-F238E27FC236}">
                  <a16:creationId xmlns:a16="http://schemas.microsoft.com/office/drawing/2014/main" id="{80CA8B4A-CB47-C777-684F-04B62DDE8449}"/>
                </a:ext>
              </a:extLst>
            </p:cNvPr>
            <p:cNvCxnSpPr/>
            <p:nvPr/>
          </p:nvCxnSpPr>
          <p:spPr>
            <a:xfrm>
              <a:off x="6389768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72">
              <a:extLst>
                <a:ext uri="{FF2B5EF4-FFF2-40B4-BE49-F238E27FC236}">
                  <a16:creationId xmlns:a16="http://schemas.microsoft.com/office/drawing/2014/main" id="{D985D67F-5294-AC33-DF7E-68757AA326A7}"/>
                </a:ext>
              </a:extLst>
            </p:cNvPr>
            <p:cNvCxnSpPr/>
            <p:nvPr/>
          </p:nvCxnSpPr>
          <p:spPr>
            <a:xfrm>
              <a:off x="6508751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73">
              <a:extLst>
                <a:ext uri="{FF2B5EF4-FFF2-40B4-BE49-F238E27FC236}">
                  <a16:creationId xmlns:a16="http://schemas.microsoft.com/office/drawing/2014/main" id="{C1BD9D49-1D88-6F33-FC25-E638FBEA5318}"/>
                </a:ext>
              </a:extLst>
            </p:cNvPr>
            <p:cNvCxnSpPr/>
            <p:nvPr/>
          </p:nvCxnSpPr>
          <p:spPr>
            <a:xfrm>
              <a:off x="6578599" y="3776160"/>
              <a:ext cx="2341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74">
              <a:extLst>
                <a:ext uri="{FF2B5EF4-FFF2-40B4-BE49-F238E27FC236}">
                  <a16:creationId xmlns:a16="http://schemas.microsoft.com/office/drawing/2014/main" id="{D96214E0-4E97-51C0-0C06-F356117308A5}"/>
                </a:ext>
              </a:extLst>
            </p:cNvPr>
            <p:cNvCxnSpPr/>
            <p:nvPr/>
          </p:nvCxnSpPr>
          <p:spPr>
            <a:xfrm>
              <a:off x="6943439" y="3776160"/>
              <a:ext cx="1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75">
              <a:extLst>
                <a:ext uri="{FF2B5EF4-FFF2-40B4-BE49-F238E27FC236}">
                  <a16:creationId xmlns:a16="http://schemas.microsoft.com/office/drawing/2014/main" id="{0D5C1BAA-9FB1-4072-7920-04E7253B7D2B}"/>
                </a:ext>
              </a:extLst>
            </p:cNvPr>
            <p:cNvCxnSpPr/>
            <p:nvPr/>
          </p:nvCxnSpPr>
          <p:spPr>
            <a:xfrm>
              <a:off x="7328236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93">
            <a:extLst>
              <a:ext uri="{FF2B5EF4-FFF2-40B4-BE49-F238E27FC236}">
                <a16:creationId xmlns:a16="http://schemas.microsoft.com/office/drawing/2014/main" id="{6196A3A9-F1DB-DD9A-C050-E5C4561C6211}"/>
              </a:ext>
            </a:extLst>
          </p:cNvPr>
          <p:cNvSpPr txBox="1"/>
          <p:nvPr/>
        </p:nvSpPr>
        <p:spPr>
          <a:xfrm>
            <a:off x="3869122" y="4886620"/>
            <a:ext cx="1410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Annotation</a:t>
            </a:r>
          </a:p>
        </p:txBody>
      </p:sp>
      <p:sp>
        <p:nvSpPr>
          <p:cNvPr id="47" name="TextBox 167">
            <a:extLst>
              <a:ext uri="{FF2B5EF4-FFF2-40B4-BE49-F238E27FC236}">
                <a16:creationId xmlns:a16="http://schemas.microsoft.com/office/drawing/2014/main" id="{B26377D1-B5B2-FED6-3101-6F97F0D9502F}"/>
              </a:ext>
            </a:extLst>
          </p:cNvPr>
          <p:cNvSpPr txBox="1"/>
          <p:nvPr/>
        </p:nvSpPr>
        <p:spPr>
          <a:xfrm>
            <a:off x="4008525" y="2162416"/>
            <a:ext cx="1347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Alignment</a:t>
            </a:r>
          </a:p>
          <a:p>
            <a:endParaRPr lang="en-US" sz="1400" b="1" dirty="0"/>
          </a:p>
        </p:txBody>
      </p:sp>
      <p:sp>
        <p:nvSpPr>
          <p:cNvPr id="48" name="Right Brace 168">
            <a:extLst>
              <a:ext uri="{FF2B5EF4-FFF2-40B4-BE49-F238E27FC236}">
                <a16:creationId xmlns:a16="http://schemas.microsoft.com/office/drawing/2014/main" id="{3F37F0B4-E3AD-C00D-1FED-6E9062E55C29}"/>
              </a:ext>
            </a:extLst>
          </p:cNvPr>
          <p:cNvSpPr/>
          <p:nvPr/>
        </p:nvSpPr>
        <p:spPr>
          <a:xfrm rot="10800000">
            <a:off x="1225743" y="4123360"/>
            <a:ext cx="129040" cy="67527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170">
            <a:extLst>
              <a:ext uri="{FF2B5EF4-FFF2-40B4-BE49-F238E27FC236}">
                <a16:creationId xmlns:a16="http://schemas.microsoft.com/office/drawing/2014/main" id="{A5B3EF8D-BEAE-6DD6-9569-491ABE9CA0B9}"/>
              </a:ext>
            </a:extLst>
          </p:cNvPr>
          <p:cNvSpPr txBox="1"/>
          <p:nvPr/>
        </p:nvSpPr>
        <p:spPr>
          <a:xfrm>
            <a:off x="586975" y="4256473"/>
            <a:ext cx="86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</a:t>
            </a:r>
          </a:p>
        </p:txBody>
      </p:sp>
      <p:sp>
        <p:nvSpPr>
          <p:cNvPr id="51" name="TextBox 171">
            <a:extLst>
              <a:ext uri="{FF2B5EF4-FFF2-40B4-BE49-F238E27FC236}">
                <a16:creationId xmlns:a16="http://schemas.microsoft.com/office/drawing/2014/main" id="{6ABDA23C-08E4-080B-B9AD-819775BD2978}"/>
              </a:ext>
            </a:extLst>
          </p:cNvPr>
          <p:cNvSpPr txBox="1"/>
          <p:nvPr/>
        </p:nvSpPr>
        <p:spPr>
          <a:xfrm>
            <a:off x="353962" y="2937334"/>
            <a:ext cx="1239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protein2 or transcript2</a:t>
            </a:r>
          </a:p>
        </p:txBody>
      </p:sp>
      <p:sp>
        <p:nvSpPr>
          <p:cNvPr id="52" name="TextBox 176">
            <a:extLst>
              <a:ext uri="{FF2B5EF4-FFF2-40B4-BE49-F238E27FC236}">
                <a16:creationId xmlns:a16="http://schemas.microsoft.com/office/drawing/2014/main" id="{A5CED15D-12A7-849B-BF28-AF06D098BB1D}"/>
              </a:ext>
            </a:extLst>
          </p:cNvPr>
          <p:cNvSpPr txBox="1"/>
          <p:nvPr/>
        </p:nvSpPr>
        <p:spPr>
          <a:xfrm>
            <a:off x="345788" y="2499268"/>
            <a:ext cx="938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protein1 or </a:t>
            </a:r>
          </a:p>
          <a:p>
            <a:r>
              <a:rPr lang="en-US" sz="1200" dirty="0"/>
              <a:t>transcript1</a:t>
            </a:r>
          </a:p>
        </p:txBody>
      </p:sp>
      <p:sp>
        <p:nvSpPr>
          <p:cNvPr id="53" name="Right Brace 177">
            <a:extLst>
              <a:ext uri="{FF2B5EF4-FFF2-40B4-BE49-F238E27FC236}">
                <a16:creationId xmlns:a16="http://schemas.microsoft.com/office/drawing/2014/main" id="{EB65E7AE-AC09-D26F-4A47-0944AE7D190F}"/>
              </a:ext>
            </a:extLst>
          </p:cNvPr>
          <p:cNvSpPr/>
          <p:nvPr/>
        </p:nvSpPr>
        <p:spPr>
          <a:xfrm rot="10800000">
            <a:off x="1213819" y="2606968"/>
            <a:ext cx="129040" cy="31039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178">
            <a:extLst>
              <a:ext uri="{FF2B5EF4-FFF2-40B4-BE49-F238E27FC236}">
                <a16:creationId xmlns:a16="http://schemas.microsoft.com/office/drawing/2014/main" id="{006F44F2-A399-31F4-426B-A60C938546C1}"/>
              </a:ext>
            </a:extLst>
          </p:cNvPr>
          <p:cNvGrpSpPr/>
          <p:nvPr/>
        </p:nvGrpSpPr>
        <p:grpSpPr>
          <a:xfrm>
            <a:off x="2658307" y="4460998"/>
            <a:ext cx="5327774" cy="142876"/>
            <a:chOff x="2354176" y="4042701"/>
            <a:chExt cx="5327774" cy="142876"/>
          </a:xfrm>
        </p:grpSpPr>
        <p:grpSp>
          <p:nvGrpSpPr>
            <p:cNvPr id="55" name="Group 179">
              <a:extLst>
                <a:ext uri="{FF2B5EF4-FFF2-40B4-BE49-F238E27FC236}">
                  <a16:creationId xmlns:a16="http://schemas.microsoft.com/office/drawing/2014/main" id="{6DE9662F-F9A0-C250-E205-0BA89285F129}"/>
                </a:ext>
              </a:extLst>
            </p:cNvPr>
            <p:cNvGrpSpPr/>
            <p:nvPr/>
          </p:nvGrpSpPr>
          <p:grpSpPr>
            <a:xfrm>
              <a:off x="2354176" y="4042701"/>
              <a:ext cx="5015167" cy="142876"/>
              <a:chOff x="2354176" y="3365341"/>
              <a:chExt cx="5015167" cy="142876"/>
            </a:xfrm>
          </p:grpSpPr>
          <p:grpSp>
            <p:nvGrpSpPr>
              <p:cNvPr id="57" name="Group 181">
                <a:extLst>
                  <a:ext uri="{FF2B5EF4-FFF2-40B4-BE49-F238E27FC236}">
                    <a16:creationId xmlns:a16="http://schemas.microsoft.com/office/drawing/2014/main" id="{8A719F81-6D6E-4D9E-CDC6-27C87099E37D}"/>
                  </a:ext>
                </a:extLst>
              </p:cNvPr>
              <p:cNvGrpSpPr/>
              <p:nvPr/>
            </p:nvGrpSpPr>
            <p:grpSpPr>
              <a:xfrm>
                <a:off x="2640594" y="3365341"/>
                <a:ext cx="4728749" cy="142876"/>
                <a:chOff x="2640594" y="5330489"/>
                <a:chExt cx="4728749" cy="142876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1224AFC0-B56E-DE90-6837-5042E2B89A37}"/>
                    </a:ext>
                  </a:extLst>
                </p:cNvPr>
                <p:cNvSpPr/>
                <p:nvPr/>
              </p:nvSpPr>
              <p:spPr>
                <a:xfrm>
                  <a:off x="2640594" y="5365080"/>
                  <a:ext cx="4656559" cy="69181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2D162807-AF4E-E401-B9E3-22006C74839E}"/>
                    </a:ext>
                  </a:extLst>
                </p:cNvPr>
                <p:cNvSpPr/>
                <p:nvPr/>
              </p:nvSpPr>
              <p:spPr>
                <a:xfrm>
                  <a:off x="2642935" y="5335001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B5452F84-F4F2-4B2B-DAE7-415912A77B01}"/>
                    </a:ext>
                  </a:extLst>
                </p:cNvPr>
                <p:cNvSpPr/>
                <p:nvPr/>
              </p:nvSpPr>
              <p:spPr>
                <a:xfrm>
                  <a:off x="5151184" y="5335002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365B70AE-B257-5DBC-B151-1D3616C17F08}"/>
                    </a:ext>
                  </a:extLst>
                </p:cNvPr>
                <p:cNvSpPr/>
                <p:nvPr/>
              </p:nvSpPr>
              <p:spPr>
                <a:xfrm>
                  <a:off x="6362364" y="5335003"/>
                  <a:ext cx="7453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D3CF2F31-43DD-F0F3-3396-E153D45D9BAD}"/>
                    </a:ext>
                  </a:extLst>
                </p:cNvPr>
                <p:cNvSpPr/>
                <p:nvPr/>
              </p:nvSpPr>
              <p:spPr>
                <a:xfrm>
                  <a:off x="6553199" y="5335001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B6C2A3D8-201F-A379-5F48-34BB703E272D}"/>
                    </a:ext>
                  </a:extLst>
                </p:cNvPr>
                <p:cNvSpPr/>
                <p:nvPr/>
              </p:nvSpPr>
              <p:spPr>
                <a:xfrm>
                  <a:off x="7297153" y="5330489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</p:grp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781D7E29-85F3-4355-FFDB-EBE320C419AE}"/>
                  </a:ext>
                </a:extLst>
              </p:cNvPr>
              <p:cNvSpPr/>
              <p:nvPr/>
            </p:nvSpPr>
            <p:spPr>
              <a:xfrm>
                <a:off x="2354176" y="3383389"/>
                <a:ext cx="288759" cy="103772"/>
              </a:xfrm>
              <a:prstGeom prst="rect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F2CE3CF-D1CD-B48A-E914-1CDE8F3ED853}"/>
                </a:ext>
              </a:extLst>
            </p:cNvPr>
            <p:cNvSpPr/>
            <p:nvPr/>
          </p:nvSpPr>
          <p:spPr>
            <a:xfrm>
              <a:off x="7369343" y="4060749"/>
              <a:ext cx="312607" cy="103772"/>
            </a:xfrm>
            <a:prstGeom prst="rect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DADCCE30-4B25-AD50-5EDE-737AAF343B61}"/>
              </a:ext>
            </a:extLst>
          </p:cNvPr>
          <p:cNvSpPr/>
          <p:nvPr/>
        </p:nvSpPr>
        <p:spPr>
          <a:xfrm>
            <a:off x="2896384" y="1078248"/>
            <a:ext cx="62787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dirty="0">
                <a:solidFill>
                  <a:schemeClr val="dk1"/>
                </a:solidFill>
              </a:rPr>
              <a:t>/!\ different type of gff:  </a:t>
            </a:r>
            <a:r>
              <a:rPr lang="fi-FI" b="1" dirty="0">
                <a:solidFill>
                  <a:schemeClr val="accent3">
                    <a:lumMod val="75000"/>
                  </a:schemeClr>
                </a:solidFill>
              </a:rPr>
              <a:t>alignment</a:t>
            </a:r>
            <a:r>
              <a:rPr lang="fi-FI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fi-FI" dirty="0">
                <a:solidFill>
                  <a:schemeClr val="dk1"/>
                </a:solidFill>
              </a:rPr>
              <a:t>/ </a:t>
            </a:r>
            <a:r>
              <a:rPr lang="fi-FI" b="1" dirty="0" err="1">
                <a:solidFill>
                  <a:schemeClr val="accent2">
                    <a:lumMod val="75000"/>
                  </a:schemeClr>
                </a:solidFill>
              </a:rPr>
              <a:t>annotation</a:t>
            </a:r>
            <a:r>
              <a:rPr lang="fi-FI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i-FI" b="1" dirty="0"/>
              <a:t>/ </a:t>
            </a:r>
            <a:r>
              <a:rPr lang="fi-FI" dirty="0" err="1">
                <a:solidFill>
                  <a:schemeClr val="dk1"/>
                </a:solidFill>
              </a:rPr>
              <a:t>other</a:t>
            </a:r>
            <a:endParaRPr lang="fi-FI" dirty="0"/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3A968ED7-3277-3053-04F3-5D395D967878}"/>
              </a:ext>
            </a:extLst>
          </p:cNvPr>
          <p:cNvSpPr txBox="1"/>
          <p:nvPr/>
        </p:nvSpPr>
        <p:spPr>
          <a:xfrm>
            <a:off x="8957246" y="2784456"/>
            <a:ext cx="2332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match, </a:t>
            </a:r>
            <a:r>
              <a:rPr lang="en-US" dirty="0" err="1"/>
              <a:t>match_part</a:t>
            </a:r>
            <a:endParaRPr lang="en-GB" dirty="0"/>
          </a:p>
        </p:txBody>
      </p:sp>
      <p:sp>
        <p:nvSpPr>
          <p:cNvPr id="134" name="Right Brace 177">
            <a:extLst>
              <a:ext uri="{FF2B5EF4-FFF2-40B4-BE49-F238E27FC236}">
                <a16:creationId xmlns:a16="http://schemas.microsoft.com/office/drawing/2014/main" id="{6635DAF3-859E-0E4B-989A-F05AE429703D}"/>
              </a:ext>
            </a:extLst>
          </p:cNvPr>
          <p:cNvSpPr/>
          <p:nvPr/>
        </p:nvSpPr>
        <p:spPr>
          <a:xfrm rot="10800000">
            <a:off x="1213818" y="3012351"/>
            <a:ext cx="129040" cy="31039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5A5C5187-C4AB-3EE6-30C8-3F15B72EC677}"/>
              </a:ext>
            </a:extLst>
          </p:cNvPr>
          <p:cNvSpPr txBox="1"/>
          <p:nvPr/>
        </p:nvSpPr>
        <p:spPr>
          <a:xfrm>
            <a:off x="8936036" y="3972233"/>
            <a:ext cx="30514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Gene, mRNA, exon, intron, CDS, splice site, UTR, …</a:t>
            </a:r>
          </a:p>
          <a:p>
            <a:r>
              <a:rPr lang="en-US" dirty="0"/>
              <a:t>isoforms</a:t>
            </a:r>
          </a:p>
        </p:txBody>
      </p:sp>
    </p:spTree>
    <p:extLst>
      <p:ext uri="{BB962C8B-B14F-4D97-AF65-F5344CB8AC3E}">
        <p14:creationId xmlns:p14="http://schemas.microsoft.com/office/powerpoint/2010/main" val="1816820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ctr"/>
            <a:r>
              <a:rPr lang="en-US" sz="2000" dirty="0">
                <a:latin typeface="Calibri" charset="0"/>
                <a:ea typeface="MS PGothic" charset="0"/>
              </a:rPr>
              <a:t>The main steps in genome annotation </a:t>
            </a:r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6A30F-20F1-B7ED-FE6F-54D43F2A2731}"/>
              </a:ext>
            </a:extLst>
          </p:cNvPr>
          <p:cNvSpPr txBox="1"/>
          <p:nvPr/>
        </p:nvSpPr>
        <p:spPr>
          <a:xfrm>
            <a:off x="3575029" y="2527618"/>
            <a:ext cx="15055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Structural annotation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77197-D25D-72DE-149D-F7DC64C0361B}"/>
              </a:ext>
            </a:extLst>
          </p:cNvPr>
          <p:cNvSpPr txBox="1"/>
          <p:nvPr/>
        </p:nvSpPr>
        <p:spPr>
          <a:xfrm>
            <a:off x="1613289" y="2630182"/>
            <a:ext cx="1673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QC assembly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15AC9-F3B5-9786-EA89-E2FC356057C7}"/>
              </a:ext>
            </a:extLst>
          </p:cNvPr>
          <p:cNvSpPr txBox="1"/>
          <p:nvPr/>
        </p:nvSpPr>
        <p:spPr>
          <a:xfrm>
            <a:off x="6738636" y="2527618"/>
            <a:ext cx="1847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Functional annotation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A0C99-FD42-B800-76B1-58DF819F094E}"/>
              </a:ext>
            </a:extLst>
          </p:cNvPr>
          <p:cNvSpPr txBox="1"/>
          <p:nvPr/>
        </p:nvSpPr>
        <p:spPr>
          <a:xfrm>
            <a:off x="8417816" y="3030292"/>
            <a:ext cx="1967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Submission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5FE234-A200-7DF9-A282-7547A38ECC94}"/>
              </a:ext>
            </a:extLst>
          </p:cNvPr>
          <p:cNvSpPr txBox="1"/>
          <p:nvPr/>
        </p:nvSpPr>
        <p:spPr>
          <a:xfrm>
            <a:off x="8417816" y="2028673"/>
            <a:ext cx="1847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Downstream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225157-64E0-2D3A-DA38-878E1E8A076A}"/>
              </a:ext>
            </a:extLst>
          </p:cNvPr>
          <p:cNvSpPr txBox="1"/>
          <p:nvPr/>
        </p:nvSpPr>
        <p:spPr>
          <a:xfrm>
            <a:off x="5312869" y="2483180"/>
            <a:ext cx="1425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Manual </a:t>
            </a:r>
            <a:r>
              <a:rPr lang="en-US" sz="2000" dirty="0" err="1"/>
              <a:t>curation</a:t>
            </a:r>
            <a:endParaRPr lang="en-US" sz="2000" dirty="0"/>
          </a:p>
        </p:txBody>
      </p:sp>
      <p:cxnSp>
        <p:nvCxnSpPr>
          <p:cNvPr id="11" name="Straight Arrow Connector 12">
            <a:extLst>
              <a:ext uri="{FF2B5EF4-FFF2-40B4-BE49-F238E27FC236}">
                <a16:creationId xmlns:a16="http://schemas.microsoft.com/office/drawing/2014/main" id="{102DB6CE-9C2A-9757-7405-E9DF883CAFC4}"/>
              </a:ext>
            </a:extLst>
          </p:cNvPr>
          <p:cNvCxnSpPr/>
          <p:nvPr/>
        </p:nvCxnSpPr>
        <p:spPr>
          <a:xfrm>
            <a:off x="3122492" y="2837123"/>
            <a:ext cx="33925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4">
            <a:extLst>
              <a:ext uri="{FF2B5EF4-FFF2-40B4-BE49-F238E27FC236}">
                <a16:creationId xmlns:a16="http://schemas.microsoft.com/office/drawing/2014/main" id="{87E566CE-38DD-2C94-2E69-1678BED16AA5}"/>
              </a:ext>
            </a:extLst>
          </p:cNvPr>
          <p:cNvCxnSpPr/>
          <p:nvPr/>
        </p:nvCxnSpPr>
        <p:spPr>
          <a:xfrm>
            <a:off x="4973614" y="2850784"/>
            <a:ext cx="33925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5">
            <a:extLst>
              <a:ext uri="{FF2B5EF4-FFF2-40B4-BE49-F238E27FC236}">
                <a16:creationId xmlns:a16="http://schemas.microsoft.com/office/drawing/2014/main" id="{35487017-1945-B4DC-87DE-401449B18E0C}"/>
              </a:ext>
            </a:extLst>
          </p:cNvPr>
          <p:cNvCxnSpPr/>
          <p:nvPr/>
        </p:nvCxnSpPr>
        <p:spPr>
          <a:xfrm>
            <a:off x="6285522" y="2850784"/>
            <a:ext cx="33925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6">
            <a:extLst>
              <a:ext uri="{FF2B5EF4-FFF2-40B4-BE49-F238E27FC236}">
                <a16:creationId xmlns:a16="http://schemas.microsoft.com/office/drawing/2014/main" id="{3CC68917-D689-6E84-36ED-296FFE3A4B93}"/>
              </a:ext>
            </a:extLst>
          </p:cNvPr>
          <p:cNvCxnSpPr/>
          <p:nvPr/>
        </p:nvCxnSpPr>
        <p:spPr>
          <a:xfrm flipV="1">
            <a:off x="7990130" y="2479876"/>
            <a:ext cx="339255" cy="3709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8">
            <a:extLst>
              <a:ext uri="{FF2B5EF4-FFF2-40B4-BE49-F238E27FC236}">
                <a16:creationId xmlns:a16="http://schemas.microsoft.com/office/drawing/2014/main" id="{247BB98D-AA11-6CEA-DF87-3653250CA5A2}"/>
              </a:ext>
            </a:extLst>
          </p:cNvPr>
          <p:cNvCxnSpPr/>
          <p:nvPr/>
        </p:nvCxnSpPr>
        <p:spPr>
          <a:xfrm>
            <a:off x="7990130" y="2850784"/>
            <a:ext cx="339255" cy="3231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9">
            <a:extLst>
              <a:ext uri="{FF2B5EF4-FFF2-40B4-BE49-F238E27FC236}">
                <a16:creationId xmlns:a16="http://schemas.microsoft.com/office/drawing/2014/main" id="{CA0BC71C-FDA0-9C0E-2109-767299ADD754}"/>
              </a:ext>
            </a:extLst>
          </p:cNvPr>
          <p:cNvCxnSpPr/>
          <p:nvPr/>
        </p:nvCxnSpPr>
        <p:spPr>
          <a:xfrm>
            <a:off x="3286491" y="2131155"/>
            <a:ext cx="0" cy="2824251"/>
          </a:xfrm>
          <a:prstGeom prst="line">
            <a:avLst/>
          </a:prstGeom>
          <a:ln w="635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20">
            <a:extLst>
              <a:ext uri="{FF2B5EF4-FFF2-40B4-BE49-F238E27FC236}">
                <a16:creationId xmlns:a16="http://schemas.microsoft.com/office/drawing/2014/main" id="{DEC4ADED-88B8-2A4F-B04A-B5ED72C1DB67}"/>
              </a:ext>
            </a:extLst>
          </p:cNvPr>
          <p:cNvCxnSpPr/>
          <p:nvPr/>
        </p:nvCxnSpPr>
        <p:spPr>
          <a:xfrm>
            <a:off x="5080568" y="2138092"/>
            <a:ext cx="0" cy="2824251"/>
          </a:xfrm>
          <a:prstGeom prst="line">
            <a:avLst/>
          </a:prstGeom>
          <a:ln w="635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21">
            <a:extLst>
              <a:ext uri="{FF2B5EF4-FFF2-40B4-BE49-F238E27FC236}">
                <a16:creationId xmlns:a16="http://schemas.microsoft.com/office/drawing/2014/main" id="{BFEAE2F8-69A3-9CAE-B47F-7DE2505C3C83}"/>
              </a:ext>
            </a:extLst>
          </p:cNvPr>
          <p:cNvCxnSpPr/>
          <p:nvPr/>
        </p:nvCxnSpPr>
        <p:spPr>
          <a:xfrm>
            <a:off x="6485283" y="2125934"/>
            <a:ext cx="0" cy="2824251"/>
          </a:xfrm>
          <a:prstGeom prst="line">
            <a:avLst/>
          </a:prstGeom>
          <a:ln w="635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22">
            <a:extLst>
              <a:ext uri="{FF2B5EF4-FFF2-40B4-BE49-F238E27FC236}">
                <a16:creationId xmlns:a16="http://schemas.microsoft.com/office/drawing/2014/main" id="{828E4F25-782C-0700-77A5-43FADFA42DFE}"/>
              </a:ext>
            </a:extLst>
          </p:cNvPr>
          <p:cNvCxnSpPr/>
          <p:nvPr/>
        </p:nvCxnSpPr>
        <p:spPr>
          <a:xfrm>
            <a:off x="8072819" y="2131155"/>
            <a:ext cx="0" cy="2824251"/>
          </a:xfrm>
          <a:prstGeom prst="line">
            <a:avLst/>
          </a:prstGeom>
          <a:ln w="635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23">
            <a:extLst>
              <a:ext uri="{FF2B5EF4-FFF2-40B4-BE49-F238E27FC236}">
                <a16:creationId xmlns:a16="http://schemas.microsoft.com/office/drawing/2014/main" id="{98BCD687-F57A-9B70-5033-02AA49797610}"/>
              </a:ext>
            </a:extLst>
          </p:cNvPr>
          <p:cNvCxnSpPr/>
          <p:nvPr/>
        </p:nvCxnSpPr>
        <p:spPr>
          <a:xfrm flipH="1">
            <a:off x="8100107" y="2863176"/>
            <a:ext cx="1912400" cy="0"/>
          </a:xfrm>
          <a:prstGeom prst="line">
            <a:avLst/>
          </a:prstGeom>
          <a:ln w="635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Screen Shot 2016-04-25 at 14.03.24.png">
            <a:extLst>
              <a:ext uri="{FF2B5EF4-FFF2-40B4-BE49-F238E27FC236}">
                <a16:creationId xmlns:a16="http://schemas.microsoft.com/office/drawing/2014/main" id="{630F4DC3-04E5-91EC-0880-CB3BFCEDBE1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931" y="4144263"/>
            <a:ext cx="10685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8">
            <a:extLst>
              <a:ext uri="{FF2B5EF4-FFF2-40B4-BE49-F238E27FC236}">
                <a16:creationId xmlns:a16="http://schemas.microsoft.com/office/drawing/2014/main" id="{35E9A2F5-51E6-D043-49C5-6375FFE8E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948" y="4171370"/>
            <a:ext cx="1075679" cy="298501"/>
          </a:xfrm>
          <a:prstGeom prst="rect">
            <a:avLst/>
          </a:prstGeom>
        </p:spPr>
      </p:pic>
      <p:pic>
        <p:nvPicPr>
          <p:cNvPr id="24" name="Picture 30" descr="Screen Shot 2018-09-06 at 13.50.29.png">
            <a:extLst>
              <a:ext uri="{FF2B5EF4-FFF2-40B4-BE49-F238E27FC236}">
                <a16:creationId xmlns:a16="http://schemas.microsoft.com/office/drawing/2014/main" id="{97F5D790-6261-B69D-DFBD-FDD8036C05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636" y="4176149"/>
            <a:ext cx="1142331" cy="368224"/>
          </a:xfrm>
          <a:prstGeom prst="rect">
            <a:avLst/>
          </a:prstGeom>
        </p:spPr>
      </p:pic>
      <p:sp>
        <p:nvSpPr>
          <p:cNvPr id="26" name="TextBox 32">
            <a:extLst>
              <a:ext uri="{FF2B5EF4-FFF2-40B4-BE49-F238E27FC236}">
                <a16:creationId xmlns:a16="http://schemas.microsoft.com/office/drawing/2014/main" id="{919B702D-97B6-6024-29E0-E1AFB0452C88}"/>
              </a:ext>
            </a:extLst>
          </p:cNvPr>
          <p:cNvSpPr txBox="1"/>
          <p:nvPr/>
        </p:nvSpPr>
        <p:spPr>
          <a:xfrm>
            <a:off x="2573932" y="1236187"/>
            <a:ext cx="395052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1</a:t>
            </a:r>
            <a:endParaRPr lang="en-US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7" name="TextBox 34">
            <a:extLst>
              <a:ext uri="{FF2B5EF4-FFF2-40B4-BE49-F238E27FC236}">
                <a16:creationId xmlns:a16="http://schemas.microsoft.com/office/drawing/2014/main" id="{5BCADA39-84C9-64EA-8B92-6BAC3FAF9C91}"/>
              </a:ext>
            </a:extLst>
          </p:cNvPr>
          <p:cNvSpPr txBox="1"/>
          <p:nvPr/>
        </p:nvSpPr>
        <p:spPr>
          <a:xfrm>
            <a:off x="3957588" y="1236187"/>
            <a:ext cx="395052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2</a:t>
            </a:r>
            <a:endParaRPr lang="en-US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8" name="TextBox 35">
            <a:extLst>
              <a:ext uri="{FF2B5EF4-FFF2-40B4-BE49-F238E27FC236}">
                <a16:creationId xmlns:a16="http://schemas.microsoft.com/office/drawing/2014/main" id="{1EA6E24B-1C37-6F4F-AC73-28DCC2647AD6}"/>
              </a:ext>
            </a:extLst>
          </p:cNvPr>
          <p:cNvSpPr txBox="1"/>
          <p:nvPr/>
        </p:nvSpPr>
        <p:spPr>
          <a:xfrm>
            <a:off x="5425564" y="1236187"/>
            <a:ext cx="920225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(3)</a:t>
            </a:r>
            <a:endParaRPr lang="en-US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9" name="TextBox 36">
            <a:extLst>
              <a:ext uri="{FF2B5EF4-FFF2-40B4-BE49-F238E27FC236}">
                <a16:creationId xmlns:a16="http://schemas.microsoft.com/office/drawing/2014/main" id="{23FBA851-0413-C068-29A2-C798EE337993}"/>
              </a:ext>
            </a:extLst>
          </p:cNvPr>
          <p:cNvSpPr txBox="1"/>
          <p:nvPr/>
        </p:nvSpPr>
        <p:spPr>
          <a:xfrm>
            <a:off x="7226282" y="1236187"/>
            <a:ext cx="395052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4</a:t>
            </a:r>
            <a:endParaRPr lang="en-US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0" name="TextBox 37">
            <a:extLst>
              <a:ext uri="{FF2B5EF4-FFF2-40B4-BE49-F238E27FC236}">
                <a16:creationId xmlns:a16="http://schemas.microsoft.com/office/drawing/2014/main" id="{518BBAE3-B198-1602-D845-7A6818492DED}"/>
              </a:ext>
            </a:extLst>
          </p:cNvPr>
          <p:cNvSpPr txBox="1"/>
          <p:nvPr/>
        </p:nvSpPr>
        <p:spPr>
          <a:xfrm>
            <a:off x="8892520" y="1236187"/>
            <a:ext cx="395052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5</a:t>
            </a:r>
            <a:endParaRPr lang="en-US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1" name="TextBox 3">
            <a:extLst>
              <a:ext uri="{FF2B5EF4-FFF2-40B4-BE49-F238E27FC236}">
                <a16:creationId xmlns:a16="http://schemas.microsoft.com/office/drawing/2014/main" id="{96794A4F-9A38-B2BF-4B70-F7B529971B07}"/>
              </a:ext>
            </a:extLst>
          </p:cNvPr>
          <p:cNvSpPr txBox="1"/>
          <p:nvPr/>
        </p:nvSpPr>
        <p:spPr>
          <a:xfrm>
            <a:off x="3711081" y="4144263"/>
            <a:ext cx="1505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Bakta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228B16AB-9B33-F21F-E768-97BD28224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764" y="3402619"/>
            <a:ext cx="1963106" cy="172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771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QC assembly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D4F5C09-3626-5172-598F-20F468AE106D}"/>
              </a:ext>
            </a:extLst>
          </p:cNvPr>
          <p:cNvSpPr txBox="1"/>
          <p:nvPr/>
        </p:nvSpPr>
        <p:spPr>
          <a:xfrm>
            <a:off x="1097971" y="1519409"/>
            <a:ext cx="8863446" cy="3760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The quality of the assembly will heavily influence the quality of the annotation</a:t>
            </a:r>
          </a:p>
          <a:p>
            <a:endParaRPr lang="en-US" sz="2000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pPr lvl="2">
              <a:lnSpc>
                <a:spcPct val="160000"/>
              </a:lnSpc>
              <a:buFont typeface="Wingdings" charset="2"/>
              <a:buChar char="q"/>
            </a:pPr>
            <a:r>
              <a:rPr lang="en-US" sz="1800" dirty="0">
                <a:solidFill>
                  <a:srgbClr val="000000"/>
                </a:solidFill>
                <a:latin typeface="Calibri" charset="0"/>
                <a:ea typeface="MS PGothic" charset="0"/>
              </a:rPr>
              <a:t>SNP-errors can change start/stop-codons/splice sites</a:t>
            </a:r>
          </a:p>
          <a:p>
            <a:pPr lvl="2">
              <a:lnSpc>
                <a:spcPct val="160000"/>
              </a:lnSpc>
              <a:buFont typeface="Wingdings" charset="2"/>
              <a:buChar char="q"/>
            </a:pPr>
            <a:r>
              <a:rPr lang="en-US" sz="1800" dirty="0">
                <a:solidFill>
                  <a:srgbClr val="000000"/>
                </a:solidFill>
                <a:latin typeface="Calibri" charset="0"/>
                <a:ea typeface="MS PGothic" charset="0"/>
              </a:rPr>
              <a:t> Indels can cause frame-shifts</a:t>
            </a:r>
          </a:p>
          <a:p>
            <a:pPr lvl="2">
              <a:lnSpc>
                <a:spcPct val="160000"/>
              </a:lnSpc>
              <a:buFont typeface="Wingdings" charset="2"/>
              <a:buChar char="q"/>
            </a:pPr>
            <a:r>
              <a:rPr lang="en-US" sz="1800" dirty="0">
                <a:solidFill>
                  <a:srgbClr val="000000"/>
                </a:solidFill>
                <a:latin typeface="Calibri" charset="0"/>
                <a:ea typeface="MS PGothic" charset="0"/>
              </a:rPr>
              <a:t>High fragmentation could break loci</a:t>
            </a:r>
          </a:p>
          <a:p>
            <a:pPr lvl="2">
              <a:lnSpc>
                <a:spcPct val="160000"/>
              </a:lnSpc>
              <a:buFont typeface="Wingdings" charset="2"/>
              <a:buChar char="q"/>
            </a:pPr>
            <a:r>
              <a:rPr lang="en-US" sz="1800" dirty="0">
                <a:solidFill>
                  <a:srgbClr val="000000"/>
                </a:solidFill>
                <a:latin typeface="Calibri" charset="0"/>
                <a:ea typeface="MS PGothic" charset="0"/>
              </a:rPr>
              <a:t>missing loci cannot be annotated</a:t>
            </a:r>
          </a:p>
          <a:p>
            <a:pPr lvl="2">
              <a:lnSpc>
                <a:spcPct val="160000"/>
              </a:lnSpc>
            </a:pPr>
            <a:endParaRPr lang="en-US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pPr lvl="2"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Calibri" charset="0"/>
                <a:ea typeface="MS PGothic" charset="0"/>
              </a:rPr>
              <a:t>=&gt; Annotation tools have difficulties to deal with those problems</a:t>
            </a:r>
          </a:p>
          <a:p>
            <a:pPr lvl="2">
              <a:lnSpc>
                <a:spcPct val="160000"/>
              </a:lnSpc>
            </a:pPr>
            <a:endParaRPr lang="en-US" sz="1800" dirty="0">
              <a:solidFill>
                <a:srgbClr val="000000"/>
              </a:solidFill>
              <a:latin typeface="Calibri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223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AC5D18A-CC57-22CE-7C17-80299D05B74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QC assembly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90025AF-DF4A-93C8-5399-78E1B834F8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472AF48-DB85-8F14-F905-6096AE37B422}"/>
              </a:ext>
            </a:extLst>
          </p:cNvPr>
          <p:cNvSpPr txBox="1"/>
          <p:nvPr/>
        </p:nvSpPr>
        <p:spPr>
          <a:xfrm>
            <a:off x="254746" y="733380"/>
            <a:ext cx="7680939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libri" charset="0"/>
                <a:ea typeface="MS PGothic" charset="0"/>
              </a:rPr>
              <a:t>Before to start a project check:</a:t>
            </a:r>
          </a:p>
          <a:p>
            <a:endParaRPr lang="en-US" sz="2000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endParaRPr lang="en-US" sz="2000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Fragmentation (N50, number of sequences, how many small contigs)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000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Sanity of the </a:t>
            </a:r>
            <a:r>
              <a:rPr lang="en-US" sz="2000" dirty="0" err="1">
                <a:solidFill>
                  <a:srgbClr val="000000"/>
                </a:solidFill>
                <a:latin typeface="Calibri" charset="0"/>
                <a:ea typeface="MS PGothic" charset="0"/>
              </a:rPr>
              <a:t>fasta</a:t>
            </a: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 file (Ns, IUPAC, </a:t>
            </a:r>
            <a:r>
              <a:rPr lang="en-US" sz="2000" b="1" dirty="0">
                <a:solidFill>
                  <a:srgbClr val="000000"/>
                </a:solidFill>
                <a:latin typeface="Calibri" charset="0"/>
                <a:ea typeface="MS PGothic" charset="0"/>
              </a:rPr>
              <a:t>lowercase nucleotides</a:t>
            </a: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)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000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Completeness / duplication / fragmentation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000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b="1" dirty="0">
                <a:solidFill>
                  <a:srgbClr val="000000"/>
                </a:solidFill>
                <a:latin typeface="Calibri" charset="0"/>
                <a:ea typeface="MS PGothic" charset="0"/>
              </a:rPr>
              <a:t>Presence of Organelles, plasmids, etc.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000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Other (GC content, how distant from other species)</a:t>
            </a:r>
          </a:p>
        </p:txBody>
      </p:sp>
      <p:pic>
        <p:nvPicPr>
          <p:cNvPr id="6" name="Picture 2" descr="Screen Shot 2016-04-25 at 14.03.24.png">
            <a:extLst>
              <a:ext uri="{FF2B5EF4-FFF2-40B4-BE49-F238E27FC236}">
                <a16:creationId xmlns:a16="http://schemas.microsoft.com/office/drawing/2014/main" id="{15D73FC1-1122-DB87-6155-0CE53410AD0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945" y="2897282"/>
            <a:ext cx="1378676" cy="460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48958B7-B282-CC7D-995C-FDDCA065EFCD}"/>
              </a:ext>
            </a:extLst>
          </p:cNvPr>
          <p:cNvSpPr/>
          <p:nvPr/>
        </p:nvSpPr>
        <p:spPr>
          <a:xfrm>
            <a:off x="6733309" y="2871023"/>
            <a:ext cx="5458691" cy="2769989"/>
          </a:xfrm>
          <a:prstGeom prst="rect">
            <a:avLst/>
          </a:prstGeom>
          <a:solidFill>
            <a:srgbClr val="C00000">
              <a:alpha val="20267"/>
            </a:srgbClr>
          </a:solidFill>
        </p:spPr>
        <p:txBody>
          <a:bodyPr wrap="square">
            <a:spAutoFit/>
          </a:bodyPr>
          <a:lstStyle/>
          <a:p>
            <a:r>
              <a:rPr lang="en-US" sz="1100" dirty="0">
                <a:latin typeface="Menlo-Regular"/>
              </a:rPr>
              <a:t># BUSCO version is: 3.0.2 </a:t>
            </a:r>
          </a:p>
          <a:p>
            <a:r>
              <a:rPr lang="en-US" sz="1100" dirty="0">
                <a:latin typeface="Menlo-Regular"/>
              </a:rPr>
              <a:t># The lineage dataset is: </a:t>
            </a:r>
            <a:r>
              <a:rPr lang="en-US" sz="1100" b="1" dirty="0">
                <a:latin typeface="Menlo-Regular"/>
              </a:rPr>
              <a:t>fungi_odb9</a:t>
            </a:r>
            <a:r>
              <a:rPr lang="en-US" sz="1100" dirty="0">
                <a:latin typeface="Menlo-Regular"/>
              </a:rPr>
              <a:t> (Creation date: 2016-02-13, number of species: 85, number of BUSCOs: </a:t>
            </a:r>
            <a:r>
              <a:rPr lang="en-US" sz="1100" b="1" dirty="0">
                <a:latin typeface="Menlo-Regular"/>
              </a:rPr>
              <a:t>290</a:t>
            </a:r>
            <a:r>
              <a:rPr lang="en-US" sz="1100" dirty="0">
                <a:latin typeface="Menlo-Regular"/>
              </a:rPr>
              <a:t>)</a:t>
            </a:r>
          </a:p>
          <a:p>
            <a:r>
              <a:rPr lang="en-US" sz="1100" dirty="0">
                <a:latin typeface="Menlo-Regular"/>
              </a:rPr>
              <a:t>#</a:t>
            </a:r>
          </a:p>
          <a:p>
            <a:r>
              <a:rPr lang="en-US" sz="1100" dirty="0">
                <a:latin typeface="Menlo-Regular"/>
              </a:rPr>
              <a:t># Summarized benchmarking in BUSCO notation for file </a:t>
            </a:r>
            <a:r>
              <a:rPr lang="en-US" sz="1100" dirty="0" err="1">
                <a:latin typeface="Menlo-Regular"/>
              </a:rPr>
              <a:t>genome.fa</a:t>
            </a:r>
            <a:endParaRPr lang="en-US" sz="1100" dirty="0">
              <a:latin typeface="Menlo-Regular"/>
            </a:endParaRPr>
          </a:p>
          <a:p>
            <a:r>
              <a:rPr lang="en-US" sz="1100" dirty="0">
                <a:latin typeface="Menlo-Regular"/>
              </a:rPr>
              <a:t># BUSCO was run in mode: </a:t>
            </a:r>
            <a:r>
              <a:rPr lang="en-US" sz="1100" b="1" dirty="0">
                <a:latin typeface="Menlo-Regular"/>
              </a:rPr>
              <a:t>genome</a:t>
            </a:r>
          </a:p>
          <a:p>
            <a:endParaRPr lang="en-US" sz="1200" dirty="0">
              <a:latin typeface="Menlo-Regular"/>
            </a:endParaRPr>
          </a:p>
          <a:p>
            <a:r>
              <a:rPr lang="mr-IN" sz="1200" dirty="0">
                <a:latin typeface="Menlo-Regular"/>
              </a:rPr>
              <a:t>	</a:t>
            </a:r>
            <a:r>
              <a:rPr lang="mr-IN" sz="1200" b="1" dirty="0">
                <a:latin typeface="Menlo-Regular"/>
              </a:rPr>
              <a:t>C:98.</a:t>
            </a:r>
            <a:r>
              <a:rPr lang="sv-SE" sz="1200" b="1" dirty="0">
                <a:latin typeface="Menlo-Regular"/>
              </a:rPr>
              <a:t>6</a:t>
            </a:r>
            <a:r>
              <a:rPr lang="mr-IN" sz="1200" b="1" dirty="0">
                <a:latin typeface="Menlo-Regular"/>
              </a:rPr>
              <a:t>%</a:t>
            </a:r>
            <a:r>
              <a:rPr lang="sv-SE" sz="1200" dirty="0">
                <a:latin typeface="Menlo-Regular"/>
              </a:rPr>
              <a:t>[</a:t>
            </a:r>
            <a:r>
              <a:rPr lang="mr-IN" sz="1200" dirty="0">
                <a:latin typeface="Menlo-Regular"/>
              </a:rPr>
              <a:t>S:97.</a:t>
            </a:r>
            <a:r>
              <a:rPr lang="sv-SE" sz="1200" dirty="0">
                <a:latin typeface="Menlo-Regular"/>
              </a:rPr>
              <a:t>9</a:t>
            </a:r>
            <a:r>
              <a:rPr lang="mr-IN" sz="1200" dirty="0">
                <a:latin typeface="Menlo-Regular"/>
              </a:rPr>
              <a:t>%,D:0.7%</a:t>
            </a:r>
            <a:r>
              <a:rPr lang="sv-SE" sz="1200" dirty="0">
                <a:latin typeface="Menlo-Regular"/>
              </a:rPr>
              <a:t>]</a:t>
            </a:r>
            <a:r>
              <a:rPr lang="mr-IN" sz="1200" dirty="0">
                <a:latin typeface="Menlo-Regular"/>
              </a:rPr>
              <a:t>,F:</a:t>
            </a:r>
            <a:r>
              <a:rPr lang="sv-SE" sz="1200" dirty="0">
                <a:latin typeface="Menlo-Regular"/>
              </a:rPr>
              <a:t>0</a:t>
            </a:r>
            <a:r>
              <a:rPr lang="mr-IN" sz="1200" dirty="0">
                <a:latin typeface="Menlo-Regular"/>
              </a:rPr>
              <a:t>.</a:t>
            </a:r>
            <a:r>
              <a:rPr lang="sv-SE" sz="1200" dirty="0">
                <a:latin typeface="Menlo-Regular"/>
              </a:rPr>
              <a:t>0</a:t>
            </a:r>
            <a:r>
              <a:rPr lang="mr-IN" sz="1200" dirty="0">
                <a:latin typeface="Menlo-Regular"/>
              </a:rPr>
              <a:t>%,M:</a:t>
            </a:r>
            <a:r>
              <a:rPr lang="sv-SE" sz="1200" dirty="0">
                <a:latin typeface="Menlo-Regular"/>
              </a:rPr>
              <a:t>1</a:t>
            </a:r>
            <a:r>
              <a:rPr lang="mr-IN" sz="1200" dirty="0">
                <a:latin typeface="Menlo-Regular"/>
              </a:rPr>
              <a:t>.</a:t>
            </a:r>
            <a:r>
              <a:rPr lang="sv-SE" sz="1200" dirty="0">
                <a:latin typeface="Menlo-Regular"/>
              </a:rPr>
              <a:t>4</a:t>
            </a:r>
            <a:r>
              <a:rPr lang="mr-IN" sz="1200" dirty="0">
                <a:latin typeface="Menlo-Regular"/>
              </a:rPr>
              <a:t>%,n:290</a:t>
            </a:r>
          </a:p>
          <a:p>
            <a:endParaRPr lang="mr-IN" sz="1200" dirty="0">
              <a:latin typeface="Menlo-Regular"/>
            </a:endParaRPr>
          </a:p>
          <a:p>
            <a:r>
              <a:rPr lang="en-US" sz="1200" dirty="0">
                <a:latin typeface="Menlo-Regular"/>
              </a:rPr>
              <a:t>	286	Complete BUSCOs (C)</a:t>
            </a:r>
          </a:p>
          <a:p>
            <a:r>
              <a:rPr lang="en-US" sz="1200" dirty="0">
                <a:latin typeface="Menlo-Regular"/>
              </a:rPr>
              <a:t>	284	Complete and single-copy BUSCOs (S)</a:t>
            </a:r>
          </a:p>
          <a:p>
            <a:r>
              <a:rPr lang="en-US" sz="1200" dirty="0">
                <a:latin typeface="Menlo-Regular"/>
              </a:rPr>
              <a:t>	2	Complete and duplicated BUSCOs (D)</a:t>
            </a:r>
          </a:p>
          <a:p>
            <a:r>
              <a:rPr lang="en-US" sz="1200" dirty="0">
                <a:latin typeface="Menlo-Regular"/>
              </a:rPr>
              <a:t>	0	Fragmented BUSCOs (F)</a:t>
            </a:r>
          </a:p>
          <a:p>
            <a:r>
              <a:rPr lang="en-US" sz="1200" dirty="0">
                <a:latin typeface="Menlo-Regular"/>
              </a:rPr>
              <a:t>	</a:t>
            </a:r>
            <a:r>
              <a:rPr lang="en-US" sz="1200" b="1" dirty="0">
                <a:latin typeface="Menlo-Regular"/>
              </a:rPr>
              <a:t>4	Missing BUSCOs (M)</a:t>
            </a:r>
          </a:p>
          <a:p>
            <a:r>
              <a:rPr lang="en-US" sz="1200" dirty="0">
                <a:latin typeface="Menlo-Regular"/>
              </a:rPr>
              <a:t>	290	Total BUSCO groups searched</a:t>
            </a:r>
            <a:endParaRPr lang="en-US" sz="1200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ACB5F76F-CB76-C3DE-C50C-3AE29F1A493F}"/>
              </a:ext>
            </a:extLst>
          </p:cNvPr>
          <p:cNvCxnSpPr>
            <a:cxnSpLocks/>
          </p:cNvCxnSpPr>
          <p:nvPr/>
        </p:nvCxnSpPr>
        <p:spPr>
          <a:xfrm>
            <a:off x="5372655" y="3357942"/>
            <a:ext cx="1378676" cy="228307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E10D548-3C88-5359-1B3C-19FC6BA1A96E}"/>
              </a:ext>
            </a:extLst>
          </p:cNvPr>
          <p:cNvCxnSpPr>
            <a:cxnSpLocks/>
          </p:cNvCxnSpPr>
          <p:nvPr/>
        </p:nvCxnSpPr>
        <p:spPr>
          <a:xfrm>
            <a:off x="5372655" y="2871023"/>
            <a:ext cx="1850739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EF1F871-E5ED-1C55-4FA9-CEC16B6E49B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Structural annotation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49850-A1E2-7E94-36A4-2B1C27432E8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0410643-2DAD-2A79-430B-257E6BB0C952}"/>
              </a:ext>
            </a:extLst>
          </p:cNvPr>
          <p:cNvSpPr txBox="1"/>
          <p:nvPr/>
        </p:nvSpPr>
        <p:spPr>
          <a:xfrm>
            <a:off x="254746" y="733380"/>
            <a:ext cx="9859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libri" charset="0"/>
                <a:ea typeface="MS PGothic" charset="0"/>
              </a:rPr>
              <a:t>What to annotate?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21381BE-BB59-8EA7-41C8-7F274D1A7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19296"/>
              </p:ext>
            </p:extLst>
          </p:nvPr>
        </p:nvGraphicFramePr>
        <p:xfrm>
          <a:off x="349827" y="1312755"/>
          <a:ext cx="7703127" cy="4197594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928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5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8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559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  <a:r>
                        <a:rPr lang="en-US" baseline="0" dirty="0"/>
                        <a:t>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 associated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Tool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112">
                <a:tc>
                  <a:txBody>
                    <a:bodyPr/>
                    <a:lstStyle/>
                    <a:p>
                      <a:r>
                        <a:rPr lang="en-US" dirty="0"/>
                        <a:t>Coding genes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Ensembl</a:t>
                      </a:r>
                      <a:r>
                        <a:rPr lang="en-US" dirty="0"/>
                        <a:t>, NCBI, EBI, </a:t>
                      </a:r>
                      <a:r>
                        <a:rPr lang="en-US" dirty="0" err="1"/>
                        <a:t>Uniprot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https://juke34.github.io/awesome-genome-annotation/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076539"/>
                  </a:ext>
                </a:extLst>
              </a:tr>
              <a:tr h="379559">
                <a:tc>
                  <a:txBody>
                    <a:bodyPr/>
                    <a:lstStyle/>
                    <a:p>
                      <a:r>
                        <a:rPr lang="en-US" dirty="0" err="1"/>
                        <a:t>ncRNA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Rfam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infernal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559">
                <a:tc>
                  <a:txBody>
                    <a:bodyPr/>
                    <a:lstStyle/>
                    <a:p>
                      <a:r>
                        <a:rPr lang="en-US" dirty="0" err="1"/>
                        <a:t>tRNA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Sprinzl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database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tRNAscan</a:t>
                      </a:r>
                      <a:r>
                        <a:rPr lang="en-US" dirty="0"/>
                        <a:t>-SE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559">
                <a:tc>
                  <a:txBody>
                    <a:bodyPr/>
                    <a:lstStyle/>
                    <a:p>
                      <a:r>
                        <a:rPr lang="en-US" dirty="0" err="1"/>
                        <a:t>snoRNA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snoscan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112">
                <a:tc>
                  <a:txBody>
                    <a:bodyPr/>
                    <a:lstStyle/>
                    <a:p>
                      <a:r>
                        <a:rPr lang="en-US" dirty="0" err="1"/>
                        <a:t>miRNA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miRBase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Splign</a:t>
                      </a:r>
                      <a:endParaRPr lang="en-US" dirty="0"/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miR-PREFeR</a:t>
                      </a:r>
                      <a:r>
                        <a:rPr lang="en-US" dirty="0"/>
                        <a:t> (for plant)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559">
                <a:tc>
                  <a:txBody>
                    <a:bodyPr/>
                    <a:lstStyle/>
                    <a:p>
                      <a:r>
                        <a:rPr lang="en-US" dirty="0"/>
                        <a:t>Repeats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Repbase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Dfam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RepeatModeler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repeatMasker</a:t>
                      </a:r>
                      <a:r>
                        <a:rPr lang="en-US" dirty="0"/>
                        <a:t>, REPET, EDTA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559">
                <a:tc>
                  <a:txBody>
                    <a:bodyPr/>
                    <a:lstStyle/>
                    <a:p>
                      <a:r>
                        <a:rPr lang="en-US" dirty="0" err="1"/>
                        <a:t>Pseudogenes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pseudopipe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559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F63BAC50-D4B3-4076-8B80-222324D7348F}"/>
              </a:ext>
            </a:extLst>
          </p:cNvPr>
          <p:cNvSpPr txBox="1"/>
          <p:nvPr/>
        </p:nvSpPr>
        <p:spPr>
          <a:xfrm>
            <a:off x="8052954" y="5375499"/>
            <a:ext cx="37892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solidFill>
                  <a:srgbClr val="000000"/>
                </a:solidFill>
                <a:latin typeface="Calibri" charset="0"/>
                <a:ea typeface="MS PGothic" charset="0"/>
              </a:rPr>
              <a:t>=&gt; Focus on Repeats and coding genes</a:t>
            </a:r>
          </a:p>
          <a:p>
            <a:pPr algn="r"/>
            <a:r>
              <a:rPr lang="en-US" dirty="0">
                <a:solidFill>
                  <a:schemeClr val="accent2"/>
                </a:solidFill>
                <a:latin typeface="Calibri" charset="0"/>
                <a:ea typeface="MS PGothic" charset="0"/>
              </a:rPr>
              <a:t>Why repeats?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26B3C50-E801-2B3F-99E6-EA5F4CF81E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5" t="6767" r="11544" b="7576"/>
          <a:stretch/>
        </p:blipFill>
        <p:spPr>
          <a:xfrm>
            <a:off x="8052954" y="1704109"/>
            <a:ext cx="646331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24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6980152-F0C3-1C1B-937E-862DA6D53E3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Coding genes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B9C369B-7F20-2006-6D04-9088E4C420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005A07-A54B-9407-3CFA-A93E6D802CDA}"/>
              </a:ext>
            </a:extLst>
          </p:cNvPr>
          <p:cNvSpPr txBox="1">
            <a:spLocks/>
          </p:cNvSpPr>
          <p:nvPr/>
        </p:nvSpPr>
        <p:spPr bwMode="auto">
          <a:xfrm>
            <a:off x="2131334" y="640614"/>
            <a:ext cx="8229600" cy="57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000" kern="1200">
                <a:solidFill>
                  <a:srgbClr val="13652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00000"/>
                </a:solidFill>
                <a:latin typeface="Calibri" charset="0"/>
                <a:ea typeface="MS PGothic" charset="0"/>
              </a:rPr>
              <a:t>Types of data needed</a:t>
            </a:r>
            <a:endParaRPr lang="en-US" sz="2400" dirty="0">
              <a:solidFill>
                <a:srgbClr val="000000"/>
              </a:solidFill>
              <a:latin typeface="Calibri" charset="0"/>
              <a:ea typeface="MS PGothic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4506C3-4A3E-CE1D-24F3-F2577B836612}"/>
              </a:ext>
            </a:extLst>
          </p:cNvPr>
          <p:cNvSpPr txBox="1">
            <a:spLocks/>
          </p:cNvSpPr>
          <p:nvPr/>
        </p:nvSpPr>
        <p:spPr bwMode="auto">
          <a:xfrm>
            <a:off x="4313428" y="1887998"/>
            <a:ext cx="2464169" cy="1117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 charset="0"/>
                <a:ea typeface="MS PGothic" charset="0"/>
              </a:rPr>
              <a:t>Known amino acid sequences from other organisms</a:t>
            </a:r>
          </a:p>
          <a:p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93514FD-27A7-7A18-3D41-7955FAD1A91E}"/>
              </a:ext>
            </a:extLst>
          </p:cNvPr>
          <p:cNvSpPr txBox="1">
            <a:spLocks/>
          </p:cNvSpPr>
          <p:nvPr/>
        </p:nvSpPr>
        <p:spPr bwMode="auto">
          <a:xfrm>
            <a:off x="7708085" y="1900041"/>
            <a:ext cx="3944793" cy="1007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marL="228600" indent="-22860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effectLst/>
                <a:latin typeface="Calibri" charset="0"/>
                <a:ea typeface="MS PGothic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cap="none" baseline="0">
                <a:effectLst/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effectLst/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cap="none" baseline="0">
                <a:effectLst/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baseline="0">
                <a:effectLst/>
              </a:defRPr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baseline="0">
                <a:effectLst/>
              </a:defRPr>
            </a:lvl9pPr>
          </a:lstStyle>
          <a:p>
            <a:r>
              <a:rPr lang="en-US" dirty="0"/>
              <a:t>Assembled from RNA-seq or downloaded ESTs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E7389629-4258-3CC3-782A-211DC8A1A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471" y="1352353"/>
            <a:ext cx="1212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r>
              <a:rPr lang="en-US" dirty="0"/>
              <a:t>Proteins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A69690DC-E48C-0F89-32BC-C5F66BC63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7448" y="1352353"/>
            <a:ext cx="1539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r>
              <a:rPr lang="en-US"/>
              <a:t>Transcripts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0009CA3B-6EAC-E330-324C-4BEB891FCB6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646" y="3140786"/>
            <a:ext cx="1927225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447D5687-958D-AAA9-ACFA-949B56BF3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67" y="1352650"/>
            <a:ext cx="24192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r>
              <a:rPr lang="en-US" dirty="0"/>
              <a:t>Machine Learning</a:t>
            </a:r>
          </a:p>
        </p:txBody>
      </p:sp>
      <p:pic>
        <p:nvPicPr>
          <p:cNvPr id="12" name="Picture 2" descr="Transcription+The+new+mRNA+molecule+is+formed+by+incorporating+nucleotides+that+are+complementary+to+the+template+strand..jpg">
            <a:extLst>
              <a:ext uri="{FF2B5EF4-FFF2-40B4-BE49-F238E27FC236}">
                <a16:creationId xmlns:a16="http://schemas.microsoft.com/office/drawing/2014/main" id="{FFD8CCE5-ABA7-712C-9D7D-DA1031E70D0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4" t="29979" r="4536"/>
          <a:stretch/>
        </p:blipFill>
        <p:spPr>
          <a:xfrm>
            <a:off x="8102051" y="3211559"/>
            <a:ext cx="3248816" cy="189866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C3BC7D4-324F-6BC6-0276-D8F299BC3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91" y="2966001"/>
            <a:ext cx="2269557" cy="1067190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CA88BC6-1BEA-3E0C-AB01-1B0885CE3041}"/>
              </a:ext>
            </a:extLst>
          </p:cNvPr>
          <p:cNvSpPr txBox="1">
            <a:spLocks/>
          </p:cNvSpPr>
          <p:nvPr/>
        </p:nvSpPr>
        <p:spPr bwMode="auto">
          <a:xfrm>
            <a:off x="760567" y="1900041"/>
            <a:ext cx="2464169" cy="1117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 charset="0"/>
                <a:ea typeface="MS PGothic" charset="0"/>
              </a:rPr>
              <a:t>HMM</a:t>
            </a:r>
          </a:p>
          <a:p>
            <a:r>
              <a:rPr lang="en-US" dirty="0">
                <a:latin typeface="Calibri" charset="0"/>
                <a:ea typeface="MS PGothic" charset="0"/>
              </a:rPr>
              <a:t>Deep Learning</a:t>
            </a:r>
          </a:p>
          <a:p>
            <a:endParaRPr lang="en-US" dirty="0">
              <a:latin typeface="Calibri" charset="0"/>
              <a:ea typeface="MS PGothic" charset="0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FBDA749E-DEE5-AB6F-92E1-6673B352F80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rcRect l="2412" t="16710" r="4047" b="14622"/>
          <a:stretch/>
        </p:blipFill>
        <p:spPr>
          <a:xfrm>
            <a:off x="571691" y="4270510"/>
            <a:ext cx="2397266" cy="131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08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F22536-C814-AC5C-9681-856D5FD3986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Assessing an annotation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D9A3EC-011D-D4E1-4F9D-0D06BBE7F4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A7F9382-F6F5-9A79-78F1-B17D772C6500}"/>
              </a:ext>
            </a:extLst>
          </p:cNvPr>
          <p:cNvSpPr txBox="1"/>
          <p:nvPr/>
        </p:nvSpPr>
        <p:spPr>
          <a:xfrm>
            <a:off x="2119745" y="1662545"/>
            <a:ext cx="724246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</a:rPr>
              <a:t>Simple statistics (number genes / number exon per gene)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</a:rPr>
              <a:t>                         (and compare against assembly result )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</a:rPr>
              <a:t>Protein/transcript evidence (AED score in MAKER)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</a:rPr>
              <a:t>Comparative genomics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000" dirty="0">
              <a:solidFill>
                <a:srgbClr val="000000"/>
              </a:solidFill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</a:rPr>
              <a:t>Domain  / Function attached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</a:rPr>
              <a:t>Visualization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D7024F-231E-5178-6C67-9E8FB14CE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727" y="3275771"/>
            <a:ext cx="2129080" cy="2370265"/>
          </a:xfrm>
          <a:prstGeom prst="rect">
            <a:avLst/>
          </a:prstGeom>
        </p:spPr>
      </p:pic>
      <p:pic>
        <p:nvPicPr>
          <p:cNvPr id="7" name="Picture 2" descr="Screen Shot 2016-04-25 at 14.03.24.png">
            <a:extLst>
              <a:ext uri="{FF2B5EF4-FFF2-40B4-BE49-F238E27FC236}">
                <a16:creationId xmlns:a16="http://schemas.microsoft.com/office/drawing/2014/main" id="{FA9C7D6B-7A8F-DF8F-B74A-28D1D7CE440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593" y="2168543"/>
            <a:ext cx="1630739" cy="610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EC30740-E037-28C3-02B0-E2490EF872D3}"/>
              </a:ext>
            </a:extLst>
          </p:cNvPr>
          <p:cNvSpPr txBox="1"/>
          <p:nvPr/>
        </p:nvSpPr>
        <p:spPr>
          <a:xfrm>
            <a:off x="-6926" y="765832"/>
            <a:ext cx="6102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	No annotation method is perfect, they do mistakes !!</a:t>
            </a:r>
          </a:p>
        </p:txBody>
      </p:sp>
    </p:spTree>
    <p:extLst>
      <p:ext uri="{BB962C8B-B14F-4D97-AF65-F5344CB8AC3E}">
        <p14:creationId xmlns:p14="http://schemas.microsoft.com/office/powerpoint/2010/main" val="1261804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18C4BC2-F8B4-E783-E8F6-05C00BA4C80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Visualization / Manual curation tools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C7231FD-C371-A34D-9DDC-C004DDCE23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CF0C9791-CED6-EBC5-378B-75F535753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484217"/>
              </p:ext>
            </p:extLst>
          </p:nvPr>
        </p:nvGraphicFramePr>
        <p:xfrm>
          <a:off x="572953" y="585587"/>
          <a:ext cx="8692427" cy="4924936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430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7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358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983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Standalone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Web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Manual </a:t>
                      </a:r>
                      <a:r>
                        <a:rPr lang="en-US" sz="1400" dirty="0" err="1"/>
                        <a:t>curation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83">
                <a:tc>
                  <a:txBody>
                    <a:bodyPr/>
                    <a:lstStyle/>
                    <a:p>
                      <a:r>
                        <a:rPr lang="en-US" sz="1400" dirty="0"/>
                        <a:t>Artemis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Can save annotation in EMBL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83">
                <a:tc>
                  <a:txBody>
                    <a:bodyPr/>
                    <a:lstStyle/>
                    <a:p>
                      <a:r>
                        <a:rPr lang="en-US" sz="1400" dirty="0"/>
                        <a:t>IGV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Popular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7706">
                <a:tc>
                  <a:txBody>
                    <a:bodyPr/>
                    <a:lstStyle/>
                    <a:p>
                      <a:r>
                        <a:rPr lang="en-US" sz="1400" dirty="0"/>
                        <a:t>Savant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Sequence Annotation, Visualization and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ANalysis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Tool.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enable Plug-ins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70">
                <a:tc>
                  <a:txBody>
                    <a:bodyPr/>
                    <a:lstStyle/>
                    <a:p>
                      <a:r>
                        <a:rPr lang="en-US" sz="1400" dirty="0"/>
                        <a:t>Tablet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670">
                <a:tc>
                  <a:txBody>
                    <a:bodyPr/>
                    <a:lstStyle/>
                    <a:p>
                      <a:r>
                        <a:rPr lang="en-US" sz="1400" dirty="0"/>
                        <a:t>IGB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enable Plug-ins. Can load local and remote data (</a:t>
                      </a:r>
                      <a:r>
                        <a:rPr lang="en-US" sz="1400" dirty="0" err="1"/>
                        <a:t>dropbox</a:t>
                      </a:r>
                      <a:r>
                        <a:rPr lang="en-US" sz="1400" dirty="0"/>
                        <a:t>, </a:t>
                      </a:r>
                      <a:r>
                        <a:rPr lang="en-US" sz="1400" baseline="0" dirty="0"/>
                        <a:t>UCSC genome, </a:t>
                      </a:r>
                      <a:r>
                        <a:rPr lang="en-US" sz="1400" baseline="0" dirty="0" err="1"/>
                        <a:t>etc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83">
                <a:tc>
                  <a:txBody>
                    <a:bodyPr/>
                    <a:lstStyle/>
                    <a:p>
                      <a:r>
                        <a:rPr lang="en-US" sz="1400" dirty="0" err="1"/>
                        <a:t>Jbrowse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GMOD (successor of </a:t>
                      </a:r>
                      <a:r>
                        <a:rPr lang="en-US" sz="1400" dirty="0" err="1"/>
                        <a:t>Gbrowse</a:t>
                      </a:r>
                      <a:r>
                        <a:rPr lang="en-US" sz="1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583">
                <a:tc>
                  <a:txBody>
                    <a:bodyPr/>
                    <a:lstStyle/>
                    <a:p>
                      <a:r>
                        <a:rPr lang="en-US" sz="1400" dirty="0"/>
                        <a:t>Web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Apollo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Active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community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gmod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 Based on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Jbrowse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Real-time collaboration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291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UCSC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Times"/>
                        </a:rPr>
                        <a:t>A large amount of locally stored data must be uploaded to servers across the internet 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467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Ensembl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genome browsers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Times"/>
                        </a:rPr>
                        <a:t>A large amount of locally stored data must be uploaded to servers across the internet 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4D2C47EF-246F-29A9-E8C3-9F19B5892629}"/>
              </a:ext>
            </a:extLst>
          </p:cNvPr>
          <p:cNvSpPr txBox="1"/>
          <p:nvPr/>
        </p:nvSpPr>
        <p:spPr>
          <a:xfrm>
            <a:off x="7107382" y="5651610"/>
            <a:ext cx="5084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Annotation can be improved by </a:t>
            </a:r>
            <a:r>
              <a:rPr lang="en-US" sz="1800" b="1" dirty="0"/>
              <a:t>manual curation</a:t>
            </a:r>
          </a:p>
        </p:txBody>
      </p:sp>
    </p:spTree>
    <p:extLst>
      <p:ext uri="{BB962C8B-B14F-4D97-AF65-F5344CB8AC3E}">
        <p14:creationId xmlns:p14="http://schemas.microsoft.com/office/powerpoint/2010/main" val="1277006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43E7607-2183-D084-647F-54DD64FA6B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Functional annotation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7684237-0DD6-6210-CCA2-97E85FC74ED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8614C96-2312-A960-C49E-CB985B0733CF}"/>
              </a:ext>
            </a:extLst>
          </p:cNvPr>
          <p:cNvSpPr txBox="1"/>
          <p:nvPr/>
        </p:nvSpPr>
        <p:spPr>
          <a:xfrm>
            <a:off x="191068" y="603788"/>
            <a:ext cx="110127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Most </a:t>
            </a:r>
            <a:r>
              <a:rPr lang="fr-FR" dirty="0" err="1"/>
              <a:t>methods</a:t>
            </a:r>
            <a:r>
              <a:rPr lang="fr-FR" dirty="0"/>
              <a:t> focus </a:t>
            </a:r>
            <a:r>
              <a:rPr lang="fr-FR" dirty="0" err="1"/>
              <a:t>primarily</a:t>
            </a:r>
            <a:r>
              <a:rPr lang="fr-FR" dirty="0"/>
              <a:t> on </a:t>
            </a:r>
            <a:r>
              <a:rPr lang="fr-FR" dirty="0" err="1"/>
              <a:t>gene</a:t>
            </a:r>
            <a:r>
              <a:rPr lang="fr-FR" dirty="0"/>
              <a:t> </a:t>
            </a:r>
            <a:r>
              <a:rPr lang="fr-FR" dirty="0" err="1"/>
              <a:t>prediction</a:t>
            </a:r>
            <a:r>
              <a:rPr lang="fr-FR" dirty="0"/>
              <a:t>,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b="1" dirty="0" err="1"/>
              <a:t>functional</a:t>
            </a:r>
            <a:r>
              <a:rPr lang="fr-FR" b="1" dirty="0"/>
              <a:t> annotation</a:t>
            </a:r>
            <a:r>
              <a:rPr lang="fr-FR" dirty="0"/>
              <a:t>. On the </a:t>
            </a:r>
            <a:r>
              <a:rPr lang="fr-FR" dirty="0" err="1"/>
              <a:t>other</a:t>
            </a:r>
            <a:r>
              <a:rPr lang="fr-FR" dirty="0"/>
              <a:t> hand, </a:t>
            </a:r>
            <a:r>
              <a:rPr lang="fr-FR" dirty="0" err="1"/>
              <a:t>some</a:t>
            </a:r>
            <a:r>
              <a:rPr lang="fr-FR" dirty="0"/>
              <a:t> pipelines </a:t>
            </a:r>
            <a:r>
              <a:rPr lang="fr-FR" dirty="0" err="1"/>
              <a:t>incorporate</a:t>
            </a:r>
            <a:r>
              <a:rPr lang="fr-FR" dirty="0"/>
              <a:t> </a:t>
            </a:r>
            <a:r>
              <a:rPr lang="fr-FR" dirty="0" err="1"/>
              <a:t>additional</a:t>
            </a:r>
            <a:r>
              <a:rPr lang="fr-FR" dirty="0"/>
              <a:t> </a:t>
            </a:r>
            <a:r>
              <a:rPr lang="fr-FR" dirty="0" err="1"/>
              <a:t>steps</a:t>
            </a:r>
            <a:r>
              <a:rPr lang="fr-FR" dirty="0"/>
              <a:t> to </a:t>
            </a:r>
            <a:r>
              <a:rPr lang="fr-FR" dirty="0" err="1"/>
              <a:t>address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essential aspect of </a:t>
            </a:r>
            <a:r>
              <a:rPr lang="fr-FR" dirty="0" err="1"/>
              <a:t>genome</a:t>
            </a:r>
            <a:r>
              <a:rPr lang="fr-FR" dirty="0"/>
              <a:t> annotation.</a:t>
            </a:r>
            <a:endParaRPr lang="en-US" sz="1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64F20F-C9E6-219B-9DED-024FF2EFB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120" y="1412971"/>
            <a:ext cx="1854057" cy="8204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3C3640-58F1-6B65-6DAB-AF922A1CE219}"/>
              </a:ext>
            </a:extLst>
          </p:cNvPr>
          <p:cNvSpPr/>
          <p:nvPr/>
        </p:nvSpPr>
        <p:spPr>
          <a:xfrm>
            <a:off x="7767177" y="1671499"/>
            <a:ext cx="21844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Mice homozygous for the diabetes 3J spontaneous mutation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58C7361-CA23-F567-68AA-C63496FE2850}"/>
              </a:ext>
            </a:extLst>
          </p:cNvPr>
          <p:cNvSpPr txBox="1">
            <a:spLocks/>
          </p:cNvSpPr>
          <p:nvPr/>
        </p:nvSpPr>
        <p:spPr>
          <a:xfrm>
            <a:off x="1981200" y="1442177"/>
            <a:ext cx="8229600" cy="49707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74B333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0000"/>
                </a:solidFill>
              </a:rPr>
              <a:t>Experimentally</a:t>
            </a:r>
          </a:p>
          <a:p>
            <a:pPr marL="0" indent="0">
              <a:buFont typeface="Arial"/>
              <a:buNone/>
            </a:pPr>
            <a:r>
              <a:rPr lang="en-US" dirty="0">
                <a:solidFill>
                  <a:srgbClr val="000000"/>
                </a:solidFill>
              </a:rPr>
              <a:t>	=&gt; Mutants,</a:t>
            </a: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</a:rPr>
              <a:t>knockout, etc.</a:t>
            </a:r>
          </a:p>
          <a:p>
            <a:pPr marL="0" indent="0">
              <a:buFont typeface="Arial"/>
              <a:buNone/>
            </a:pPr>
            <a:endParaRPr lang="en-US" dirty="0"/>
          </a:p>
          <a:p>
            <a:pPr marL="0" indent="0">
              <a:buFont typeface="Arial"/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Font typeface="Arial"/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Font typeface="Arial"/>
              <a:buNone/>
            </a:pPr>
            <a:endParaRPr lang="en-US" dirty="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Computationally</a:t>
            </a:r>
            <a:endParaRPr lang="en-US" sz="2000" dirty="0"/>
          </a:p>
          <a:p>
            <a:pPr lvl="1"/>
            <a:r>
              <a:rPr lang="en-US" sz="2000" dirty="0">
                <a:solidFill>
                  <a:srgbClr val="000000"/>
                </a:solidFill>
              </a:rPr>
              <a:t>Sequence-based</a:t>
            </a:r>
          </a:p>
          <a:p>
            <a:pPr lvl="1"/>
            <a:endParaRPr lang="en-US" sz="2000" dirty="0">
              <a:solidFill>
                <a:srgbClr val="000000"/>
              </a:solidFill>
            </a:endParaRP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Structure based</a:t>
            </a:r>
          </a:p>
          <a:p>
            <a:pPr lvl="1"/>
            <a:endParaRPr lang="en-US" sz="1800" dirty="0">
              <a:solidFill>
                <a:srgbClr val="000000"/>
              </a:solidFill>
            </a:endParaRP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Protein-protein interaction data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Font typeface="Arial"/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Font typeface="Arial"/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9" name="Picture 2" descr="http://0.tqn.com/d/biology/1/0/2/b/protein_structure.jpg">
            <a:extLst>
              <a:ext uri="{FF2B5EF4-FFF2-40B4-BE49-F238E27FC236}">
                <a16:creationId xmlns:a16="http://schemas.microsoft.com/office/drawing/2014/main" id="{398E9A06-B717-CFB9-72FD-A866C3AA0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8081" y="3016486"/>
            <a:ext cx="1606123" cy="234456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>
            <a:extLst>
              <a:ext uri="{FF2B5EF4-FFF2-40B4-BE49-F238E27FC236}">
                <a16:creationId xmlns:a16="http://schemas.microsoft.com/office/drawing/2014/main" id="{307A408E-60EB-1961-24D6-D9CDE3FF6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807" y="5060151"/>
            <a:ext cx="1143000" cy="760615"/>
          </a:xfrm>
          <a:prstGeom prst="rect">
            <a:avLst/>
          </a:prstGeom>
        </p:spPr>
      </p:pic>
      <p:cxnSp>
        <p:nvCxnSpPr>
          <p:cNvPr id="11" name="Straight Arrow Connector 17">
            <a:extLst>
              <a:ext uri="{FF2B5EF4-FFF2-40B4-BE49-F238E27FC236}">
                <a16:creationId xmlns:a16="http://schemas.microsoft.com/office/drawing/2014/main" id="{D63D9348-21E6-6CAB-BBAB-90A62B2F15C9}"/>
              </a:ext>
            </a:extLst>
          </p:cNvPr>
          <p:cNvCxnSpPr>
            <a:cxnSpLocks/>
          </p:cNvCxnSpPr>
          <p:nvPr/>
        </p:nvCxnSpPr>
        <p:spPr>
          <a:xfrm>
            <a:off x="5901983" y="5402620"/>
            <a:ext cx="65524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8">
            <a:extLst>
              <a:ext uri="{FF2B5EF4-FFF2-40B4-BE49-F238E27FC236}">
                <a16:creationId xmlns:a16="http://schemas.microsoft.com/office/drawing/2014/main" id="{27D927A9-44F5-4B09-F143-28665370618D}"/>
              </a:ext>
            </a:extLst>
          </p:cNvPr>
          <p:cNvCxnSpPr>
            <a:cxnSpLocks/>
          </p:cNvCxnSpPr>
          <p:nvPr/>
        </p:nvCxnSpPr>
        <p:spPr>
          <a:xfrm>
            <a:off x="4541271" y="4756535"/>
            <a:ext cx="35054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8D42FA87-F374-E84C-9C17-57D087136F0B}"/>
              </a:ext>
            </a:extLst>
          </p:cNvPr>
          <p:cNvCxnSpPr>
            <a:cxnSpLocks/>
          </p:cNvCxnSpPr>
          <p:nvPr/>
        </p:nvCxnSpPr>
        <p:spPr>
          <a:xfrm flipV="1">
            <a:off x="4788404" y="3598295"/>
            <a:ext cx="1124716" cy="414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27">
            <a:extLst>
              <a:ext uri="{FF2B5EF4-FFF2-40B4-BE49-F238E27FC236}">
                <a16:creationId xmlns:a16="http://schemas.microsoft.com/office/drawing/2014/main" id="{1C71B279-E7B6-C5E5-428F-D7CB7AD845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0599" y="2879475"/>
            <a:ext cx="2229277" cy="928865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0BE42061-A16F-0E7A-1249-08D5533991BB}"/>
              </a:ext>
            </a:extLst>
          </p:cNvPr>
          <p:cNvSpPr txBox="1"/>
          <p:nvPr/>
        </p:nvSpPr>
        <p:spPr>
          <a:xfrm>
            <a:off x="191069" y="4130440"/>
            <a:ext cx="1790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limited accuracy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A3EDA03-6227-AA02-3F82-0D48E317330D}"/>
              </a:ext>
            </a:extLst>
          </p:cNvPr>
          <p:cNvSpPr txBox="1"/>
          <p:nvPr/>
        </p:nvSpPr>
        <p:spPr>
          <a:xfrm>
            <a:off x="418034" y="1442177"/>
            <a:ext cx="1563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Accurate</a:t>
            </a:r>
            <a:endParaRPr lang="en-GB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873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38C8FC8-0351-C607-E6F2-74B7B326E9C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Data Submission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8B01D41-B0CF-56DA-D817-B514F7AE1DF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0EB503D-BEB0-6B07-9E23-2BCABA3B7AAB}"/>
              </a:ext>
            </a:extLst>
          </p:cNvPr>
          <p:cNvSpPr txBox="1"/>
          <p:nvPr/>
        </p:nvSpPr>
        <p:spPr>
          <a:xfrm>
            <a:off x="0" y="618897"/>
            <a:ext cx="6102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Submit your annotation in public archives e.g. EBI, NCBI, etc.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9CA9B07-C165-609A-AD30-B6697E7D829D}"/>
              </a:ext>
            </a:extLst>
          </p:cNvPr>
          <p:cNvSpPr txBox="1"/>
          <p:nvPr/>
        </p:nvSpPr>
        <p:spPr>
          <a:xfrm>
            <a:off x="252846" y="1368435"/>
            <a:ext cx="910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3600" b="1" dirty="0">
                <a:solidFill>
                  <a:srgbClr val="F79646"/>
                </a:solidFill>
                <a:latin typeface="Calibri" charset="0"/>
                <a:ea typeface="MS PGothic" charset="0"/>
              </a:rPr>
              <a:t>GFF</a:t>
            </a:r>
            <a:endParaRPr lang="en-GB" sz="36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73244E7-2500-A9BB-30D6-07436237A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36" y="4356728"/>
            <a:ext cx="1468582" cy="1773382"/>
          </a:xfrm>
          <a:prstGeom prst="rect">
            <a:avLst/>
          </a:prstGeom>
        </p:spPr>
      </p:pic>
      <p:sp>
        <p:nvSpPr>
          <p:cNvPr id="9" name="Arc 8">
            <a:extLst>
              <a:ext uri="{FF2B5EF4-FFF2-40B4-BE49-F238E27FC236}">
                <a16:creationId xmlns:a16="http://schemas.microsoft.com/office/drawing/2014/main" id="{6A570615-D9FC-EE88-86A7-7F0B3D51AB83}"/>
              </a:ext>
            </a:extLst>
          </p:cNvPr>
          <p:cNvSpPr/>
          <p:nvPr/>
        </p:nvSpPr>
        <p:spPr>
          <a:xfrm>
            <a:off x="633243" y="1691600"/>
            <a:ext cx="1468582" cy="1494014"/>
          </a:xfrm>
          <a:prstGeom prst="arc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86228658-4DDA-1F0D-01AD-84DE8910F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785518" y="2515005"/>
            <a:ext cx="1589781" cy="1201638"/>
          </a:xfrm>
          <a:prstGeom prst="rect">
            <a:avLst/>
          </a:prstGeom>
        </p:spPr>
      </p:pic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01D04BD9-1FB6-BECC-EBCF-8FA28E1B4E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023868"/>
              </p:ext>
            </p:extLst>
          </p:nvPr>
        </p:nvGraphicFramePr>
        <p:xfrm>
          <a:off x="4406375" y="2117563"/>
          <a:ext cx="6903630" cy="219048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01210">
                  <a:extLst>
                    <a:ext uri="{9D8B030D-6E8A-4147-A177-3AD203B41FA5}">
                      <a16:colId xmlns:a16="http://schemas.microsoft.com/office/drawing/2014/main" val="2174619980"/>
                    </a:ext>
                  </a:extLst>
                </a:gridCol>
                <a:gridCol w="2301210">
                  <a:extLst>
                    <a:ext uri="{9D8B030D-6E8A-4147-A177-3AD203B41FA5}">
                      <a16:colId xmlns:a16="http://schemas.microsoft.com/office/drawing/2014/main" val="2588048419"/>
                    </a:ext>
                  </a:extLst>
                </a:gridCol>
                <a:gridCol w="2301210">
                  <a:extLst>
                    <a:ext uri="{9D8B030D-6E8A-4147-A177-3AD203B41FA5}">
                      <a16:colId xmlns:a16="http://schemas.microsoft.com/office/drawing/2014/main" val="1288223492"/>
                    </a:ext>
                  </a:extLst>
                </a:gridCol>
              </a:tblGrid>
              <a:tr h="79943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NCBI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226623"/>
                  </a:ext>
                </a:extLst>
              </a:tr>
              <a:tr h="799433">
                <a:tc>
                  <a:txBody>
                    <a:bodyPr/>
                    <a:lstStyle/>
                    <a:p>
                      <a:r>
                        <a:rPr lang="en-GB" dirty="0"/>
                        <a:t>converter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EMBLmyGFF3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GAG</a:t>
                      </a:r>
                    </a:p>
                    <a:p>
                      <a:r>
                        <a:rPr lang="en-GB" dirty="0"/>
                        <a:t>Manual + table2asn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899136"/>
                  </a:ext>
                </a:extLst>
              </a:tr>
              <a:tr h="591617">
                <a:tc>
                  <a:txBody>
                    <a:bodyPr/>
                    <a:lstStyle/>
                    <a:p>
                      <a:r>
                        <a:rPr lang="en-GB" dirty="0"/>
                        <a:t>Expected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Flat file (EMBL)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ASN.1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296828"/>
                  </a:ext>
                </a:extLst>
              </a:tr>
            </a:tbl>
          </a:graphicData>
        </a:graphic>
      </p:graphicFrame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FA6E1092-1DC7-F472-A265-AF22E5A90116}"/>
              </a:ext>
            </a:extLst>
          </p:cNvPr>
          <p:cNvCxnSpPr>
            <a:cxnSpLocks/>
          </p:cNvCxnSpPr>
          <p:nvPr/>
        </p:nvCxnSpPr>
        <p:spPr>
          <a:xfrm>
            <a:off x="3546764" y="3197500"/>
            <a:ext cx="73429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829A3336-011A-8BFD-36B8-E801DBBA2709}"/>
              </a:ext>
            </a:extLst>
          </p:cNvPr>
          <p:cNvSpPr/>
          <p:nvPr/>
        </p:nvSpPr>
        <p:spPr>
          <a:xfrm rot="5400000">
            <a:off x="5988141" y="3561039"/>
            <a:ext cx="1468582" cy="1494014"/>
          </a:xfrm>
          <a:prstGeom prst="arc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7DFCFC9F-94A0-3075-9680-6F9CF2E9B1F8}"/>
              </a:ext>
            </a:extLst>
          </p:cNvPr>
          <p:cNvSpPr/>
          <p:nvPr/>
        </p:nvSpPr>
        <p:spPr>
          <a:xfrm rot="5400000">
            <a:off x="8487361" y="3561039"/>
            <a:ext cx="1468582" cy="1494014"/>
          </a:xfrm>
          <a:prstGeom prst="arc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CC07750E-717B-F0D5-9C00-B0903D2414D8}"/>
              </a:ext>
            </a:extLst>
          </p:cNvPr>
          <p:cNvCxnSpPr>
            <a:cxnSpLocks/>
          </p:cNvCxnSpPr>
          <p:nvPr/>
        </p:nvCxnSpPr>
        <p:spPr>
          <a:xfrm flipH="1">
            <a:off x="1884556" y="5042337"/>
            <a:ext cx="733709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3466F4B5-60D3-E9BB-482A-97ECCEE317D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9946" y="3385888"/>
            <a:ext cx="1002561" cy="100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721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16D94D-7AA5-2B3C-A6EE-862067C58A1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9E24F68-DB8C-4590-8CA9-5AB178F701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9" r="5513"/>
          <a:stretch/>
        </p:blipFill>
        <p:spPr>
          <a:xfrm>
            <a:off x="2644000" y="240631"/>
            <a:ext cx="6903995" cy="52057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154CB8-EF6E-DC1B-97D5-375C388BB404}"/>
              </a:ext>
            </a:extLst>
          </p:cNvPr>
          <p:cNvSpPr/>
          <p:nvPr/>
        </p:nvSpPr>
        <p:spPr>
          <a:xfrm>
            <a:off x="2644001" y="4468170"/>
            <a:ext cx="69039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chemeClr val="bg1"/>
                </a:solidFill>
              </a:rPr>
              <a:t>Thank you for your attention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5124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60806</TotalTime>
  <Words>1946</Words>
  <Application>Microsoft Macintosh PowerPoint</Application>
  <PresentationFormat>Grand écran</PresentationFormat>
  <Paragraphs>402</Paragraphs>
  <Slides>22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34" baseType="lpstr">
      <vt:lpstr>Arial</vt:lpstr>
      <vt:lpstr>Calibri</vt:lpstr>
      <vt:lpstr>Calibri Light</vt:lpstr>
      <vt:lpstr>Consolas</vt:lpstr>
      <vt:lpstr>Gill Sans MT</vt:lpstr>
      <vt:lpstr>Menlo-Regular</vt:lpstr>
      <vt:lpstr>Roboto</vt:lpstr>
      <vt:lpstr>Symbol</vt:lpstr>
      <vt:lpstr>Times</vt:lpstr>
      <vt:lpstr>Times New Roman</vt:lpstr>
      <vt:lpstr>Wingdings</vt:lpstr>
      <vt:lpstr>Galerie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Bils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Jacques Dainat Ph.D.</dc:title>
  <dc:creator>Jacques Dainat</dc:creator>
  <cp:lastModifiedBy>Jacques Dainat</cp:lastModifiedBy>
  <cp:revision>414</cp:revision>
  <cp:lastPrinted>2023-09-15T12:14:39Z</cp:lastPrinted>
  <dcterms:created xsi:type="dcterms:W3CDTF">2018-11-21T09:52:36Z</dcterms:created>
  <dcterms:modified xsi:type="dcterms:W3CDTF">2026-10-19T08:30:30Z</dcterms:modified>
</cp:coreProperties>
</file>